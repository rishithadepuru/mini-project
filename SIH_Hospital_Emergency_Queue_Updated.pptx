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5" name=""/>
        <p:cNvGrpSpPr/>
        <p:nvPr/>
      </p:nvGrpSpPr>
      <p:grpSpPr>
        <a:xfrm>
          <a:off x="0" y="0"/>
          <a:ext cx="0" cy="0"/>
          <a:chOff x="0" y="0"/>
          <a:chExt cx="0" cy="0"/>
        </a:xfrm>
      </p:grpSpPr>
      <p:sp>
        <p:nvSpPr>
          <p:cNvPr id="1048981"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982"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983"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984"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85"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986"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95" name="Slide Image Placeholder 1"/>
          <p:cNvSpPr>
            <a:spLocks noChangeAspect="1" noRot="1" noGrp="1"/>
          </p:cNvSpPr>
          <p:nvPr>
            <p:ph type="sldImg"/>
          </p:nvPr>
        </p:nvSpPr>
        <p:spPr/>
      </p:sp>
      <p:sp>
        <p:nvSpPr>
          <p:cNvPr id="1048596" name="Notes Placeholder 2"/>
          <p:cNvSpPr>
            <a:spLocks noGrp="1"/>
          </p:cNvSpPr>
          <p:nvPr>
            <p:ph type="body" idx="1"/>
          </p:nvPr>
        </p:nvSpPr>
        <p:spPr/>
        <p:txBody>
          <a:bodyPr/>
          <a:p>
            <a:r>
              <a:rPr dirty="0" lang="en-US"/>
              <a:t/>
            </a:r>
            <a:endParaRPr dirty="0" lang="en-US"/>
          </a:p>
        </p:txBody>
      </p:sp>
      <p:sp>
        <p:nvSpPr>
          <p:cNvPr id="1048597"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r>
              <a:rPr dirty="0" lang="en-US"/>
              <a:t/>
            </a:r>
            <a:endParaRPr dirty="0" lang="en-US"/>
          </a:p>
        </p:txBody>
      </p:sp>
      <p:sp>
        <p:nvSpPr>
          <p:cNvPr id="1048605"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27" name="Slide Image Placeholder 1"/>
          <p:cNvSpPr>
            <a:spLocks noChangeAspect="1" noRot="1" noGrp="1"/>
          </p:cNvSpPr>
          <p:nvPr>
            <p:ph type="sldImg"/>
          </p:nvPr>
        </p:nvSpPr>
        <p:spPr/>
      </p:sp>
      <p:sp>
        <p:nvSpPr>
          <p:cNvPr id="1048628" name="Notes Placeholder 2"/>
          <p:cNvSpPr>
            <a:spLocks noGrp="1"/>
          </p:cNvSpPr>
          <p:nvPr>
            <p:ph type="body" idx="1"/>
          </p:nvPr>
        </p:nvSpPr>
        <p:spPr/>
        <p:txBody>
          <a:bodyPr/>
          <a:p>
            <a:r>
              <a:rPr dirty="0" lang="en-US"/>
              <a:t/>
            </a:r>
            <a:endParaRPr dirty="0" lang="en-US"/>
          </a:p>
        </p:txBody>
      </p:sp>
      <p:sp>
        <p:nvSpPr>
          <p:cNvPr id="1048629"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67" name="Slide Image Placeholder 1"/>
          <p:cNvSpPr>
            <a:spLocks noChangeAspect="1" noRot="1" noGrp="1"/>
          </p:cNvSpPr>
          <p:nvPr>
            <p:ph type="sldImg"/>
          </p:nvPr>
        </p:nvSpPr>
        <p:spPr/>
      </p:sp>
      <p:sp>
        <p:nvSpPr>
          <p:cNvPr id="1048668" name="Notes Placeholder 2"/>
          <p:cNvSpPr>
            <a:spLocks noGrp="1"/>
          </p:cNvSpPr>
          <p:nvPr>
            <p:ph type="body" idx="1"/>
          </p:nvPr>
        </p:nvSpPr>
        <p:spPr/>
        <p:txBody>
          <a:bodyPr/>
          <a:p>
            <a:r>
              <a:rPr dirty="0" lang="en-US"/>
              <a:t/>
            </a:r>
            <a:endParaRPr dirty="0" lang="en-US"/>
          </a:p>
        </p:txBody>
      </p:sp>
      <p:sp>
        <p:nvSpPr>
          <p:cNvPr id="1048669"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714" name="Slide Image Placeholder 1"/>
          <p:cNvSpPr>
            <a:spLocks noChangeAspect="1" noRot="1" noGrp="1"/>
          </p:cNvSpPr>
          <p:nvPr>
            <p:ph type="sldImg"/>
          </p:nvPr>
        </p:nvSpPr>
        <p:spPr/>
      </p:sp>
      <p:sp>
        <p:nvSpPr>
          <p:cNvPr id="1048715" name="Notes Placeholder 2"/>
          <p:cNvSpPr>
            <a:spLocks noGrp="1"/>
          </p:cNvSpPr>
          <p:nvPr>
            <p:ph type="body" idx="1"/>
          </p:nvPr>
        </p:nvSpPr>
        <p:spPr/>
        <p:txBody>
          <a:bodyPr/>
          <a:p>
            <a:r>
              <a:rPr dirty="0" lang="en-US"/>
              <a:t/>
            </a:r>
            <a:endParaRPr dirty="0" lang="en-US"/>
          </a:p>
        </p:txBody>
      </p:sp>
      <p:sp>
        <p:nvSpPr>
          <p:cNvPr id="1048716"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800" name="Slide Image Placeholder 1"/>
          <p:cNvSpPr>
            <a:spLocks noChangeAspect="1" noRot="1" noGrp="1"/>
          </p:cNvSpPr>
          <p:nvPr>
            <p:ph type="sldImg"/>
          </p:nvPr>
        </p:nvSpPr>
        <p:spPr/>
      </p:sp>
      <p:sp>
        <p:nvSpPr>
          <p:cNvPr id="1048801" name="Notes Placeholder 2"/>
          <p:cNvSpPr>
            <a:spLocks noGrp="1"/>
          </p:cNvSpPr>
          <p:nvPr>
            <p:ph type="body" idx="1"/>
          </p:nvPr>
        </p:nvSpPr>
        <p:spPr/>
        <p:txBody>
          <a:bodyPr/>
          <a:p>
            <a:r>
              <a:rPr dirty="0" lang="en-US"/>
              <a:t/>
            </a:r>
            <a:endParaRPr dirty="0" lang="en-US"/>
          </a:p>
        </p:txBody>
      </p:sp>
      <p:sp>
        <p:nvSpPr>
          <p:cNvPr id="1048802"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841" name="Slide Image Placeholder 1"/>
          <p:cNvSpPr>
            <a:spLocks noChangeAspect="1" noRot="1" noGrp="1"/>
          </p:cNvSpPr>
          <p:nvPr>
            <p:ph type="sldImg"/>
          </p:nvPr>
        </p:nvSpPr>
        <p:spPr/>
      </p:sp>
      <p:sp>
        <p:nvSpPr>
          <p:cNvPr id="1048842" name="Notes Placeholder 2"/>
          <p:cNvSpPr>
            <a:spLocks noGrp="1"/>
          </p:cNvSpPr>
          <p:nvPr>
            <p:ph type="body" idx="1"/>
          </p:nvPr>
        </p:nvSpPr>
        <p:spPr/>
        <p:txBody>
          <a:bodyPr/>
          <a:p>
            <a:r>
              <a:rPr dirty="0" lang="en-US"/>
              <a:t/>
            </a:r>
            <a:endParaRPr dirty="0" lang="en-US"/>
          </a:p>
        </p:txBody>
      </p:sp>
      <p:sp>
        <p:nvSpPr>
          <p:cNvPr id="1048843"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907" name="Slide Image Placeholder 1"/>
          <p:cNvSpPr>
            <a:spLocks noChangeAspect="1" noRot="1" noGrp="1"/>
          </p:cNvSpPr>
          <p:nvPr>
            <p:ph type="sldImg"/>
          </p:nvPr>
        </p:nvSpPr>
        <p:spPr/>
      </p:sp>
      <p:sp>
        <p:nvSpPr>
          <p:cNvPr id="1048908" name="Notes Placeholder 2"/>
          <p:cNvSpPr>
            <a:spLocks noGrp="1"/>
          </p:cNvSpPr>
          <p:nvPr>
            <p:ph type="body" idx="1"/>
          </p:nvPr>
        </p:nvSpPr>
        <p:spPr/>
        <p:txBody>
          <a:bodyPr/>
          <a:p>
            <a:r>
              <a:rPr dirty="0" lang="en-US"/>
              <a:t/>
            </a:r>
            <a:endParaRPr dirty="0" lang="en-US"/>
          </a:p>
        </p:txBody>
      </p:sp>
      <p:sp>
        <p:nvSpPr>
          <p:cNvPr id="1048909"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941" name="Slide Image Placeholder 1"/>
          <p:cNvSpPr>
            <a:spLocks noChangeAspect="1" noRot="1" noGrp="1"/>
          </p:cNvSpPr>
          <p:nvPr>
            <p:ph type="sldImg"/>
          </p:nvPr>
        </p:nvSpPr>
        <p:spPr/>
      </p:sp>
      <p:sp>
        <p:nvSpPr>
          <p:cNvPr id="1048942" name="Notes Placeholder 2"/>
          <p:cNvSpPr>
            <a:spLocks noGrp="1"/>
          </p:cNvSpPr>
          <p:nvPr>
            <p:ph type="body" idx="1"/>
          </p:nvPr>
        </p:nvSpPr>
        <p:spPr/>
        <p:txBody>
          <a:bodyPr/>
          <a:p>
            <a:r>
              <a:rPr dirty="0" lang="en-US"/>
              <a:t/>
            </a:r>
            <a:endParaRPr dirty="0" lang="en-US"/>
          </a:p>
        </p:txBody>
      </p:sp>
      <p:sp>
        <p:nvSpPr>
          <p:cNvPr id="1048943"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978" name="Slide Image Placeholder 1"/>
          <p:cNvSpPr>
            <a:spLocks noChangeAspect="1" noRot="1" noGrp="1"/>
          </p:cNvSpPr>
          <p:nvPr>
            <p:ph type="sldImg"/>
          </p:nvPr>
        </p:nvSpPr>
        <p:spPr/>
      </p:sp>
      <p:sp>
        <p:nvSpPr>
          <p:cNvPr id="1048979" name="Notes Placeholder 2"/>
          <p:cNvSpPr>
            <a:spLocks noGrp="1"/>
          </p:cNvSpPr>
          <p:nvPr>
            <p:ph type="body" idx="1"/>
          </p:nvPr>
        </p:nvSpPr>
        <p:spPr/>
        <p:txBody>
          <a:bodyPr/>
          <a:p>
            <a:r>
              <a:rPr dirty="0" lang="en-US"/>
              <a:t/>
            </a:r>
            <a:endParaRPr dirty="0" lang="en-US"/>
          </a:p>
        </p:txBody>
      </p:sp>
      <p:sp>
        <p:nvSpPr>
          <p:cNvPr id="1048980"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5" name=""/>
        <p:cNvGrpSpPr/>
        <p:nvPr/>
      </p:nvGrpSpPr>
      <p:grpSpPr>
        <a:xfrm>
          <a:off x="0" y="0"/>
          <a:ext cx="0" cy="0"/>
          <a:chOff x="0" y="0"/>
          <a:chExt cx="0" cy="0"/>
        </a:xfrm>
      </p:grpSpPr>
      <p:sp>
        <p:nvSpPr>
          <p:cNvPr id="1048576" name="Shape 0"/>
          <p:cNvSpPr/>
          <p:nvPr/>
        </p:nvSpPr>
        <p:spPr>
          <a:xfrm rot="1080000">
            <a:off x="7955280" y="-914400"/>
            <a:ext cx="6400800" cy="9144000"/>
          </a:xfrm>
          <a:prstGeom prst="rect"/>
          <a:solidFill>
            <a:srgbClr val="0F3057">
              <a:alpha val="65000"/>
            </a:srgbClr>
          </a:solidFill>
        </p:spPr>
      </p:sp>
      <p:sp>
        <p:nvSpPr>
          <p:cNvPr id="1048577" name="Shape 1"/>
          <p:cNvSpPr/>
          <p:nvPr/>
        </p:nvSpPr>
        <p:spPr>
          <a:xfrm>
            <a:off x="594360" y="502920"/>
            <a:ext cx="502920" cy="502920"/>
          </a:xfrm>
          <a:prstGeom prst="ellipse"/>
          <a:solidFill>
            <a:srgbClr val="1C7293"/>
          </a:solidFill>
        </p:spPr>
      </p:sp>
      <p:pic>
        <p:nvPicPr>
          <p:cNvPr id="2097152" name="Image 0" descr="/home/claude/sih/icons/icon_hospitalbldg_white.png"/>
          <p:cNvPicPr>
            <a:picLocks noChangeAspect="1"/>
          </p:cNvPicPr>
          <p:nvPr/>
        </p:nvPicPr>
        <p:blipFill>
          <a:blip xmlns:r="http://schemas.openxmlformats.org/officeDocument/2006/relationships" r:embed="rId1"/>
          <a:stretch>
            <a:fillRect/>
          </a:stretch>
        </p:blipFill>
        <p:spPr>
          <a:xfrm>
            <a:off x="674827" y="583387"/>
            <a:ext cx="341986" cy="341986"/>
          </a:xfrm>
          <a:prstGeom prst="rect"/>
        </p:spPr>
      </p:pic>
      <p:sp>
        <p:nvSpPr>
          <p:cNvPr id="1048578" name="Text 2"/>
          <p:cNvSpPr/>
          <p:nvPr/>
        </p:nvSpPr>
        <p:spPr>
          <a:xfrm>
            <a:off x="1207008" y="475488"/>
            <a:ext cx="6858000" cy="457200"/>
          </a:xfrm>
          <a:prstGeom prst="rect"/>
          <a:noFill/>
        </p:spPr>
        <p:txBody>
          <a:bodyPr anchor="ctr" bIns="0" lIns="0" rIns="0" rtlCol="0" tIns="0" wrap="square"/>
          <a:p>
            <a:pPr indent="0" marL="0">
              <a:buNone/>
            </a:pPr>
            <a:r>
              <a:rPr b="1" dirty="0" sz="1250" kern="0" lang="en-US" spc="180">
                <a:solidFill>
                  <a:srgbClr val="8FB8CC"/>
                </a:solidFill>
                <a:latin typeface="Calibri" pitchFamily="34" charset="0"/>
                <a:ea typeface="Calibri" pitchFamily="34" charset="-122"/>
                <a:cs typeface="Calibri" pitchFamily="34" charset="-120"/>
              </a:rPr>
              <a:t>EMERGENCY CARE · SMART QUEUE TECHNOLOGY</a:t>
            </a:r>
            <a:endParaRPr dirty="0" sz="1250" lang="en-US"/>
          </a:p>
        </p:txBody>
      </p:sp>
      <p:pic>
        <p:nvPicPr>
          <p:cNvPr id="2097153" name="Image 1" descr="/home/claude/sih/icons/icon_star_white.png"/>
          <p:cNvPicPr>
            <a:picLocks noChangeAspect="1"/>
          </p:cNvPicPr>
          <p:nvPr/>
        </p:nvPicPr>
        <p:blipFill>
          <a:blip xmlns:r="http://schemas.openxmlformats.org/officeDocument/2006/relationships" r:embed="rId2"/>
          <a:stretch>
            <a:fillRect/>
          </a:stretch>
        </p:blipFill>
        <p:spPr>
          <a:xfrm>
            <a:off x="8851392" y="589788"/>
            <a:ext cx="237744" cy="237744"/>
          </a:xfrm>
          <a:prstGeom prst="rect"/>
        </p:spPr>
      </p:pic>
      <p:sp>
        <p:nvSpPr>
          <p:cNvPr id="1048580" name="Shape 5"/>
          <p:cNvSpPr/>
          <p:nvPr/>
        </p:nvSpPr>
        <p:spPr>
          <a:xfrm>
            <a:off x="9098280" y="2148840"/>
            <a:ext cx="2377440" cy="457200"/>
          </a:xfrm>
          <a:prstGeom prst="roundRect">
            <a:avLst>
              <a:gd name="adj" fmla="val 16000"/>
            </a:avLst>
          </a:prstGeom>
          <a:solidFill>
            <a:srgbClr val="E63946"/>
          </a:solidFill>
        </p:spPr>
      </p:sp>
      <p:sp>
        <p:nvSpPr>
          <p:cNvPr id="1048581" name="Shape 6"/>
          <p:cNvSpPr/>
          <p:nvPr/>
        </p:nvSpPr>
        <p:spPr>
          <a:xfrm>
            <a:off x="9390888" y="2825496"/>
            <a:ext cx="2084832" cy="457200"/>
          </a:xfrm>
          <a:prstGeom prst="roundRect">
            <a:avLst>
              <a:gd name="adj" fmla="val 16000"/>
            </a:avLst>
          </a:prstGeom>
          <a:solidFill>
            <a:srgbClr val="F4A261"/>
          </a:solidFill>
        </p:spPr>
      </p:sp>
      <p:sp>
        <p:nvSpPr>
          <p:cNvPr id="1048582" name="Shape 7"/>
          <p:cNvSpPr/>
          <p:nvPr/>
        </p:nvSpPr>
        <p:spPr>
          <a:xfrm>
            <a:off x="9683496" y="3502152"/>
            <a:ext cx="1792224" cy="457200"/>
          </a:xfrm>
          <a:prstGeom prst="roundRect">
            <a:avLst>
              <a:gd name="adj" fmla="val 16000"/>
            </a:avLst>
          </a:prstGeom>
          <a:solidFill>
            <a:srgbClr val="E9C46A"/>
          </a:solidFill>
        </p:spPr>
      </p:sp>
      <p:sp>
        <p:nvSpPr>
          <p:cNvPr id="1048583" name="Shape 8"/>
          <p:cNvSpPr/>
          <p:nvPr/>
        </p:nvSpPr>
        <p:spPr>
          <a:xfrm>
            <a:off x="9976104" y="4178808"/>
            <a:ext cx="1499616" cy="457200"/>
          </a:xfrm>
          <a:prstGeom prst="roundRect">
            <a:avLst>
              <a:gd name="adj" fmla="val 16000"/>
            </a:avLst>
          </a:prstGeom>
          <a:solidFill>
            <a:srgbClr val="8AB17D"/>
          </a:solidFill>
        </p:spPr>
      </p:sp>
      <p:sp>
        <p:nvSpPr>
          <p:cNvPr id="1048584" name="Shape 9"/>
          <p:cNvSpPr/>
          <p:nvPr/>
        </p:nvSpPr>
        <p:spPr>
          <a:xfrm>
            <a:off x="10268712" y="4855464"/>
            <a:ext cx="1207008" cy="457200"/>
          </a:xfrm>
          <a:prstGeom prst="roundRect">
            <a:avLst>
              <a:gd name="adj" fmla="val 16000"/>
            </a:avLst>
          </a:prstGeom>
          <a:solidFill>
            <a:srgbClr val="9CA3AF"/>
          </a:solidFill>
        </p:spPr>
      </p:sp>
      <p:sp>
        <p:nvSpPr>
          <p:cNvPr id="1048585" name="Text 10"/>
          <p:cNvSpPr/>
          <p:nvPr/>
        </p:nvSpPr>
        <p:spPr>
          <a:xfrm>
            <a:off x="8778240" y="5577840"/>
            <a:ext cx="2697480" cy="274320"/>
          </a:xfrm>
          <a:prstGeom prst="rect"/>
          <a:noFill/>
        </p:spPr>
        <p:txBody>
          <a:bodyPr anchor="ctr" bIns="0" lIns="0" rIns="0" rtlCol="0" tIns="0" wrap="square"/>
          <a:p>
            <a:pPr algn="r" indent="0" marL="0">
              <a:buNone/>
            </a:pPr>
            <a:r>
              <a:rPr b="1" dirty="0" sz="950" kern="0" lang="en-US" spc="120">
                <a:solidFill>
                  <a:srgbClr val="6F89A3"/>
                </a:solidFill>
                <a:latin typeface="Calibri" pitchFamily="34" charset="0"/>
                <a:ea typeface="Calibri" pitchFamily="34" charset="-122"/>
                <a:cs typeface="Calibri" pitchFamily="34" charset="-120"/>
              </a:rPr>
              <a:t>PRIORITY-FIRST QUEUING</a:t>
            </a:r>
            <a:endParaRPr dirty="0" sz="950" lang="en-US"/>
          </a:p>
        </p:txBody>
      </p:sp>
      <p:sp>
        <p:nvSpPr>
          <p:cNvPr id="1048586" name="Text 11"/>
          <p:cNvSpPr/>
          <p:nvPr/>
        </p:nvSpPr>
        <p:spPr>
          <a:xfrm>
            <a:off x="594360" y="1874520"/>
            <a:ext cx="8229600" cy="1691640"/>
          </a:xfrm>
          <a:prstGeom prst="rect"/>
          <a:noFill/>
        </p:spPr>
        <p:txBody>
          <a:bodyPr anchor="ctr" bIns="0" lIns="0" rIns="0" rtlCol="0" tIns="0" wrap="square"/>
          <a:p>
            <a:pPr indent="0" marL="0">
              <a:lnSpc>
                <a:spcPct val="108000"/>
              </a:lnSpc>
              <a:buNone/>
            </a:pPr>
            <a:r>
              <a:rPr b="1" dirty="0" sz="4000" lang="en-US">
                <a:solidFill>
                  <a:srgbClr val="FFFFFF"/>
                </a:solidFill>
                <a:latin typeface="Cambria" pitchFamily="34" charset="0"/>
                <a:ea typeface="Cambria" pitchFamily="34" charset="-122"/>
                <a:cs typeface="Cambria" pitchFamily="34" charset="-120"/>
              </a:rPr>
              <a:t>Hospital Emergency Queue</a:t>
            </a:r>
            <a:endParaRPr dirty="0" sz="4000" lang="en-US"/>
          </a:p>
          <a:p>
            <a:pPr indent="0" marL="0">
              <a:lnSpc>
                <a:spcPct val="108000"/>
              </a:lnSpc>
              <a:buNone/>
            </a:pPr>
            <a:r>
              <a:rPr b="1" dirty="0" sz="4000" lang="en-US">
                <a:solidFill>
                  <a:srgbClr val="FFFFFF"/>
                </a:solidFill>
                <a:latin typeface="Cambria" pitchFamily="34" charset="0"/>
                <a:ea typeface="Cambria" pitchFamily="34" charset="-122"/>
                <a:cs typeface="Cambria" pitchFamily="34" charset="-120"/>
              </a:rPr>
              <a:t>Management System</a:t>
            </a:r>
            <a:endParaRPr dirty="0" sz="4000" lang="en-US"/>
          </a:p>
        </p:txBody>
      </p:sp>
      <p:sp>
        <p:nvSpPr>
          <p:cNvPr id="1048587" name="Text 12"/>
          <p:cNvSpPr/>
          <p:nvPr/>
        </p:nvSpPr>
        <p:spPr>
          <a:xfrm>
            <a:off x="594360" y="3584448"/>
            <a:ext cx="7863840" cy="502920"/>
          </a:xfrm>
          <a:prstGeom prst="rect"/>
          <a:noFill/>
        </p:spPr>
        <p:txBody>
          <a:bodyPr anchor="ctr" bIns="0" lIns="0" rIns="0" rtlCol="0" tIns="0" wrap="square"/>
          <a:p>
            <a:pPr indent="0" marL="0">
              <a:buNone/>
            </a:pPr>
            <a:r>
              <a:rPr dirty="0" sz="1800" i="1" lang="en-US">
                <a:solidFill>
                  <a:srgbClr val="C7D9E3"/>
                </a:solidFill>
                <a:latin typeface="Calibri" pitchFamily="34" charset="0"/>
                <a:ea typeface="Calibri" pitchFamily="34" charset="-122"/>
                <a:cs typeface="Calibri" pitchFamily="34" charset="-120"/>
              </a:rPr>
              <a:t>Hospital Emergency Queue Using Priority Queue</a:t>
            </a:r>
            <a:endParaRPr dirty="0" sz="1800" lang="en-US"/>
          </a:p>
        </p:txBody>
      </p:sp>
      <p:sp>
        <p:nvSpPr>
          <p:cNvPr id="1048588" name="Shape 13"/>
          <p:cNvSpPr/>
          <p:nvPr/>
        </p:nvSpPr>
        <p:spPr>
          <a:xfrm>
            <a:off x="594360" y="4434840"/>
            <a:ext cx="3703320" cy="868680"/>
          </a:xfrm>
          <a:prstGeom prst="roundRect">
            <a:avLst>
              <a:gd name="adj" fmla="val 9474"/>
            </a:avLst>
          </a:prstGeom>
          <a:solidFill>
            <a:srgbClr val="0F3057"/>
          </a:solidFill>
          <a:ln w="12700">
            <a:solidFill>
              <a:srgbClr val="2B4A6B"/>
            </a:solidFill>
            <a:prstDash val="solid"/>
          </a:ln>
        </p:spPr>
      </p:sp>
      <p:sp>
        <p:nvSpPr>
          <p:cNvPr id="1048589" name="Text 14"/>
          <p:cNvSpPr/>
          <p:nvPr/>
        </p:nvSpPr>
        <p:spPr>
          <a:xfrm>
            <a:off x="850392" y="4562856"/>
            <a:ext cx="3191256" cy="274320"/>
          </a:xfrm>
          <a:prstGeom prst="rect"/>
          <a:noFill/>
        </p:spPr>
        <p:txBody>
          <a:bodyPr anchor="ctr" bIns="0" lIns="0" rIns="0" rtlCol="0" tIns="0" wrap="square"/>
          <a:p>
            <a:pPr indent="0" marL="0">
              <a:buNone/>
            </a:pPr>
            <a:r>
              <a:rPr b="1" dirty="0" sz="1050" kern="0" lang="en-US" spc="150">
                <a:solidFill>
                  <a:srgbClr val="8FB8CC"/>
                </a:solidFill>
                <a:latin typeface="Calibri" pitchFamily="34" charset="0"/>
                <a:ea typeface="Calibri" pitchFamily="34" charset="-122"/>
                <a:cs typeface="Calibri" pitchFamily="34" charset="-120"/>
              </a:rPr>
              <a:t>TEAM NAME</a:t>
            </a:r>
            <a:endParaRPr dirty="0" sz="1050" lang="en-US"/>
          </a:p>
        </p:txBody>
      </p:sp>
      <p:sp>
        <p:nvSpPr>
          <p:cNvPr id="1048590" name="Text 15"/>
          <p:cNvSpPr/>
          <p:nvPr/>
        </p:nvSpPr>
        <p:spPr>
          <a:xfrm>
            <a:off x="850392" y="4837176"/>
            <a:ext cx="3191256" cy="384048"/>
          </a:xfrm>
          <a:prstGeom prst="rect"/>
          <a:noFill/>
        </p:spPr>
        <p:txBody>
          <a:bodyPr anchor="ctr" bIns="0" lIns="0" rIns="0" rtlCol="0" tIns="0" wrap="square"/>
          <a:p>
            <a:pPr indent="0" marL="0">
              <a:buNone/>
            </a:pPr>
            <a:r>
              <a:rPr b="1" dirty="0" sz="1600" lang="en-US">
                <a:solidFill>
                  <a:srgbClr val="FFFFFF"/>
                </a:solidFill>
                <a:latin typeface="Cambria" pitchFamily="34" charset="0"/>
                <a:ea typeface="Cambria" pitchFamily="34" charset="-122"/>
                <a:cs typeface="Cambria" pitchFamily="34" charset="-120"/>
              </a:rPr>
              <a:t>Vision X</a:t>
            </a:r>
            <a:endParaRPr dirty="0" sz="1600" lang="en-US"/>
          </a:p>
        </p:txBody>
      </p:sp>
      <p:sp>
        <p:nvSpPr>
          <p:cNvPr id="1048591" name="Shape 16"/>
          <p:cNvSpPr/>
          <p:nvPr/>
        </p:nvSpPr>
        <p:spPr>
          <a:xfrm>
            <a:off x="4572000" y="4434840"/>
            <a:ext cx="3703320" cy="868680"/>
          </a:xfrm>
          <a:prstGeom prst="roundRect">
            <a:avLst>
              <a:gd name="adj" fmla="val 9474"/>
            </a:avLst>
          </a:prstGeom>
          <a:solidFill>
            <a:srgbClr val="0F3057"/>
          </a:solidFill>
          <a:ln w="12700">
            <a:solidFill>
              <a:srgbClr val="2B4A6B"/>
            </a:solidFill>
            <a:prstDash val="solid"/>
          </a:ln>
        </p:spPr>
      </p:sp>
      <p:sp>
        <p:nvSpPr>
          <p:cNvPr id="1048592" name="Text 17"/>
          <p:cNvSpPr/>
          <p:nvPr/>
        </p:nvSpPr>
        <p:spPr>
          <a:xfrm>
            <a:off x="4828032" y="4562856"/>
            <a:ext cx="3191256" cy="274320"/>
          </a:xfrm>
          <a:prstGeom prst="rect"/>
          <a:noFill/>
        </p:spPr>
        <p:txBody>
          <a:bodyPr anchor="ctr" bIns="0" lIns="0" rIns="0" rtlCol="0" tIns="0" wrap="square"/>
          <a:p>
            <a:pPr indent="0" marL="0">
              <a:buNone/>
            </a:pPr>
            <a:r>
              <a:rPr b="1" dirty="0" sz="1050" kern="0" lang="en-US" spc="150">
                <a:solidFill>
                  <a:srgbClr val="8FB8CC"/>
                </a:solidFill>
                <a:latin typeface="Calibri" pitchFamily="34" charset="0"/>
                <a:ea typeface="Calibri" pitchFamily="34" charset="-122"/>
                <a:cs typeface="Calibri" pitchFamily="34" charset="-120"/>
              </a:rPr>
              <a:t>TEAM MEMBERS</a:t>
            </a:r>
            <a:endParaRPr dirty="0" sz="1050" lang="en-US"/>
          </a:p>
        </p:txBody>
      </p:sp>
      <p:sp>
        <p:nvSpPr>
          <p:cNvPr id="1048593" name="Text 18"/>
          <p:cNvSpPr/>
          <p:nvPr/>
        </p:nvSpPr>
        <p:spPr>
          <a:xfrm>
            <a:off x="6304358" y="3744850"/>
            <a:ext cx="4331256" cy="2271735"/>
          </a:xfrm>
          <a:prstGeom prst="rect"/>
          <a:noFill/>
        </p:spPr>
        <p:txBody>
          <a:bodyPr anchor="ctr" bIns="0" lIns="0" rIns="0" rtlCol="0" tIns="0" wrap="square"/>
          <a:p>
            <a:pPr indent="0" marL="0">
              <a:buNone/>
            </a:pPr>
            <a:r>
              <a:rPr b="1" dirty="0" sz="1600" lang="en-US">
                <a:solidFill>
                  <a:srgbClr val="FFFFFF"/>
                </a:solidFill>
                <a:latin typeface="Cambria" pitchFamily="34" charset="0"/>
                <a:ea typeface="Cambria" pitchFamily="34" charset="-122"/>
                <a:cs typeface="Cambria" pitchFamily="34" charset="-120"/>
              </a:rPr>
              <a:t>D.Rishitha</a:t>
            </a:r>
            <a:endParaRPr dirty="0" sz="1600" lang="en-US"/>
          </a:p>
          <a:p>
            <a:pPr indent="0" marL="0">
              <a:buNone/>
            </a:pPr>
            <a:r>
              <a:rPr b="1" dirty="0" sz="1600" lang="en-US">
                <a:solidFill>
                  <a:srgbClr val="FFFFFF"/>
                </a:solidFill>
                <a:latin typeface="Cambria" pitchFamily="34" charset="0"/>
                <a:ea typeface="Cambria" pitchFamily="34" charset="-122"/>
                <a:cs typeface="Cambria" pitchFamily="34" charset="-120"/>
              </a:rPr>
              <a:t>Cheruku Preethi</a:t>
            </a:r>
            <a:endParaRPr dirty="0" sz="1600" lang="en-US"/>
          </a:p>
          <a:p>
            <a:pPr indent="0" marL="0">
              <a:buNone/>
            </a:pPr>
            <a:r>
              <a:rPr altLang="en-GB" b="1" dirty="0" sz="1600" lang="en-US">
                <a:solidFill>
                  <a:srgbClr val="FFFFFF"/>
                </a:solidFill>
                <a:latin typeface="Cambria" pitchFamily="34" charset="0"/>
                <a:ea typeface="Cambria" pitchFamily="34" charset="-122"/>
                <a:cs typeface="Cambria" pitchFamily="34" charset="-120"/>
              </a:rPr>
              <a:t>T</a:t>
            </a:r>
            <a:r>
              <a:rPr altLang="en-GB" b="1" dirty="0" sz="1600" lang="en-US">
                <a:solidFill>
                  <a:srgbClr val="FFFFFF"/>
                </a:solidFill>
                <a:latin typeface="Cambria" pitchFamily="34" charset="0"/>
                <a:ea typeface="Cambria" pitchFamily="34" charset="-122"/>
                <a:cs typeface="Cambria" pitchFamily="34" charset="-120"/>
              </a:rPr>
              <a:t> </a:t>
            </a:r>
            <a:r>
              <a:rPr b="1" dirty="0" sz="1600" lang="en-US">
                <a:solidFill>
                  <a:srgbClr val="FFFFFF"/>
                </a:solidFill>
                <a:latin typeface="Cambria" pitchFamily="34" charset="0"/>
                <a:ea typeface="Cambria" pitchFamily="34" charset="-122"/>
                <a:cs typeface="Cambria" pitchFamily="34" charset="-120"/>
              </a:rPr>
              <a:t>C Varalakshmi</a:t>
            </a:r>
            <a:endParaRPr dirty="0" sz="1600" lang="en-US"/>
          </a:p>
        </p:txBody>
      </p:sp>
      <p:sp>
        <p:nvSpPr>
          <p:cNvPr id="1048594" name="Text 19"/>
          <p:cNvSpPr/>
          <p:nvPr/>
        </p:nvSpPr>
        <p:spPr>
          <a:xfrm>
            <a:off x="594360" y="5623560"/>
            <a:ext cx="7315200" cy="320040"/>
          </a:xfrm>
          <a:prstGeom prst="rect"/>
          <a:noFill/>
        </p:spPr>
        <p:txBody>
          <a:bodyPr anchor="ctr" bIns="0" lIns="0" rIns="0" rtlCol="0" tIns="0" wrap="square"/>
          <a:p>
            <a:pPr indent="0" marL="0">
              <a:buNone/>
            </a:pPr>
            <a:r>
              <a:rPr dirty="0" sz="1150" i="1" lang="en-US">
                <a:solidFill>
                  <a:srgbClr val="6F89A3"/>
                </a:solidFill>
                <a:latin typeface="Calibri" pitchFamily="34" charset="0"/>
                <a:ea typeface="Calibri" pitchFamily="34" charset="-122"/>
                <a:cs typeface="Calibri" pitchFamily="34" charset="-120"/>
              </a:rPr>
              <a:t>Problem Statement Title · Hospital Emergency Queue Using Priority Queue</a:t>
            </a:r>
            <a:endParaRPr dirty="0" sz="115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8" name=""/>
        <p:cNvGrpSpPr/>
        <p:nvPr/>
      </p:nvGrpSpPr>
      <p:grpSpPr>
        <a:xfrm>
          <a:off x="0" y="0"/>
          <a:ext cx="0" cy="0"/>
          <a:chOff x="0" y="0"/>
          <a:chExt cx="0" cy="0"/>
        </a:xfrm>
      </p:grpSpPr>
      <p:sp>
        <p:nvSpPr>
          <p:cNvPr id="1048598"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THE CHALLENGE</a:t>
            </a:r>
            <a:endParaRPr dirty="0" sz="1300" lang="en-US"/>
          </a:p>
        </p:txBody>
      </p:sp>
      <p:sp>
        <p:nvSpPr>
          <p:cNvPr id="1048599"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Problem Statement</a:t>
            </a:r>
            <a:endParaRPr dirty="0" sz="3000" lang="en-US"/>
          </a:p>
        </p:txBody>
      </p:sp>
      <p:sp>
        <p:nvSpPr>
          <p:cNvPr id="1048600" name="Text 2"/>
          <p:cNvSpPr/>
          <p:nvPr/>
        </p:nvSpPr>
        <p:spPr>
          <a:xfrm>
            <a:off x="548640" y="1500000"/>
            <a:ext cx="11064240" cy="4700000"/>
          </a:xfrm>
          <a:prstGeom prst="rect"/>
          <a:noFill/>
        </p:spPr>
        <p:txBody>
          <a:bodyPr anchor="ctr" bIns="91440" lIns="91440" rIns="91440" rtlCol="0" tIns="91440" wrap="square"/>
          <a:p>
            <a:pPr algn="l" indent="0" marL="0">
              <a:lnSpc>
                <a:spcPct val="150000"/>
              </a:lnSpc>
              <a:buNone/>
            </a:pPr>
            <a:r>
              <a:rPr dirty="0" sz="1800" lang="en-US">
                <a:solidFill>
                  <a:srgbClr val="2D3748"/>
                </a:solidFill>
                <a:latin typeface="Calibri" pitchFamily="34" charset="0"/>
                <a:ea typeface="Calibri" pitchFamily="34" charset="-122"/>
                <a:cs typeface="Calibri" pitchFamily="34" charset="-120"/>
              </a:rPr>
              <a:t>Hospital emergency departments face a critical challenge: patients are typically managed on a first-come, first-served basis, causing severely ill patients — such as those experiencing cardiac arrest, major trauma, or acute respiratory failure — to wait behind less urgent cases. This absence of an intelligent, automated prioritization system leads to life-threatening delays, disorganized queues, and overwhelming pressure on medical staff, ultimately resulting in preventable deterioration of patient outcomes. There is an urgent need for a real-time, priority-driven queue management solution that ensures every patient is assessed and served based on medical urgency rather than arrival order, enabling hospitals to deliver faster, fairer, and more efficient emergency care.</a:t>
            </a:r>
            <a:endParaRPr dirty="0" sz="1800" lang="en-US"/>
          </a:p>
        </p:txBody>
      </p:sp>
      <p:sp>
        <p:nvSpPr>
          <p:cNvPr id="1048601" name="Text 25"/>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602" name="Text 26"/>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21" name=""/>
        <p:cNvGrpSpPr/>
        <p:nvPr/>
      </p:nvGrpSpPr>
      <p:grpSpPr>
        <a:xfrm>
          <a:off x="0" y="0"/>
          <a:ext cx="0" cy="0"/>
          <a:chOff x="0" y="0"/>
          <a:chExt cx="0" cy="0"/>
        </a:xfrm>
      </p:grpSpPr>
      <p:sp>
        <p:nvSpPr>
          <p:cNvPr id="1048606"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OUR APPROACH</a:t>
            </a:r>
            <a:endParaRPr dirty="0" sz="1300" lang="en-US"/>
          </a:p>
        </p:txBody>
      </p:sp>
      <p:sp>
        <p:nvSpPr>
          <p:cNvPr id="1048607"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Proposed Solution</a:t>
            </a:r>
            <a:endParaRPr dirty="0" sz="3000" lang="en-US"/>
          </a:p>
        </p:txBody>
      </p:sp>
      <p:sp>
        <p:nvSpPr>
          <p:cNvPr id="1048608" name="Text 2"/>
          <p:cNvSpPr/>
          <p:nvPr/>
        </p:nvSpPr>
        <p:spPr>
          <a:xfrm>
            <a:off x="548640" y="1371600"/>
            <a:ext cx="11064240" cy="457200"/>
          </a:xfrm>
          <a:prstGeom prst="rect"/>
          <a:noFill/>
        </p:spPr>
        <p:txBody>
          <a:bodyPr anchor="ctr" bIns="0" lIns="0" rIns="0" rtlCol="0" tIns="0" wrap="square"/>
          <a:p>
            <a:pPr indent="0" marL="0">
              <a:buNone/>
            </a:pPr>
            <a:r>
              <a:rPr dirty="0" sz="1450" i="1" lang="en-US">
                <a:solidFill>
                  <a:srgbClr val="5B6B7C"/>
                </a:solidFill>
                <a:latin typeface="Calibri" pitchFamily="34" charset="0"/>
                <a:ea typeface="Calibri" pitchFamily="34" charset="-122"/>
                <a:cs typeface="Calibri" pitchFamily="34" charset="-120"/>
              </a:rPr>
              <a:t>A full-stack hospital emergency queue platform that thinks for itself — always serving the right patient at the right time.</a:t>
            </a:r>
            <a:endParaRPr dirty="0" sz="1450" lang="en-US"/>
          </a:p>
        </p:txBody>
      </p:sp>
      <p:sp>
        <p:nvSpPr>
          <p:cNvPr id="1048609" name="Shape 3"/>
          <p:cNvSpPr/>
          <p:nvPr/>
        </p:nvSpPr>
        <p:spPr>
          <a:xfrm>
            <a:off x="548640" y="2011680"/>
            <a:ext cx="5385816" cy="1851660"/>
          </a:xfrm>
          <a:prstGeom prst="roundRect">
            <a:avLst>
              <a:gd name="adj" fmla="val 4938"/>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10" name="Shape 4"/>
          <p:cNvSpPr/>
          <p:nvPr/>
        </p:nvSpPr>
        <p:spPr>
          <a:xfrm>
            <a:off x="841248" y="2580894"/>
            <a:ext cx="713232" cy="713232"/>
          </a:xfrm>
          <a:prstGeom prst="ellipse"/>
          <a:solidFill>
            <a:srgbClr val="1C7293"/>
          </a:solidFill>
        </p:spPr>
      </p:sp>
      <p:pic>
        <p:nvPicPr>
          <p:cNvPr id="2097154" name="Image 0" descr="/home/claude/sih/icons/icon_globe_white.png"/>
          <p:cNvPicPr>
            <a:picLocks noChangeAspect="1"/>
          </p:cNvPicPr>
          <p:nvPr/>
        </p:nvPicPr>
        <p:blipFill>
          <a:blip xmlns:r="http://schemas.openxmlformats.org/officeDocument/2006/relationships" r:embed="rId1"/>
          <a:stretch>
            <a:fillRect/>
          </a:stretch>
        </p:blipFill>
        <p:spPr>
          <a:xfrm>
            <a:off x="962497" y="2702143"/>
            <a:ext cx="470733" cy="470733"/>
          </a:xfrm>
          <a:prstGeom prst="rect"/>
        </p:spPr>
      </p:pic>
      <p:sp>
        <p:nvSpPr>
          <p:cNvPr id="1048611" name="Text 5"/>
          <p:cNvSpPr/>
          <p:nvPr/>
        </p:nvSpPr>
        <p:spPr>
          <a:xfrm>
            <a:off x="1737360" y="2286000"/>
            <a:ext cx="3922776" cy="457200"/>
          </a:xfrm>
          <a:prstGeom prst="rect"/>
          <a:noFill/>
        </p:spPr>
        <p:txBody>
          <a:bodyPr anchor="ctr" bIns="0" lIns="0" rIns="0" rtlCol="0" tIns="0" wrap="square"/>
          <a:p>
            <a:pPr indent="0" marL="0">
              <a:buNone/>
            </a:pPr>
            <a:r>
              <a:rPr b="1" dirty="0" sz="1700" lang="en-US">
                <a:solidFill>
                  <a:srgbClr val="0F3057"/>
                </a:solidFill>
                <a:latin typeface="Cambria" pitchFamily="34" charset="0"/>
                <a:ea typeface="Cambria" pitchFamily="34" charset="-122"/>
                <a:cs typeface="Cambria" pitchFamily="34" charset="-120"/>
              </a:rPr>
              <a:t>Web-Based System</a:t>
            </a:r>
            <a:endParaRPr dirty="0" sz="1700" lang="en-US"/>
          </a:p>
        </p:txBody>
      </p:sp>
      <p:sp>
        <p:nvSpPr>
          <p:cNvPr id="1048612" name="Text 6"/>
          <p:cNvSpPr/>
          <p:nvPr/>
        </p:nvSpPr>
        <p:spPr>
          <a:xfrm>
            <a:off x="1737360" y="2724912"/>
            <a:ext cx="3922776" cy="982980"/>
          </a:xfrm>
          <a:prstGeom prst="rect"/>
          <a:noFill/>
        </p:spPr>
        <p:txBody>
          <a:bodyPr anchor="ctr" bIns="0" lIns="0" rIns="0" rtlCol="0" tIns="0" wrap="square"/>
          <a:p>
            <a:pPr indent="0" marL="0">
              <a:lnSpc>
                <a:spcPct val="125000"/>
              </a:lnSpc>
              <a:buNone/>
            </a:pPr>
            <a:r>
              <a:rPr dirty="0" sz="1250" lang="en-US">
                <a:solidFill>
                  <a:srgbClr val="5B6B7C"/>
                </a:solidFill>
                <a:latin typeface="Calibri" pitchFamily="34" charset="0"/>
                <a:ea typeface="Calibri" pitchFamily="34" charset="-122"/>
                <a:cs typeface="Calibri" pitchFamily="34" charset="-120"/>
              </a:rPr>
              <a:t>A full-stack Hospital Emergency Queue Management System accessible from any browser, on any device.</a:t>
            </a:r>
            <a:endParaRPr dirty="0" sz="1250" lang="en-US"/>
          </a:p>
        </p:txBody>
      </p:sp>
      <p:sp>
        <p:nvSpPr>
          <p:cNvPr id="1048613" name="Shape 7"/>
          <p:cNvSpPr/>
          <p:nvPr/>
        </p:nvSpPr>
        <p:spPr>
          <a:xfrm>
            <a:off x="6254496" y="2011680"/>
            <a:ext cx="5385816" cy="1851660"/>
          </a:xfrm>
          <a:prstGeom prst="roundRect">
            <a:avLst>
              <a:gd name="adj" fmla="val 4938"/>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14" name="Shape 8"/>
          <p:cNvSpPr/>
          <p:nvPr/>
        </p:nvSpPr>
        <p:spPr>
          <a:xfrm>
            <a:off x="6547104" y="2580894"/>
            <a:ext cx="713232" cy="713232"/>
          </a:xfrm>
          <a:prstGeom prst="ellipse"/>
          <a:solidFill>
            <a:srgbClr val="0F3057"/>
          </a:solidFill>
        </p:spPr>
      </p:sp>
      <p:pic>
        <p:nvPicPr>
          <p:cNvPr id="2097155" name="Image 1" descr="/home/claude/sih/icons/icon_sort_white.png"/>
          <p:cNvPicPr>
            <a:picLocks noChangeAspect="1"/>
          </p:cNvPicPr>
          <p:nvPr/>
        </p:nvPicPr>
        <p:blipFill>
          <a:blip xmlns:r="http://schemas.openxmlformats.org/officeDocument/2006/relationships" r:embed="rId2"/>
          <a:stretch>
            <a:fillRect/>
          </a:stretch>
        </p:blipFill>
        <p:spPr>
          <a:xfrm>
            <a:off x="6668353" y="2702143"/>
            <a:ext cx="470733" cy="470733"/>
          </a:xfrm>
          <a:prstGeom prst="rect"/>
        </p:spPr>
      </p:pic>
      <p:sp>
        <p:nvSpPr>
          <p:cNvPr id="1048615" name="Text 9"/>
          <p:cNvSpPr/>
          <p:nvPr/>
        </p:nvSpPr>
        <p:spPr>
          <a:xfrm>
            <a:off x="7443216" y="2286000"/>
            <a:ext cx="3922776" cy="457200"/>
          </a:xfrm>
          <a:prstGeom prst="rect"/>
          <a:noFill/>
        </p:spPr>
        <p:txBody>
          <a:bodyPr anchor="ctr" bIns="0" lIns="0" rIns="0" rtlCol="0" tIns="0" wrap="square"/>
          <a:p>
            <a:pPr indent="0" marL="0">
              <a:buNone/>
            </a:pPr>
            <a:r>
              <a:rPr b="1" dirty="0" sz="1700" lang="en-US">
                <a:solidFill>
                  <a:srgbClr val="0F3057"/>
                </a:solidFill>
                <a:latin typeface="Cambria" pitchFamily="34" charset="0"/>
                <a:ea typeface="Cambria" pitchFamily="34" charset="-122"/>
                <a:cs typeface="Cambria" pitchFamily="34" charset="-120"/>
              </a:rPr>
              <a:t>Java PriorityQueue Engine</a:t>
            </a:r>
            <a:endParaRPr dirty="0" sz="1700" lang="en-US"/>
          </a:p>
        </p:txBody>
      </p:sp>
      <p:sp>
        <p:nvSpPr>
          <p:cNvPr id="1048616" name="Text 10"/>
          <p:cNvSpPr/>
          <p:nvPr/>
        </p:nvSpPr>
        <p:spPr>
          <a:xfrm>
            <a:off x="7443216" y="2724912"/>
            <a:ext cx="3922776" cy="982980"/>
          </a:xfrm>
          <a:prstGeom prst="rect"/>
          <a:noFill/>
        </p:spPr>
        <p:txBody>
          <a:bodyPr anchor="ctr" bIns="0" lIns="0" rIns="0" rtlCol="0" tIns="0" wrap="square"/>
          <a:p>
            <a:pPr indent="0" marL="0">
              <a:lnSpc>
                <a:spcPct val="125000"/>
              </a:lnSpc>
              <a:buNone/>
            </a:pPr>
            <a:r>
              <a:rPr dirty="0" sz="1250" lang="en-US">
                <a:solidFill>
                  <a:srgbClr val="5B6B7C"/>
                </a:solidFill>
                <a:latin typeface="Calibri" pitchFamily="34" charset="0"/>
                <a:ea typeface="Calibri" pitchFamily="34" charset="-122"/>
                <a:cs typeface="Calibri" pitchFamily="34" charset="-120"/>
              </a:rPr>
              <a:t>Uses Java's PriorityQueue data structure for intelligent, automatic patient prioritization.</a:t>
            </a:r>
            <a:endParaRPr dirty="0" sz="1250" lang="en-US"/>
          </a:p>
        </p:txBody>
      </p:sp>
      <p:sp>
        <p:nvSpPr>
          <p:cNvPr id="1048617" name="Shape 11"/>
          <p:cNvSpPr/>
          <p:nvPr/>
        </p:nvSpPr>
        <p:spPr>
          <a:xfrm>
            <a:off x="548640" y="4183380"/>
            <a:ext cx="5385816" cy="1851660"/>
          </a:xfrm>
          <a:prstGeom prst="roundRect">
            <a:avLst>
              <a:gd name="adj" fmla="val 4938"/>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18" name="Shape 12"/>
          <p:cNvSpPr/>
          <p:nvPr/>
        </p:nvSpPr>
        <p:spPr>
          <a:xfrm>
            <a:off x="841248" y="4752594"/>
            <a:ext cx="713232" cy="713232"/>
          </a:xfrm>
          <a:prstGeom prst="ellipse"/>
          <a:solidFill>
            <a:srgbClr val="E63946"/>
          </a:solidFill>
        </p:spPr>
      </p:sp>
      <p:pic>
        <p:nvPicPr>
          <p:cNvPr id="2097156" name="Image 2" descr="/home/claude/sih/icons/icon_bolt_white.png"/>
          <p:cNvPicPr>
            <a:picLocks noChangeAspect="1"/>
          </p:cNvPicPr>
          <p:nvPr/>
        </p:nvPicPr>
        <p:blipFill>
          <a:blip xmlns:r="http://schemas.openxmlformats.org/officeDocument/2006/relationships" r:embed="rId3"/>
          <a:stretch>
            <a:fillRect/>
          </a:stretch>
        </p:blipFill>
        <p:spPr>
          <a:xfrm>
            <a:off x="962497" y="4873843"/>
            <a:ext cx="470733" cy="470733"/>
          </a:xfrm>
          <a:prstGeom prst="rect"/>
        </p:spPr>
      </p:pic>
      <p:sp>
        <p:nvSpPr>
          <p:cNvPr id="1048619" name="Text 13"/>
          <p:cNvSpPr/>
          <p:nvPr/>
        </p:nvSpPr>
        <p:spPr>
          <a:xfrm>
            <a:off x="1737360" y="4457700"/>
            <a:ext cx="3922776" cy="457200"/>
          </a:xfrm>
          <a:prstGeom prst="rect"/>
          <a:noFill/>
        </p:spPr>
        <p:txBody>
          <a:bodyPr anchor="ctr" bIns="0" lIns="0" rIns="0" rtlCol="0" tIns="0" wrap="square"/>
          <a:p>
            <a:pPr indent="0" marL="0">
              <a:buNone/>
            </a:pPr>
            <a:r>
              <a:rPr b="1" dirty="0" sz="1700" lang="en-US">
                <a:solidFill>
                  <a:srgbClr val="0F3057"/>
                </a:solidFill>
                <a:latin typeface="Cambria" pitchFamily="34" charset="0"/>
                <a:ea typeface="Cambria" pitchFamily="34" charset="-122"/>
                <a:cs typeface="Cambria" pitchFamily="34" charset="-120"/>
              </a:rPr>
              <a:t>Priority-First Serving</a:t>
            </a:r>
            <a:endParaRPr dirty="0" sz="1700" lang="en-US"/>
          </a:p>
        </p:txBody>
      </p:sp>
      <p:sp>
        <p:nvSpPr>
          <p:cNvPr id="1048620" name="Text 14"/>
          <p:cNvSpPr/>
          <p:nvPr/>
        </p:nvSpPr>
        <p:spPr>
          <a:xfrm>
            <a:off x="1737360" y="4896612"/>
            <a:ext cx="3922776" cy="982980"/>
          </a:xfrm>
          <a:prstGeom prst="rect"/>
          <a:noFill/>
        </p:spPr>
        <p:txBody>
          <a:bodyPr anchor="ctr" bIns="0" lIns="0" rIns="0" rtlCol="0" tIns="0" wrap="square"/>
          <a:p>
            <a:pPr indent="0" marL="0">
              <a:lnSpc>
                <a:spcPct val="125000"/>
              </a:lnSpc>
              <a:buNone/>
            </a:pPr>
            <a:r>
              <a:rPr dirty="0" sz="1250" lang="en-US">
                <a:solidFill>
                  <a:srgbClr val="5B6B7C"/>
                </a:solidFill>
                <a:latin typeface="Calibri" pitchFamily="34" charset="0"/>
                <a:ea typeface="Calibri" pitchFamily="34" charset="-122"/>
                <a:cs typeface="Calibri" pitchFamily="34" charset="-120"/>
              </a:rPr>
              <a:t>Automatically serves the highest-priority, longest-waiting patient next — every single time.</a:t>
            </a:r>
            <a:endParaRPr dirty="0" sz="1250" lang="en-US"/>
          </a:p>
        </p:txBody>
      </p:sp>
      <p:sp>
        <p:nvSpPr>
          <p:cNvPr id="1048621" name="Shape 15"/>
          <p:cNvSpPr/>
          <p:nvPr/>
        </p:nvSpPr>
        <p:spPr>
          <a:xfrm>
            <a:off x="6254496" y="4183380"/>
            <a:ext cx="5385816" cy="1851660"/>
          </a:xfrm>
          <a:prstGeom prst="roundRect">
            <a:avLst>
              <a:gd name="adj" fmla="val 4938"/>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22" name="Shape 16"/>
          <p:cNvSpPr/>
          <p:nvPr/>
        </p:nvSpPr>
        <p:spPr>
          <a:xfrm>
            <a:off x="6547104" y="4752594"/>
            <a:ext cx="713232" cy="713232"/>
          </a:xfrm>
          <a:prstGeom prst="ellipse"/>
          <a:solidFill>
            <a:srgbClr val="1C7293"/>
          </a:solidFill>
        </p:spPr>
      </p:sp>
      <p:pic>
        <p:nvPicPr>
          <p:cNvPr id="2097157" name="Image 3" descr="/home/claude/sih/icons/icon_chartline_white.png"/>
          <p:cNvPicPr>
            <a:picLocks noChangeAspect="1"/>
          </p:cNvPicPr>
          <p:nvPr/>
        </p:nvPicPr>
        <p:blipFill>
          <a:blip xmlns:r="http://schemas.openxmlformats.org/officeDocument/2006/relationships" r:embed="rId4"/>
          <a:stretch>
            <a:fillRect/>
          </a:stretch>
        </p:blipFill>
        <p:spPr>
          <a:xfrm>
            <a:off x="6668353" y="4873843"/>
            <a:ext cx="470733" cy="470733"/>
          </a:xfrm>
          <a:prstGeom prst="rect"/>
        </p:spPr>
      </p:pic>
      <p:sp>
        <p:nvSpPr>
          <p:cNvPr id="1048623" name="Text 17"/>
          <p:cNvSpPr/>
          <p:nvPr/>
        </p:nvSpPr>
        <p:spPr>
          <a:xfrm>
            <a:off x="7443216" y="4457700"/>
            <a:ext cx="3922776" cy="457200"/>
          </a:xfrm>
          <a:prstGeom prst="rect"/>
          <a:noFill/>
        </p:spPr>
        <p:txBody>
          <a:bodyPr anchor="ctr" bIns="0" lIns="0" rIns="0" rtlCol="0" tIns="0" wrap="square"/>
          <a:p>
            <a:pPr indent="0" marL="0">
              <a:buNone/>
            </a:pPr>
            <a:r>
              <a:rPr b="1" dirty="0" sz="1700" lang="en-US">
                <a:solidFill>
                  <a:srgbClr val="0F3057"/>
                </a:solidFill>
                <a:latin typeface="Cambria" pitchFamily="34" charset="0"/>
                <a:ea typeface="Cambria" pitchFamily="34" charset="-122"/>
                <a:cs typeface="Cambria" pitchFamily="34" charset="-120"/>
              </a:rPr>
              <a:t>Real-Time Tracking</a:t>
            </a:r>
            <a:endParaRPr dirty="0" sz="1700" lang="en-US"/>
          </a:p>
        </p:txBody>
      </p:sp>
      <p:sp>
        <p:nvSpPr>
          <p:cNvPr id="1048624" name="Text 18"/>
          <p:cNvSpPr/>
          <p:nvPr/>
        </p:nvSpPr>
        <p:spPr>
          <a:xfrm>
            <a:off x="7443216" y="4896612"/>
            <a:ext cx="3922776" cy="982980"/>
          </a:xfrm>
          <a:prstGeom prst="rect"/>
          <a:noFill/>
        </p:spPr>
        <p:txBody>
          <a:bodyPr anchor="ctr" bIns="0" lIns="0" rIns="0" rtlCol="0" tIns="0" wrap="square"/>
          <a:p>
            <a:pPr indent="0" marL="0">
              <a:lnSpc>
                <a:spcPct val="125000"/>
              </a:lnSpc>
              <a:buNone/>
            </a:pPr>
            <a:r>
              <a:rPr dirty="0" sz="1250" lang="en-US">
                <a:solidFill>
                  <a:srgbClr val="5B6B7C"/>
                </a:solidFill>
                <a:latin typeface="Calibri" pitchFamily="34" charset="0"/>
                <a:ea typeface="Calibri" pitchFamily="34" charset="-122"/>
                <a:cs typeface="Calibri" pitchFamily="34" charset="-120"/>
              </a:rPr>
              <a:t>Live queue tracking and monitoring dashboard for doctors, nurses, and administrators.</a:t>
            </a:r>
            <a:endParaRPr dirty="0" sz="1250" lang="en-US"/>
          </a:p>
        </p:txBody>
      </p:sp>
      <p:sp>
        <p:nvSpPr>
          <p:cNvPr id="1048625" name="Text 19"/>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626" name="Text 20"/>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24" name=""/>
        <p:cNvGrpSpPr/>
        <p:nvPr/>
      </p:nvGrpSpPr>
      <p:grpSpPr>
        <a:xfrm>
          <a:off x="0" y="0"/>
          <a:ext cx="0" cy="0"/>
          <a:chOff x="0" y="0"/>
          <a:chExt cx="0" cy="0"/>
        </a:xfrm>
      </p:grpSpPr>
      <p:sp>
        <p:nvSpPr>
          <p:cNvPr id="1048630"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BUILT WITH</a:t>
            </a:r>
            <a:endParaRPr dirty="0" sz="1300" lang="en-US"/>
          </a:p>
        </p:txBody>
      </p:sp>
      <p:sp>
        <p:nvSpPr>
          <p:cNvPr id="1048631"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Technology Stack</a:t>
            </a:r>
            <a:endParaRPr dirty="0" sz="3000" lang="en-US"/>
          </a:p>
        </p:txBody>
      </p:sp>
      <p:sp>
        <p:nvSpPr>
          <p:cNvPr id="1048632" name="Shape 2"/>
          <p:cNvSpPr/>
          <p:nvPr/>
        </p:nvSpPr>
        <p:spPr>
          <a:xfrm>
            <a:off x="548640" y="1600200"/>
            <a:ext cx="11091672" cy="1417320"/>
          </a:xfrm>
          <a:prstGeom prst="roundRect">
            <a:avLst>
              <a:gd name="adj" fmla="val 6452"/>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33" name="Text 3"/>
          <p:cNvSpPr/>
          <p:nvPr/>
        </p:nvSpPr>
        <p:spPr>
          <a:xfrm>
            <a:off x="868680" y="1801368"/>
            <a:ext cx="2011680" cy="274320"/>
          </a:xfrm>
          <a:prstGeom prst="rect"/>
          <a:noFill/>
        </p:spPr>
        <p:txBody>
          <a:bodyPr anchor="ctr" bIns="0" lIns="0" rIns="0" rtlCol="0" tIns="0" wrap="square"/>
          <a:p>
            <a:pPr indent="0" marL="0">
              <a:buNone/>
            </a:pPr>
            <a:r>
              <a:rPr b="1" dirty="0" sz="1200" kern="0" lang="en-US" spc="150">
                <a:solidFill>
                  <a:srgbClr val="1C7293"/>
                </a:solidFill>
                <a:latin typeface="Calibri" pitchFamily="34" charset="0"/>
                <a:ea typeface="Calibri" pitchFamily="34" charset="-122"/>
                <a:cs typeface="Calibri" pitchFamily="34" charset="-120"/>
              </a:rPr>
              <a:t>FRONTEND</a:t>
            </a:r>
            <a:endParaRPr dirty="0" sz="1200" lang="en-US"/>
          </a:p>
        </p:txBody>
      </p:sp>
      <p:sp>
        <p:nvSpPr>
          <p:cNvPr id="1048634" name="Text 4"/>
          <p:cNvSpPr/>
          <p:nvPr/>
        </p:nvSpPr>
        <p:spPr>
          <a:xfrm>
            <a:off x="868680" y="2075688"/>
            <a:ext cx="2377440" cy="731520"/>
          </a:xfrm>
          <a:prstGeom prst="rect"/>
          <a:noFill/>
        </p:spPr>
        <p:txBody>
          <a:bodyPr anchor="ctr" bIns="0" lIns="0" rIns="0" rtlCol="0" tIns="0" wrap="square"/>
          <a:p>
            <a:pPr indent="0" marL="0">
              <a:lnSpc>
                <a:spcPct val="110000"/>
              </a:lnSpc>
              <a:buNone/>
            </a:pPr>
            <a:r>
              <a:rPr b="1" dirty="0" sz="1600" lang="en-US">
                <a:solidFill>
                  <a:srgbClr val="0F3057"/>
                </a:solidFill>
                <a:latin typeface="Cambria" pitchFamily="34" charset="0"/>
                <a:ea typeface="Cambria" pitchFamily="34" charset="-122"/>
                <a:cs typeface="Cambria" pitchFamily="34" charset="-120"/>
              </a:rPr>
              <a:t>User Interface Layer</a:t>
            </a:r>
            <a:endParaRPr dirty="0" sz="1600" lang="en-US"/>
          </a:p>
        </p:txBody>
      </p:sp>
      <p:sp>
        <p:nvSpPr>
          <p:cNvPr id="1048635" name="Shape 5"/>
          <p:cNvSpPr/>
          <p:nvPr/>
        </p:nvSpPr>
        <p:spPr>
          <a:xfrm>
            <a:off x="3566160" y="1856232"/>
            <a:ext cx="1783080" cy="914400"/>
          </a:xfrm>
          <a:prstGeom prst="roundRect">
            <a:avLst>
              <a:gd name="adj" fmla="val 8000"/>
            </a:avLst>
          </a:prstGeom>
          <a:solidFill>
            <a:srgbClr val="FFFFFF"/>
          </a:solidFill>
          <a:ln w="12700">
            <a:solidFill>
              <a:srgbClr val="DCE6EC"/>
            </a:solidFill>
            <a:prstDash val="solid"/>
          </a:ln>
        </p:spPr>
      </p:sp>
      <p:pic>
        <p:nvPicPr>
          <p:cNvPr id="2097158" name="Image 0" descr="/home/claude/sih/icons/icon_html5.png"/>
          <p:cNvPicPr>
            <a:picLocks noChangeAspect="1"/>
          </p:cNvPicPr>
          <p:nvPr/>
        </p:nvPicPr>
        <p:blipFill>
          <a:blip xmlns:r="http://schemas.openxmlformats.org/officeDocument/2006/relationships" r:embed="rId1"/>
          <a:stretch>
            <a:fillRect/>
          </a:stretch>
        </p:blipFill>
        <p:spPr>
          <a:xfrm>
            <a:off x="4256532" y="1984248"/>
            <a:ext cx="402336" cy="402336"/>
          </a:xfrm>
          <a:prstGeom prst="rect"/>
        </p:spPr>
      </p:pic>
      <p:sp>
        <p:nvSpPr>
          <p:cNvPr id="1048636" name="Text 6"/>
          <p:cNvSpPr/>
          <p:nvPr/>
        </p:nvSpPr>
        <p:spPr>
          <a:xfrm>
            <a:off x="3566160" y="2441448"/>
            <a:ext cx="1783080" cy="274320"/>
          </a:xfrm>
          <a:prstGeom prst="rect"/>
          <a:noFill/>
        </p:spPr>
        <p:txBody>
          <a:bodyPr anchor="ctr" bIns="0" lIns="0" rIns="0" rtlCol="0" tIns="0" wrap="square"/>
          <a:p>
            <a:pPr algn="ctr" indent="0" marL="0">
              <a:buNone/>
            </a:pPr>
            <a:r>
              <a:rPr b="1" dirty="0" sz="1150" lang="en-US">
                <a:solidFill>
                  <a:srgbClr val="1E293B"/>
                </a:solidFill>
                <a:latin typeface="Calibri" pitchFamily="34" charset="0"/>
                <a:ea typeface="Calibri" pitchFamily="34" charset="-122"/>
                <a:cs typeface="Calibri" pitchFamily="34" charset="-120"/>
              </a:rPr>
              <a:t>HTML</a:t>
            </a:r>
            <a:endParaRPr dirty="0" sz="1150" lang="en-US"/>
          </a:p>
        </p:txBody>
      </p:sp>
      <p:sp>
        <p:nvSpPr>
          <p:cNvPr id="1048637" name="Shape 7"/>
          <p:cNvSpPr/>
          <p:nvPr/>
        </p:nvSpPr>
        <p:spPr>
          <a:xfrm>
            <a:off x="5513832" y="1856232"/>
            <a:ext cx="1783080" cy="914400"/>
          </a:xfrm>
          <a:prstGeom prst="roundRect">
            <a:avLst>
              <a:gd name="adj" fmla="val 8000"/>
            </a:avLst>
          </a:prstGeom>
          <a:solidFill>
            <a:srgbClr val="FFFFFF"/>
          </a:solidFill>
          <a:ln w="12700">
            <a:solidFill>
              <a:srgbClr val="DCE6EC"/>
            </a:solidFill>
            <a:prstDash val="solid"/>
          </a:ln>
        </p:spPr>
      </p:sp>
      <p:pic>
        <p:nvPicPr>
          <p:cNvPr id="2097159" name="Image 1" descr="/home/claude/sih/icons/icon_css3.png"/>
          <p:cNvPicPr>
            <a:picLocks noChangeAspect="1"/>
          </p:cNvPicPr>
          <p:nvPr/>
        </p:nvPicPr>
        <p:blipFill>
          <a:blip xmlns:r="http://schemas.openxmlformats.org/officeDocument/2006/relationships" r:embed="rId2"/>
          <a:stretch>
            <a:fillRect/>
          </a:stretch>
        </p:blipFill>
        <p:spPr>
          <a:xfrm>
            <a:off x="6204204" y="1984248"/>
            <a:ext cx="402336" cy="402336"/>
          </a:xfrm>
          <a:prstGeom prst="rect"/>
        </p:spPr>
      </p:pic>
      <p:sp>
        <p:nvSpPr>
          <p:cNvPr id="1048638" name="Text 8"/>
          <p:cNvSpPr/>
          <p:nvPr/>
        </p:nvSpPr>
        <p:spPr>
          <a:xfrm>
            <a:off x="5513832" y="2441448"/>
            <a:ext cx="1783080" cy="274320"/>
          </a:xfrm>
          <a:prstGeom prst="rect"/>
          <a:noFill/>
        </p:spPr>
        <p:txBody>
          <a:bodyPr anchor="ctr" bIns="0" lIns="0" rIns="0" rtlCol="0" tIns="0" wrap="square"/>
          <a:p>
            <a:pPr algn="ctr" indent="0" marL="0">
              <a:buNone/>
            </a:pPr>
            <a:r>
              <a:rPr b="1" dirty="0" sz="1150" lang="en-US">
                <a:solidFill>
                  <a:srgbClr val="1E293B"/>
                </a:solidFill>
                <a:latin typeface="Calibri" pitchFamily="34" charset="0"/>
                <a:ea typeface="Calibri" pitchFamily="34" charset="-122"/>
                <a:cs typeface="Calibri" pitchFamily="34" charset="-120"/>
              </a:rPr>
              <a:t>CSS</a:t>
            </a:r>
            <a:endParaRPr dirty="0" sz="1150" lang="en-US"/>
          </a:p>
        </p:txBody>
      </p:sp>
      <p:sp>
        <p:nvSpPr>
          <p:cNvPr id="1048639" name="Shape 9"/>
          <p:cNvSpPr/>
          <p:nvPr/>
        </p:nvSpPr>
        <p:spPr>
          <a:xfrm>
            <a:off x="7461504" y="1856232"/>
            <a:ext cx="1783080" cy="914400"/>
          </a:xfrm>
          <a:prstGeom prst="roundRect">
            <a:avLst>
              <a:gd name="adj" fmla="val 8000"/>
            </a:avLst>
          </a:prstGeom>
          <a:solidFill>
            <a:srgbClr val="FFFFFF"/>
          </a:solidFill>
          <a:ln w="12700">
            <a:solidFill>
              <a:srgbClr val="DCE6EC"/>
            </a:solidFill>
            <a:prstDash val="solid"/>
          </a:ln>
        </p:spPr>
      </p:sp>
      <p:pic>
        <p:nvPicPr>
          <p:cNvPr id="2097160" name="Image 2" descr="/home/claude/sih/icons/icon_bootstrap.png"/>
          <p:cNvPicPr>
            <a:picLocks noChangeAspect="1"/>
          </p:cNvPicPr>
          <p:nvPr/>
        </p:nvPicPr>
        <p:blipFill>
          <a:blip xmlns:r="http://schemas.openxmlformats.org/officeDocument/2006/relationships" r:embed="rId3"/>
          <a:stretch>
            <a:fillRect/>
          </a:stretch>
        </p:blipFill>
        <p:spPr>
          <a:xfrm>
            <a:off x="8151876" y="1984248"/>
            <a:ext cx="402336" cy="402336"/>
          </a:xfrm>
          <a:prstGeom prst="rect"/>
        </p:spPr>
      </p:pic>
      <p:sp>
        <p:nvSpPr>
          <p:cNvPr id="1048640" name="Text 10"/>
          <p:cNvSpPr/>
          <p:nvPr/>
        </p:nvSpPr>
        <p:spPr>
          <a:xfrm>
            <a:off x="7461504" y="2441448"/>
            <a:ext cx="1783080" cy="274320"/>
          </a:xfrm>
          <a:prstGeom prst="rect"/>
          <a:noFill/>
        </p:spPr>
        <p:txBody>
          <a:bodyPr anchor="ctr" bIns="0" lIns="0" rIns="0" rtlCol="0" tIns="0" wrap="square"/>
          <a:p>
            <a:pPr algn="ctr" indent="0" marL="0">
              <a:buNone/>
            </a:pPr>
            <a:r>
              <a:rPr b="1" dirty="0" sz="1150" lang="en-US">
                <a:solidFill>
                  <a:srgbClr val="1E293B"/>
                </a:solidFill>
                <a:latin typeface="Calibri" pitchFamily="34" charset="0"/>
                <a:ea typeface="Calibri" pitchFamily="34" charset="-122"/>
                <a:cs typeface="Calibri" pitchFamily="34" charset="-120"/>
              </a:rPr>
              <a:t>Bootstrap</a:t>
            </a:r>
            <a:endParaRPr dirty="0" sz="1150" lang="en-US"/>
          </a:p>
        </p:txBody>
      </p:sp>
      <p:sp>
        <p:nvSpPr>
          <p:cNvPr id="1048641" name="Shape 11"/>
          <p:cNvSpPr/>
          <p:nvPr/>
        </p:nvSpPr>
        <p:spPr>
          <a:xfrm>
            <a:off x="9409176" y="1856232"/>
            <a:ext cx="1783080" cy="914400"/>
          </a:xfrm>
          <a:prstGeom prst="roundRect">
            <a:avLst>
              <a:gd name="adj" fmla="val 8000"/>
            </a:avLst>
          </a:prstGeom>
          <a:solidFill>
            <a:srgbClr val="FFFFFF"/>
          </a:solidFill>
          <a:ln w="12700">
            <a:solidFill>
              <a:srgbClr val="DCE6EC"/>
            </a:solidFill>
            <a:prstDash val="solid"/>
          </a:ln>
        </p:spPr>
      </p:sp>
      <p:pic>
        <p:nvPicPr>
          <p:cNvPr id="2097161" name="Image 3" descr="/home/claude/sih/icons/icon_js.png"/>
          <p:cNvPicPr>
            <a:picLocks noChangeAspect="1"/>
          </p:cNvPicPr>
          <p:nvPr/>
        </p:nvPicPr>
        <p:blipFill>
          <a:blip xmlns:r="http://schemas.openxmlformats.org/officeDocument/2006/relationships" r:embed="rId4"/>
          <a:stretch>
            <a:fillRect/>
          </a:stretch>
        </p:blipFill>
        <p:spPr>
          <a:xfrm>
            <a:off x="10099548" y="1984248"/>
            <a:ext cx="402336" cy="402336"/>
          </a:xfrm>
          <a:prstGeom prst="rect"/>
        </p:spPr>
      </p:pic>
      <p:sp>
        <p:nvSpPr>
          <p:cNvPr id="1048642" name="Text 12"/>
          <p:cNvSpPr/>
          <p:nvPr/>
        </p:nvSpPr>
        <p:spPr>
          <a:xfrm>
            <a:off x="9409176" y="2441448"/>
            <a:ext cx="1783080" cy="274320"/>
          </a:xfrm>
          <a:prstGeom prst="rect"/>
          <a:noFill/>
        </p:spPr>
        <p:txBody>
          <a:bodyPr anchor="ctr" bIns="0" lIns="0" rIns="0" rtlCol="0" tIns="0" wrap="square"/>
          <a:p>
            <a:pPr algn="ctr" indent="0" marL="0">
              <a:buNone/>
            </a:pPr>
            <a:r>
              <a:rPr b="1" dirty="0" sz="1150" lang="en-US">
                <a:solidFill>
                  <a:srgbClr val="1E293B"/>
                </a:solidFill>
                <a:latin typeface="Calibri" pitchFamily="34" charset="0"/>
                <a:ea typeface="Calibri" pitchFamily="34" charset="-122"/>
                <a:cs typeface="Calibri" pitchFamily="34" charset="-120"/>
              </a:rPr>
              <a:t>JavaScript</a:t>
            </a:r>
            <a:endParaRPr dirty="0" sz="1150" lang="en-US"/>
          </a:p>
        </p:txBody>
      </p:sp>
      <p:sp>
        <p:nvSpPr>
          <p:cNvPr id="1048643" name="Shape 13"/>
          <p:cNvSpPr/>
          <p:nvPr/>
        </p:nvSpPr>
        <p:spPr>
          <a:xfrm>
            <a:off x="548640" y="3291840"/>
            <a:ext cx="2567178" cy="2788920"/>
          </a:xfrm>
          <a:prstGeom prst="roundRect">
            <a:avLst>
              <a:gd name="adj" fmla="val 3562"/>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44" name="Text 14"/>
          <p:cNvSpPr/>
          <p:nvPr/>
        </p:nvSpPr>
        <p:spPr>
          <a:xfrm>
            <a:off x="749808" y="3493008"/>
            <a:ext cx="2164842" cy="411480"/>
          </a:xfrm>
          <a:prstGeom prst="rect"/>
          <a:noFill/>
        </p:spPr>
        <p:txBody>
          <a:bodyPr anchor="ctr" bIns="0" lIns="0" rIns="0" rtlCol="0" tIns="0" wrap="square"/>
          <a:p>
            <a:pPr indent="0" marL="0">
              <a:lnSpc>
                <a:spcPct val="105000"/>
              </a:lnSpc>
              <a:buNone/>
            </a:pPr>
            <a:r>
              <a:rPr b="1" dirty="0" sz="1050" kern="0" lang="en-US" spc="120">
                <a:solidFill>
                  <a:srgbClr val="1C7293"/>
                </a:solidFill>
                <a:latin typeface="Calibri" pitchFamily="34" charset="0"/>
                <a:ea typeface="Calibri" pitchFamily="34" charset="-122"/>
                <a:cs typeface="Calibri" pitchFamily="34" charset="-120"/>
              </a:rPr>
              <a:t>BACKEND</a:t>
            </a:r>
            <a:endParaRPr dirty="0" sz="1050" lang="en-US"/>
          </a:p>
        </p:txBody>
      </p:sp>
      <p:sp>
        <p:nvSpPr>
          <p:cNvPr id="1048645" name="Text 15"/>
          <p:cNvSpPr/>
          <p:nvPr/>
        </p:nvSpPr>
        <p:spPr>
          <a:xfrm>
            <a:off x="749808" y="3913632"/>
            <a:ext cx="2164842" cy="365760"/>
          </a:xfrm>
          <a:prstGeom prst="rect"/>
          <a:noFill/>
        </p:spPr>
        <p:txBody>
          <a:bodyPr anchor="ctr" bIns="0" lIns="0" rIns="0" rtlCol="0" tIns="0" wrap="square"/>
          <a:p>
            <a:pPr indent="0" marL="0">
              <a:buNone/>
            </a:pPr>
            <a:r>
              <a:rPr b="1" dirty="0" sz="1400" lang="en-US">
                <a:solidFill>
                  <a:srgbClr val="0F3057"/>
                </a:solidFill>
                <a:latin typeface="Cambria" pitchFamily="34" charset="0"/>
                <a:ea typeface="Cambria" pitchFamily="34" charset="-122"/>
                <a:cs typeface="Cambria" pitchFamily="34" charset="-120"/>
              </a:rPr>
              <a:t>Application Logic</a:t>
            </a:r>
            <a:endParaRPr dirty="0" sz="1400" lang="en-US"/>
          </a:p>
        </p:txBody>
      </p:sp>
      <p:sp>
        <p:nvSpPr>
          <p:cNvPr id="1048646" name="Shape 16"/>
          <p:cNvSpPr/>
          <p:nvPr/>
        </p:nvSpPr>
        <p:spPr>
          <a:xfrm>
            <a:off x="789813" y="4434840"/>
            <a:ext cx="960120" cy="1051560"/>
          </a:xfrm>
          <a:prstGeom prst="roundRect">
            <a:avLst>
              <a:gd name="adj" fmla="val 7619"/>
            </a:avLst>
          </a:prstGeom>
          <a:solidFill>
            <a:srgbClr val="FFFFFF"/>
          </a:solidFill>
          <a:ln w="12700">
            <a:solidFill>
              <a:srgbClr val="DCE6EC"/>
            </a:solidFill>
            <a:prstDash val="solid"/>
          </a:ln>
        </p:spPr>
      </p:sp>
      <p:pic>
        <p:nvPicPr>
          <p:cNvPr id="2097162" name="Image 4" descr="/home/claude/sih/icons/icon_java.png"/>
          <p:cNvPicPr>
            <a:picLocks noChangeAspect="1"/>
          </p:cNvPicPr>
          <p:nvPr/>
        </p:nvPicPr>
        <p:blipFill>
          <a:blip xmlns:r="http://schemas.openxmlformats.org/officeDocument/2006/relationships" r:embed="rId5"/>
          <a:stretch>
            <a:fillRect/>
          </a:stretch>
        </p:blipFill>
        <p:spPr>
          <a:xfrm>
            <a:off x="1050417" y="4562856"/>
            <a:ext cx="438912" cy="438912"/>
          </a:xfrm>
          <a:prstGeom prst="rect"/>
        </p:spPr>
      </p:pic>
      <p:sp>
        <p:nvSpPr>
          <p:cNvPr id="1048647" name="Text 17"/>
          <p:cNvSpPr/>
          <p:nvPr/>
        </p:nvSpPr>
        <p:spPr>
          <a:xfrm>
            <a:off x="789813" y="5056632"/>
            <a:ext cx="960120" cy="365760"/>
          </a:xfrm>
          <a:prstGeom prst="rect"/>
          <a:noFill/>
        </p:spPr>
        <p:txBody>
          <a:bodyPr anchor="ctr" bIns="0" lIns="0" rIns="0" rtlCol="0" tIns="0" wrap="square"/>
          <a:p>
            <a:pPr algn="ctr" indent="0" marL="0">
              <a:lnSpc>
                <a:spcPct val="100000"/>
              </a:lnSpc>
              <a:buNone/>
            </a:pPr>
            <a:r>
              <a:rPr b="1" dirty="0" sz="1050" lang="en-US">
                <a:solidFill>
                  <a:srgbClr val="1E293B"/>
                </a:solidFill>
                <a:latin typeface="Calibri" pitchFamily="34" charset="0"/>
                <a:ea typeface="Calibri" pitchFamily="34" charset="-122"/>
                <a:cs typeface="Calibri" pitchFamily="34" charset="-120"/>
              </a:rPr>
              <a:t>Java</a:t>
            </a:r>
            <a:endParaRPr dirty="0" sz="1050" lang="en-US"/>
          </a:p>
        </p:txBody>
      </p:sp>
      <p:sp>
        <p:nvSpPr>
          <p:cNvPr id="1048648" name="Shape 18"/>
          <p:cNvSpPr/>
          <p:nvPr/>
        </p:nvSpPr>
        <p:spPr>
          <a:xfrm>
            <a:off x="1914525" y="4434840"/>
            <a:ext cx="960120" cy="1051560"/>
          </a:xfrm>
          <a:prstGeom prst="roundRect">
            <a:avLst>
              <a:gd name="adj" fmla="val 7619"/>
            </a:avLst>
          </a:prstGeom>
          <a:solidFill>
            <a:srgbClr val="FFFFFF"/>
          </a:solidFill>
          <a:ln w="12700">
            <a:solidFill>
              <a:srgbClr val="DCE6EC"/>
            </a:solidFill>
            <a:prstDash val="solid"/>
          </a:ln>
        </p:spPr>
      </p:sp>
      <p:pic>
        <p:nvPicPr>
          <p:cNvPr id="2097163" name="Image 5" descr="/home/claude/sih/icons/icon_springboot.png"/>
          <p:cNvPicPr>
            <a:picLocks noChangeAspect="1"/>
          </p:cNvPicPr>
          <p:nvPr/>
        </p:nvPicPr>
        <p:blipFill>
          <a:blip xmlns:r="http://schemas.openxmlformats.org/officeDocument/2006/relationships" r:embed="rId6"/>
          <a:stretch>
            <a:fillRect/>
          </a:stretch>
        </p:blipFill>
        <p:spPr>
          <a:xfrm>
            <a:off x="2175129" y="4562856"/>
            <a:ext cx="438912" cy="438912"/>
          </a:xfrm>
          <a:prstGeom prst="rect"/>
        </p:spPr>
      </p:pic>
      <p:sp>
        <p:nvSpPr>
          <p:cNvPr id="1048649" name="Text 19"/>
          <p:cNvSpPr/>
          <p:nvPr/>
        </p:nvSpPr>
        <p:spPr>
          <a:xfrm>
            <a:off x="1914525" y="5056632"/>
            <a:ext cx="960120" cy="365760"/>
          </a:xfrm>
          <a:prstGeom prst="rect"/>
          <a:noFill/>
        </p:spPr>
        <p:txBody>
          <a:bodyPr anchor="ctr" bIns="0" lIns="0" rIns="0" rtlCol="0" tIns="0" wrap="square"/>
          <a:p>
            <a:pPr algn="ctr" indent="0" marL="0">
              <a:lnSpc>
                <a:spcPct val="100000"/>
              </a:lnSpc>
              <a:buNone/>
            </a:pPr>
            <a:r>
              <a:rPr b="1" dirty="0" sz="1050" lang="en-US">
                <a:solidFill>
                  <a:srgbClr val="1E293B"/>
                </a:solidFill>
                <a:latin typeface="Calibri" pitchFamily="34" charset="0"/>
                <a:ea typeface="Calibri" pitchFamily="34" charset="-122"/>
                <a:cs typeface="Calibri" pitchFamily="34" charset="-120"/>
              </a:rPr>
              <a:t>Spring Boot</a:t>
            </a:r>
            <a:endParaRPr dirty="0" sz="1050" lang="en-US"/>
          </a:p>
        </p:txBody>
      </p:sp>
      <p:sp>
        <p:nvSpPr>
          <p:cNvPr id="1048650" name="Shape 20"/>
          <p:cNvSpPr/>
          <p:nvPr/>
        </p:nvSpPr>
        <p:spPr>
          <a:xfrm>
            <a:off x="3390138" y="3291840"/>
            <a:ext cx="2567178" cy="2788920"/>
          </a:xfrm>
          <a:prstGeom prst="roundRect">
            <a:avLst>
              <a:gd name="adj" fmla="val 3562"/>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51" name="Text 21"/>
          <p:cNvSpPr/>
          <p:nvPr/>
        </p:nvSpPr>
        <p:spPr>
          <a:xfrm>
            <a:off x="3591306" y="3493008"/>
            <a:ext cx="2164842" cy="411480"/>
          </a:xfrm>
          <a:prstGeom prst="rect"/>
          <a:noFill/>
        </p:spPr>
        <p:txBody>
          <a:bodyPr anchor="ctr" bIns="0" lIns="0" rIns="0" rtlCol="0" tIns="0" wrap="square"/>
          <a:p>
            <a:pPr indent="0" marL="0">
              <a:lnSpc>
                <a:spcPct val="105000"/>
              </a:lnSpc>
              <a:buNone/>
            </a:pPr>
            <a:r>
              <a:rPr b="1" dirty="0" sz="1050" kern="0" lang="en-US" spc="120">
                <a:solidFill>
                  <a:srgbClr val="1C7293"/>
                </a:solidFill>
                <a:latin typeface="Calibri" pitchFamily="34" charset="0"/>
                <a:ea typeface="Calibri" pitchFamily="34" charset="-122"/>
                <a:cs typeface="Calibri" pitchFamily="34" charset="-120"/>
              </a:rPr>
              <a:t>DATABASE</a:t>
            </a:r>
            <a:endParaRPr dirty="0" sz="1050" lang="en-US"/>
          </a:p>
        </p:txBody>
      </p:sp>
      <p:sp>
        <p:nvSpPr>
          <p:cNvPr id="1048652" name="Text 22"/>
          <p:cNvSpPr/>
          <p:nvPr/>
        </p:nvSpPr>
        <p:spPr>
          <a:xfrm>
            <a:off x="3591306" y="3913632"/>
            <a:ext cx="2164842" cy="365760"/>
          </a:xfrm>
          <a:prstGeom prst="rect"/>
          <a:noFill/>
        </p:spPr>
        <p:txBody>
          <a:bodyPr anchor="ctr" bIns="0" lIns="0" rIns="0" rtlCol="0" tIns="0" wrap="square"/>
          <a:p>
            <a:pPr indent="0" marL="0">
              <a:buNone/>
            </a:pPr>
            <a:r>
              <a:rPr b="1" dirty="0" sz="1400" lang="en-US">
                <a:solidFill>
                  <a:srgbClr val="0F3057"/>
                </a:solidFill>
                <a:latin typeface="Cambria" pitchFamily="34" charset="0"/>
                <a:ea typeface="Cambria" pitchFamily="34" charset="-122"/>
                <a:cs typeface="Cambria" pitchFamily="34" charset="-120"/>
              </a:rPr>
              <a:t>Data Persistence</a:t>
            </a:r>
            <a:endParaRPr dirty="0" sz="1400" lang="en-US"/>
          </a:p>
        </p:txBody>
      </p:sp>
      <p:sp>
        <p:nvSpPr>
          <p:cNvPr id="1048653" name="Shape 23"/>
          <p:cNvSpPr/>
          <p:nvPr/>
        </p:nvSpPr>
        <p:spPr>
          <a:xfrm>
            <a:off x="4079367" y="4434840"/>
            <a:ext cx="1188720" cy="1051560"/>
          </a:xfrm>
          <a:prstGeom prst="roundRect">
            <a:avLst>
              <a:gd name="adj" fmla="val 6957"/>
            </a:avLst>
          </a:prstGeom>
          <a:solidFill>
            <a:srgbClr val="FFFFFF"/>
          </a:solidFill>
          <a:ln w="12700">
            <a:solidFill>
              <a:srgbClr val="DCE6EC"/>
            </a:solidFill>
            <a:prstDash val="solid"/>
          </a:ln>
        </p:spPr>
      </p:sp>
      <p:pic>
        <p:nvPicPr>
          <p:cNvPr id="2097164" name="Image 6" descr="/home/claude/sih/icons/icon_mysql.png"/>
          <p:cNvPicPr>
            <a:picLocks noChangeAspect="1"/>
          </p:cNvPicPr>
          <p:nvPr/>
        </p:nvPicPr>
        <p:blipFill>
          <a:blip xmlns:r="http://schemas.openxmlformats.org/officeDocument/2006/relationships" r:embed="rId7"/>
          <a:stretch>
            <a:fillRect/>
          </a:stretch>
        </p:blipFill>
        <p:spPr>
          <a:xfrm>
            <a:off x="4454271" y="4562856"/>
            <a:ext cx="438912" cy="438912"/>
          </a:xfrm>
          <a:prstGeom prst="rect"/>
        </p:spPr>
      </p:pic>
      <p:sp>
        <p:nvSpPr>
          <p:cNvPr id="1048654" name="Text 24"/>
          <p:cNvSpPr/>
          <p:nvPr/>
        </p:nvSpPr>
        <p:spPr>
          <a:xfrm>
            <a:off x="4079367" y="5056632"/>
            <a:ext cx="1188720" cy="365760"/>
          </a:xfrm>
          <a:prstGeom prst="rect"/>
          <a:noFill/>
        </p:spPr>
        <p:txBody>
          <a:bodyPr anchor="ctr" bIns="0" lIns="0" rIns="0" rtlCol="0" tIns="0" wrap="square"/>
          <a:p>
            <a:pPr algn="ctr" indent="0" marL="0">
              <a:lnSpc>
                <a:spcPct val="100000"/>
              </a:lnSpc>
              <a:buNone/>
            </a:pPr>
            <a:r>
              <a:rPr b="1" dirty="0" sz="1050" lang="en-US">
                <a:solidFill>
                  <a:srgbClr val="1E293B"/>
                </a:solidFill>
                <a:latin typeface="Calibri" pitchFamily="34" charset="0"/>
                <a:ea typeface="Calibri" pitchFamily="34" charset="-122"/>
                <a:cs typeface="Calibri" pitchFamily="34" charset="-120"/>
              </a:rPr>
              <a:t>MySQL</a:t>
            </a:r>
            <a:endParaRPr dirty="0" sz="1050" lang="en-US"/>
          </a:p>
        </p:txBody>
      </p:sp>
      <p:sp>
        <p:nvSpPr>
          <p:cNvPr id="1048655" name="Shape 25"/>
          <p:cNvSpPr/>
          <p:nvPr/>
        </p:nvSpPr>
        <p:spPr>
          <a:xfrm>
            <a:off x="6231636" y="3291840"/>
            <a:ext cx="2567178" cy="2788920"/>
          </a:xfrm>
          <a:prstGeom prst="roundRect">
            <a:avLst>
              <a:gd name="adj" fmla="val 3562"/>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56" name="Text 26"/>
          <p:cNvSpPr/>
          <p:nvPr/>
        </p:nvSpPr>
        <p:spPr>
          <a:xfrm>
            <a:off x="6432804" y="3493008"/>
            <a:ext cx="2164842" cy="411480"/>
          </a:xfrm>
          <a:prstGeom prst="rect"/>
          <a:noFill/>
        </p:spPr>
        <p:txBody>
          <a:bodyPr anchor="ctr" bIns="0" lIns="0" rIns="0" rtlCol="0" tIns="0" wrap="square"/>
          <a:p>
            <a:pPr indent="0" marL="0">
              <a:lnSpc>
                <a:spcPct val="105000"/>
              </a:lnSpc>
              <a:buNone/>
            </a:pPr>
            <a:r>
              <a:rPr b="1" dirty="0" sz="1050" kern="0" lang="en-US" spc="120">
                <a:solidFill>
                  <a:srgbClr val="1C7293"/>
                </a:solidFill>
                <a:latin typeface="Calibri" pitchFamily="34" charset="0"/>
                <a:ea typeface="Calibri" pitchFamily="34" charset="-122"/>
                <a:cs typeface="Calibri" pitchFamily="34" charset="-120"/>
              </a:rPr>
              <a:t>CORE DATA STRUCTURE</a:t>
            </a:r>
            <a:endParaRPr dirty="0" sz="1050" lang="en-US"/>
          </a:p>
        </p:txBody>
      </p:sp>
      <p:sp>
        <p:nvSpPr>
          <p:cNvPr id="1048657" name="Text 27"/>
          <p:cNvSpPr/>
          <p:nvPr/>
        </p:nvSpPr>
        <p:spPr>
          <a:xfrm>
            <a:off x="6432804" y="3913632"/>
            <a:ext cx="2164842" cy="365760"/>
          </a:xfrm>
          <a:prstGeom prst="rect"/>
          <a:noFill/>
        </p:spPr>
        <p:txBody>
          <a:bodyPr anchor="ctr" bIns="0" lIns="0" rIns="0" rtlCol="0" tIns="0" wrap="square"/>
          <a:p>
            <a:pPr indent="0" marL="0">
              <a:buNone/>
            </a:pPr>
            <a:r>
              <a:rPr b="1" dirty="0" sz="1400" lang="en-US">
                <a:solidFill>
                  <a:srgbClr val="0F3057"/>
                </a:solidFill>
                <a:latin typeface="Cambria" pitchFamily="34" charset="0"/>
                <a:ea typeface="Cambria" pitchFamily="34" charset="-122"/>
                <a:cs typeface="Cambria" pitchFamily="34" charset="-120"/>
              </a:rPr>
              <a:t>Triage Engine</a:t>
            </a:r>
            <a:endParaRPr dirty="0" sz="1400" lang="en-US"/>
          </a:p>
        </p:txBody>
      </p:sp>
      <p:sp>
        <p:nvSpPr>
          <p:cNvPr id="1048658" name="Shape 28"/>
          <p:cNvSpPr/>
          <p:nvPr/>
        </p:nvSpPr>
        <p:spPr>
          <a:xfrm>
            <a:off x="6920865" y="4434840"/>
            <a:ext cx="1188720" cy="1051560"/>
          </a:xfrm>
          <a:prstGeom prst="roundRect">
            <a:avLst>
              <a:gd name="adj" fmla="val 6957"/>
            </a:avLst>
          </a:prstGeom>
          <a:solidFill>
            <a:srgbClr val="FFFFFF"/>
          </a:solidFill>
          <a:ln w="12700">
            <a:solidFill>
              <a:srgbClr val="DCE6EC"/>
            </a:solidFill>
            <a:prstDash val="solid"/>
          </a:ln>
        </p:spPr>
      </p:sp>
      <p:pic>
        <p:nvPicPr>
          <p:cNvPr id="2097165" name="Image 7" descr="/home/claude/sih/icons/icon_sort_red.png"/>
          <p:cNvPicPr>
            <a:picLocks noChangeAspect="1"/>
          </p:cNvPicPr>
          <p:nvPr/>
        </p:nvPicPr>
        <p:blipFill>
          <a:blip xmlns:r="http://schemas.openxmlformats.org/officeDocument/2006/relationships" r:embed="rId8"/>
          <a:stretch>
            <a:fillRect/>
          </a:stretch>
        </p:blipFill>
        <p:spPr>
          <a:xfrm>
            <a:off x="7295769" y="4562856"/>
            <a:ext cx="438912" cy="438912"/>
          </a:xfrm>
          <a:prstGeom prst="rect"/>
        </p:spPr>
      </p:pic>
      <p:sp>
        <p:nvSpPr>
          <p:cNvPr id="1048659" name="Text 29"/>
          <p:cNvSpPr/>
          <p:nvPr/>
        </p:nvSpPr>
        <p:spPr>
          <a:xfrm>
            <a:off x="6920865" y="5056632"/>
            <a:ext cx="1188720" cy="365760"/>
          </a:xfrm>
          <a:prstGeom prst="rect"/>
          <a:noFill/>
        </p:spPr>
        <p:txBody>
          <a:bodyPr anchor="ctr" bIns="0" lIns="0" rIns="0" rtlCol="0" tIns="0" wrap="square"/>
          <a:p>
            <a:pPr algn="ctr" indent="0" marL="0">
              <a:lnSpc>
                <a:spcPct val="100000"/>
              </a:lnSpc>
              <a:buNone/>
            </a:pPr>
            <a:r>
              <a:rPr b="1" dirty="0" sz="1050" lang="en-US">
                <a:solidFill>
                  <a:srgbClr val="1E293B"/>
                </a:solidFill>
                <a:latin typeface="Calibri" pitchFamily="34" charset="0"/>
                <a:ea typeface="Calibri" pitchFamily="34" charset="-122"/>
                <a:cs typeface="Calibri" pitchFamily="34" charset="-120"/>
              </a:rPr>
              <a:t>PriorityQueue</a:t>
            </a:r>
            <a:endParaRPr dirty="0" sz="1050" lang="en-US"/>
          </a:p>
        </p:txBody>
      </p:sp>
      <p:sp>
        <p:nvSpPr>
          <p:cNvPr id="1048660" name="Shape 30"/>
          <p:cNvSpPr/>
          <p:nvPr/>
        </p:nvSpPr>
        <p:spPr>
          <a:xfrm>
            <a:off x="9073134" y="3291840"/>
            <a:ext cx="2567178" cy="2788920"/>
          </a:xfrm>
          <a:prstGeom prst="roundRect">
            <a:avLst>
              <a:gd name="adj" fmla="val 3562"/>
            </a:avLst>
          </a:prstGeom>
          <a:solidFill>
            <a:srgbClr val="F7F9FB"/>
          </a:solidFill>
          <a:ln w="12700">
            <a:solidFill>
              <a:srgbClr val="DCE6EC"/>
            </a:solidFill>
            <a:prstDash val="solid"/>
          </a:ln>
          <a:effectLst>
            <a:outerShdw algn="bl" blurRad="101600" dir="2700000" dist="38100" kx="0" ky="0" rotWithShape="0" sx="100000" sy="100000">
              <a:srgbClr val="0F3057">
                <a:alpha val="12000"/>
              </a:srgbClr>
            </a:outerShdw>
          </a:effectLst>
        </p:spPr>
      </p:sp>
      <p:sp>
        <p:nvSpPr>
          <p:cNvPr id="1048661" name="Text 31"/>
          <p:cNvSpPr/>
          <p:nvPr/>
        </p:nvSpPr>
        <p:spPr>
          <a:xfrm>
            <a:off x="9274302" y="3493008"/>
            <a:ext cx="2164842" cy="411480"/>
          </a:xfrm>
          <a:prstGeom prst="rect"/>
          <a:noFill/>
        </p:spPr>
        <p:txBody>
          <a:bodyPr anchor="ctr" bIns="0" lIns="0" rIns="0" rtlCol="0" tIns="0" wrap="square"/>
          <a:p>
            <a:pPr indent="0" marL="0">
              <a:lnSpc>
                <a:spcPct val="105000"/>
              </a:lnSpc>
              <a:buNone/>
            </a:pPr>
            <a:r>
              <a:rPr b="1" dirty="0" sz="1050" kern="0" lang="en-US" spc="120">
                <a:solidFill>
                  <a:srgbClr val="1C7293"/>
                </a:solidFill>
                <a:latin typeface="Calibri" pitchFamily="34" charset="0"/>
                <a:ea typeface="Calibri" pitchFamily="34" charset="-122"/>
                <a:cs typeface="Calibri" pitchFamily="34" charset="-120"/>
              </a:rPr>
              <a:t>COMMUNICATION</a:t>
            </a:r>
            <a:endParaRPr dirty="0" sz="1050" lang="en-US"/>
          </a:p>
        </p:txBody>
      </p:sp>
      <p:sp>
        <p:nvSpPr>
          <p:cNvPr id="1048662" name="Text 32"/>
          <p:cNvSpPr/>
          <p:nvPr/>
        </p:nvSpPr>
        <p:spPr>
          <a:xfrm>
            <a:off x="9274302" y="3913632"/>
            <a:ext cx="2164842" cy="365760"/>
          </a:xfrm>
          <a:prstGeom prst="rect"/>
          <a:noFill/>
        </p:spPr>
        <p:txBody>
          <a:bodyPr anchor="ctr" bIns="0" lIns="0" rIns="0" rtlCol="0" tIns="0" wrap="square"/>
          <a:p>
            <a:pPr indent="0" marL="0">
              <a:buNone/>
            </a:pPr>
            <a:r>
              <a:rPr b="1" dirty="0" sz="1400" lang="en-US">
                <a:solidFill>
                  <a:srgbClr val="0F3057"/>
                </a:solidFill>
                <a:latin typeface="Cambria" pitchFamily="34" charset="0"/>
                <a:ea typeface="Cambria" pitchFamily="34" charset="-122"/>
                <a:cs typeface="Cambria" pitchFamily="34" charset="-120"/>
              </a:rPr>
              <a:t>Client ↔ Server</a:t>
            </a:r>
            <a:endParaRPr dirty="0" sz="1400" lang="en-US"/>
          </a:p>
        </p:txBody>
      </p:sp>
      <p:sp>
        <p:nvSpPr>
          <p:cNvPr id="1048663" name="Shape 33"/>
          <p:cNvSpPr/>
          <p:nvPr/>
        </p:nvSpPr>
        <p:spPr>
          <a:xfrm>
            <a:off x="9762363" y="4434840"/>
            <a:ext cx="1188720" cy="1051560"/>
          </a:xfrm>
          <a:prstGeom prst="roundRect">
            <a:avLst>
              <a:gd name="adj" fmla="val 6957"/>
            </a:avLst>
          </a:prstGeom>
          <a:solidFill>
            <a:srgbClr val="FFFFFF"/>
          </a:solidFill>
          <a:ln w="12700">
            <a:solidFill>
              <a:srgbClr val="DCE6EC"/>
            </a:solidFill>
            <a:prstDash val="solid"/>
          </a:ln>
        </p:spPr>
      </p:sp>
      <p:pic>
        <p:nvPicPr>
          <p:cNvPr id="2097166" name="Image 8" descr="/home/claude/sih/icons/icon_api_navy2.png"/>
          <p:cNvPicPr>
            <a:picLocks noChangeAspect="1"/>
          </p:cNvPicPr>
          <p:nvPr/>
        </p:nvPicPr>
        <p:blipFill>
          <a:blip xmlns:r="http://schemas.openxmlformats.org/officeDocument/2006/relationships" r:embed="rId9"/>
          <a:stretch>
            <a:fillRect/>
          </a:stretch>
        </p:blipFill>
        <p:spPr>
          <a:xfrm>
            <a:off x="10137267" y="4562856"/>
            <a:ext cx="438912" cy="438912"/>
          </a:xfrm>
          <a:prstGeom prst="rect"/>
        </p:spPr>
      </p:pic>
      <p:sp>
        <p:nvSpPr>
          <p:cNvPr id="1048664" name="Text 34"/>
          <p:cNvSpPr/>
          <p:nvPr/>
        </p:nvSpPr>
        <p:spPr>
          <a:xfrm>
            <a:off x="9762363" y="5056632"/>
            <a:ext cx="1188720" cy="365760"/>
          </a:xfrm>
          <a:prstGeom prst="rect"/>
          <a:noFill/>
        </p:spPr>
        <p:txBody>
          <a:bodyPr anchor="ctr" bIns="0" lIns="0" rIns="0" rtlCol="0" tIns="0" wrap="square"/>
          <a:p>
            <a:pPr algn="ctr" indent="0" marL="0">
              <a:lnSpc>
                <a:spcPct val="100000"/>
              </a:lnSpc>
              <a:buNone/>
            </a:pPr>
            <a:r>
              <a:rPr b="1" dirty="0" sz="1050" lang="en-US">
                <a:solidFill>
                  <a:srgbClr val="1E293B"/>
                </a:solidFill>
                <a:latin typeface="Calibri" pitchFamily="34" charset="0"/>
                <a:ea typeface="Calibri" pitchFamily="34" charset="-122"/>
                <a:cs typeface="Calibri" pitchFamily="34" charset="-120"/>
              </a:rPr>
              <a:t>REST APIs</a:t>
            </a:r>
            <a:endParaRPr dirty="0" sz="1050" lang="en-US"/>
          </a:p>
        </p:txBody>
      </p:sp>
      <p:sp>
        <p:nvSpPr>
          <p:cNvPr id="1048665" name="Text 35"/>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666" name="Text 36"/>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7" name=""/>
        <p:cNvGrpSpPr/>
        <p:nvPr/>
      </p:nvGrpSpPr>
      <p:grpSpPr>
        <a:xfrm>
          <a:off x="0" y="0"/>
          <a:ext cx="0" cy="0"/>
          <a:chOff x="0" y="0"/>
          <a:chExt cx="0" cy="0"/>
        </a:xfrm>
      </p:grpSpPr>
      <p:sp>
        <p:nvSpPr>
          <p:cNvPr id="1048670"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HOW IT WORKS</a:t>
            </a:r>
            <a:endParaRPr dirty="0" sz="1300" lang="en-US"/>
          </a:p>
        </p:txBody>
      </p:sp>
      <p:sp>
        <p:nvSpPr>
          <p:cNvPr id="1048671"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System Architecture</a:t>
            </a:r>
            <a:endParaRPr dirty="0" sz="3000" lang="en-US"/>
          </a:p>
        </p:txBody>
      </p:sp>
      <p:sp>
        <p:nvSpPr>
          <p:cNvPr id="1048672" name="Shape 2"/>
          <p:cNvSpPr/>
          <p:nvPr/>
        </p:nvSpPr>
        <p:spPr>
          <a:xfrm>
            <a:off x="3246120" y="1508760"/>
            <a:ext cx="5669280" cy="786384"/>
          </a:xfrm>
          <a:prstGeom prst="roundRect">
            <a:avLst>
              <a:gd name="adj" fmla="val 10465"/>
            </a:avLst>
          </a:prstGeom>
          <a:solidFill>
            <a:srgbClr val="F7F9FB"/>
          </a:solidFill>
          <a:ln w="17780">
            <a:solidFill>
              <a:srgbClr val="1C7293"/>
            </a:solidFill>
            <a:prstDash val="solid"/>
          </a:ln>
        </p:spPr>
      </p:sp>
      <p:sp>
        <p:nvSpPr>
          <p:cNvPr id="1048673" name="Shape 3"/>
          <p:cNvSpPr/>
          <p:nvPr/>
        </p:nvSpPr>
        <p:spPr>
          <a:xfrm>
            <a:off x="3410712" y="1673352"/>
            <a:ext cx="457200" cy="457200"/>
          </a:xfrm>
          <a:prstGeom prst="ellipse"/>
          <a:solidFill>
            <a:srgbClr val="1C7293"/>
          </a:solidFill>
        </p:spPr>
      </p:sp>
      <p:sp>
        <p:nvSpPr>
          <p:cNvPr id="1048674" name="Text 4"/>
          <p:cNvSpPr/>
          <p:nvPr/>
        </p:nvSpPr>
        <p:spPr>
          <a:xfrm>
            <a:off x="3410712"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pic>
        <p:nvPicPr>
          <p:cNvPr id="2097167" name="Image 0" descr="/home/claude/sih/icons/icon_userplus_navy.png"/>
          <p:cNvPicPr>
            <a:picLocks noChangeAspect="1"/>
          </p:cNvPicPr>
          <p:nvPr/>
        </p:nvPicPr>
        <p:blipFill>
          <a:blip xmlns:r="http://schemas.openxmlformats.org/officeDocument/2006/relationships" r:embed="rId1"/>
          <a:stretch>
            <a:fillRect/>
          </a:stretch>
        </p:blipFill>
        <p:spPr>
          <a:xfrm>
            <a:off x="4023360" y="1746504"/>
            <a:ext cx="310896" cy="310896"/>
          </a:xfrm>
          <a:prstGeom prst="rect"/>
        </p:spPr>
      </p:pic>
      <p:sp>
        <p:nvSpPr>
          <p:cNvPr id="1048675" name="Text 5"/>
          <p:cNvSpPr/>
          <p:nvPr/>
        </p:nvSpPr>
        <p:spPr>
          <a:xfrm>
            <a:off x="4480560" y="1600200"/>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Patient Registration</a:t>
            </a:r>
            <a:endParaRPr dirty="0" sz="1500" lang="en-US"/>
          </a:p>
        </p:txBody>
      </p:sp>
      <p:sp>
        <p:nvSpPr>
          <p:cNvPr id="1048676" name="Text 6"/>
          <p:cNvSpPr/>
          <p:nvPr/>
        </p:nvSpPr>
        <p:spPr>
          <a:xfrm>
            <a:off x="4480560" y="1929384"/>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Front-desk staff register a new patient with symptoms and vitals.</a:t>
            </a:r>
            <a:endParaRPr dirty="0" sz="1080" lang="en-US"/>
          </a:p>
        </p:txBody>
      </p:sp>
      <p:sp>
        <p:nvSpPr>
          <p:cNvPr id="1048677" name="Text 7"/>
          <p:cNvSpPr/>
          <p:nvPr/>
        </p:nvSpPr>
        <p:spPr>
          <a:xfrm>
            <a:off x="3264408" y="2267712"/>
            <a:ext cx="365760" cy="201168"/>
          </a:xfrm>
          <a:prstGeom prst="rect"/>
          <a:noFill/>
        </p:spPr>
        <p:txBody>
          <a:bodyPr anchor="ctr" bIns="0" lIns="0" rIns="0" rtlCol="0" tIns="0" wrap="square"/>
          <a:p>
            <a:pPr algn="ctr" indent="0" marL="0">
              <a:buNone/>
            </a:pPr>
            <a:r>
              <a:rPr dirty="0" sz="1300" lang="en-US">
                <a:solidFill>
                  <a:srgbClr val="1C7293"/>
                </a:solidFill>
                <a:latin typeface="Calibri" pitchFamily="34" charset="0"/>
                <a:ea typeface="Calibri" pitchFamily="34" charset="-122"/>
                <a:cs typeface="Calibri" pitchFamily="34" charset="-120"/>
              </a:rPr>
              <a:t>↓</a:t>
            </a:r>
            <a:endParaRPr dirty="0" sz="1300" lang="en-US"/>
          </a:p>
        </p:txBody>
      </p:sp>
      <p:sp>
        <p:nvSpPr>
          <p:cNvPr id="1048678" name="Text 8"/>
          <p:cNvSpPr/>
          <p:nvPr/>
        </p:nvSpPr>
        <p:spPr>
          <a:xfrm>
            <a:off x="9079992" y="2176272"/>
            <a:ext cx="2468880" cy="274320"/>
          </a:xfrm>
          <a:prstGeom prst="rect"/>
          <a:noFill/>
        </p:spPr>
        <p:txBody>
          <a:bodyPr anchor="ctr" bIns="0" lIns="0" rIns="0" rtlCol="0" tIns="0" wrap="square"/>
          <a:p>
            <a:pPr indent="0" marL="0">
              <a:buNone/>
            </a:pPr>
            <a:r>
              <a:rPr dirty="0" sz="950" i="1" lang="en-US">
                <a:solidFill>
                  <a:srgbClr val="5B6B7C"/>
                </a:solidFill>
                <a:latin typeface="Calibri" pitchFamily="34" charset="0"/>
                <a:ea typeface="Calibri" pitchFamily="34" charset="-122"/>
                <a:cs typeface="Calibri" pitchFamily="34" charset="-120"/>
              </a:rPr>
              <a:t>Form Submission</a:t>
            </a:r>
            <a:endParaRPr dirty="0" sz="950" lang="en-US"/>
          </a:p>
        </p:txBody>
      </p:sp>
      <p:sp>
        <p:nvSpPr>
          <p:cNvPr id="1048679" name="Shape 9"/>
          <p:cNvSpPr/>
          <p:nvPr/>
        </p:nvSpPr>
        <p:spPr>
          <a:xfrm>
            <a:off x="3246120" y="2363724"/>
            <a:ext cx="5669280" cy="786384"/>
          </a:xfrm>
          <a:prstGeom prst="roundRect">
            <a:avLst>
              <a:gd name="adj" fmla="val 10465"/>
            </a:avLst>
          </a:prstGeom>
          <a:solidFill>
            <a:srgbClr val="F7F9FB"/>
          </a:solidFill>
          <a:ln w="17780">
            <a:solidFill>
              <a:srgbClr val="0F3057"/>
            </a:solidFill>
            <a:prstDash val="solid"/>
          </a:ln>
        </p:spPr>
      </p:sp>
      <p:sp>
        <p:nvSpPr>
          <p:cNvPr id="1048680" name="Shape 10"/>
          <p:cNvSpPr/>
          <p:nvPr/>
        </p:nvSpPr>
        <p:spPr>
          <a:xfrm>
            <a:off x="3410712" y="2528316"/>
            <a:ext cx="457200" cy="457200"/>
          </a:xfrm>
          <a:prstGeom prst="ellipse"/>
          <a:solidFill>
            <a:srgbClr val="0F3057"/>
          </a:solidFill>
        </p:spPr>
      </p:sp>
      <p:sp>
        <p:nvSpPr>
          <p:cNvPr id="1048681" name="Text 11"/>
          <p:cNvSpPr/>
          <p:nvPr/>
        </p:nvSpPr>
        <p:spPr>
          <a:xfrm>
            <a:off x="3410712" y="2528316"/>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pic>
        <p:nvPicPr>
          <p:cNvPr id="2097168" name="Image 1" descr="/home/claude/sih/icons/icon_desktop_navy.png"/>
          <p:cNvPicPr>
            <a:picLocks noChangeAspect="1"/>
          </p:cNvPicPr>
          <p:nvPr/>
        </p:nvPicPr>
        <p:blipFill>
          <a:blip xmlns:r="http://schemas.openxmlformats.org/officeDocument/2006/relationships" r:embed="rId2"/>
          <a:stretch>
            <a:fillRect/>
          </a:stretch>
        </p:blipFill>
        <p:spPr>
          <a:xfrm>
            <a:off x="4023360" y="2601468"/>
            <a:ext cx="310896" cy="310896"/>
          </a:xfrm>
          <a:prstGeom prst="rect"/>
        </p:spPr>
      </p:pic>
      <p:sp>
        <p:nvSpPr>
          <p:cNvPr id="1048682" name="Text 12"/>
          <p:cNvSpPr/>
          <p:nvPr/>
        </p:nvSpPr>
        <p:spPr>
          <a:xfrm>
            <a:off x="4480560" y="2455164"/>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Frontend Dashboard</a:t>
            </a:r>
            <a:endParaRPr dirty="0" sz="1500" lang="en-US"/>
          </a:p>
        </p:txBody>
      </p:sp>
      <p:sp>
        <p:nvSpPr>
          <p:cNvPr id="1048683" name="Text 13"/>
          <p:cNvSpPr/>
          <p:nvPr/>
        </p:nvSpPr>
        <p:spPr>
          <a:xfrm>
            <a:off x="4480560" y="2784348"/>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Bootstrap-powered web UI captures and displays live queue data.</a:t>
            </a:r>
            <a:endParaRPr dirty="0" sz="1080" lang="en-US"/>
          </a:p>
        </p:txBody>
      </p:sp>
      <p:sp>
        <p:nvSpPr>
          <p:cNvPr id="1048684" name="Text 14"/>
          <p:cNvSpPr/>
          <p:nvPr/>
        </p:nvSpPr>
        <p:spPr>
          <a:xfrm>
            <a:off x="3264408" y="3122676"/>
            <a:ext cx="365760" cy="201168"/>
          </a:xfrm>
          <a:prstGeom prst="rect"/>
          <a:noFill/>
        </p:spPr>
        <p:txBody>
          <a:bodyPr anchor="ctr" bIns="0" lIns="0" rIns="0" rtlCol="0" tIns="0" wrap="square"/>
          <a:p>
            <a:pPr algn="ctr" indent="0" marL="0">
              <a:buNone/>
            </a:pPr>
            <a:r>
              <a:rPr dirty="0" sz="1300" lang="en-US">
                <a:solidFill>
                  <a:srgbClr val="0F3057"/>
                </a:solidFill>
                <a:latin typeface="Calibri" pitchFamily="34" charset="0"/>
                <a:ea typeface="Calibri" pitchFamily="34" charset="-122"/>
                <a:cs typeface="Calibri" pitchFamily="34" charset="-120"/>
              </a:rPr>
              <a:t>↓</a:t>
            </a:r>
            <a:endParaRPr dirty="0" sz="1300" lang="en-US"/>
          </a:p>
        </p:txBody>
      </p:sp>
      <p:sp>
        <p:nvSpPr>
          <p:cNvPr id="1048685" name="Text 15"/>
          <p:cNvSpPr/>
          <p:nvPr/>
        </p:nvSpPr>
        <p:spPr>
          <a:xfrm>
            <a:off x="9079992" y="3031236"/>
            <a:ext cx="2468880" cy="274320"/>
          </a:xfrm>
          <a:prstGeom prst="rect"/>
          <a:noFill/>
        </p:spPr>
        <p:txBody>
          <a:bodyPr anchor="ctr" bIns="0" lIns="0" rIns="0" rtlCol="0" tIns="0" wrap="square"/>
          <a:p>
            <a:pPr indent="0" marL="0">
              <a:buNone/>
            </a:pPr>
            <a:r>
              <a:rPr dirty="0" sz="950" i="1" lang="en-US">
                <a:solidFill>
                  <a:srgbClr val="5B6B7C"/>
                </a:solidFill>
                <a:latin typeface="Calibri" pitchFamily="34" charset="0"/>
                <a:ea typeface="Calibri" pitchFamily="34" charset="-122"/>
                <a:cs typeface="Calibri" pitchFamily="34" charset="-120"/>
              </a:rPr>
              <a:t>AJAX / Fetch Call</a:t>
            </a:r>
            <a:endParaRPr dirty="0" sz="950" lang="en-US"/>
          </a:p>
        </p:txBody>
      </p:sp>
      <p:sp>
        <p:nvSpPr>
          <p:cNvPr id="1048686" name="Shape 16"/>
          <p:cNvSpPr/>
          <p:nvPr/>
        </p:nvSpPr>
        <p:spPr>
          <a:xfrm>
            <a:off x="3246120" y="3218688"/>
            <a:ext cx="5669280" cy="786384"/>
          </a:xfrm>
          <a:prstGeom prst="roundRect">
            <a:avLst>
              <a:gd name="adj" fmla="val 10465"/>
            </a:avLst>
          </a:prstGeom>
          <a:solidFill>
            <a:srgbClr val="F7F9FB"/>
          </a:solidFill>
          <a:ln w="17780">
            <a:solidFill>
              <a:srgbClr val="1C7293"/>
            </a:solidFill>
            <a:prstDash val="solid"/>
          </a:ln>
        </p:spPr>
      </p:sp>
      <p:sp>
        <p:nvSpPr>
          <p:cNvPr id="1048687" name="Shape 17"/>
          <p:cNvSpPr/>
          <p:nvPr/>
        </p:nvSpPr>
        <p:spPr>
          <a:xfrm>
            <a:off x="3410712" y="3383280"/>
            <a:ext cx="457200" cy="457200"/>
          </a:xfrm>
          <a:prstGeom prst="ellipse"/>
          <a:solidFill>
            <a:srgbClr val="1C7293"/>
          </a:solidFill>
        </p:spPr>
      </p:sp>
      <p:sp>
        <p:nvSpPr>
          <p:cNvPr id="1048688" name="Text 18"/>
          <p:cNvSpPr/>
          <p:nvPr/>
        </p:nvSpPr>
        <p:spPr>
          <a:xfrm>
            <a:off x="3410712" y="3383280"/>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pic>
        <p:nvPicPr>
          <p:cNvPr id="2097169" name="Image 2" descr="/home/claude/sih/icons/icon_api_navy2.png"/>
          <p:cNvPicPr>
            <a:picLocks noChangeAspect="1"/>
          </p:cNvPicPr>
          <p:nvPr/>
        </p:nvPicPr>
        <p:blipFill>
          <a:blip xmlns:r="http://schemas.openxmlformats.org/officeDocument/2006/relationships" r:embed="rId3"/>
          <a:stretch>
            <a:fillRect/>
          </a:stretch>
        </p:blipFill>
        <p:spPr>
          <a:xfrm>
            <a:off x="4023360" y="3456432"/>
            <a:ext cx="310896" cy="310896"/>
          </a:xfrm>
          <a:prstGeom prst="rect"/>
        </p:spPr>
      </p:pic>
      <p:sp>
        <p:nvSpPr>
          <p:cNvPr id="1048689" name="Text 19"/>
          <p:cNvSpPr/>
          <p:nvPr/>
        </p:nvSpPr>
        <p:spPr>
          <a:xfrm>
            <a:off x="4480560" y="3310128"/>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REST APIs</a:t>
            </a:r>
            <a:endParaRPr dirty="0" sz="1500" lang="en-US"/>
          </a:p>
        </p:txBody>
      </p:sp>
      <p:sp>
        <p:nvSpPr>
          <p:cNvPr id="1048690" name="Text 20"/>
          <p:cNvSpPr/>
          <p:nvPr/>
        </p:nvSpPr>
        <p:spPr>
          <a:xfrm>
            <a:off x="4480560" y="3639312"/>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Stateless HTTP endpoints carry requests between client and server.</a:t>
            </a:r>
            <a:endParaRPr dirty="0" sz="1080" lang="en-US"/>
          </a:p>
        </p:txBody>
      </p:sp>
      <p:sp>
        <p:nvSpPr>
          <p:cNvPr id="1048691" name="Text 21"/>
          <p:cNvSpPr/>
          <p:nvPr/>
        </p:nvSpPr>
        <p:spPr>
          <a:xfrm>
            <a:off x="3264408" y="3977640"/>
            <a:ext cx="365760" cy="201168"/>
          </a:xfrm>
          <a:prstGeom prst="rect"/>
          <a:noFill/>
        </p:spPr>
        <p:txBody>
          <a:bodyPr anchor="ctr" bIns="0" lIns="0" rIns="0" rtlCol="0" tIns="0" wrap="square"/>
          <a:p>
            <a:pPr algn="ctr" indent="0" marL="0">
              <a:buNone/>
            </a:pPr>
            <a:r>
              <a:rPr dirty="0" sz="1300" lang="en-US">
                <a:solidFill>
                  <a:srgbClr val="1C7293"/>
                </a:solidFill>
                <a:latin typeface="Calibri" pitchFamily="34" charset="0"/>
                <a:ea typeface="Calibri" pitchFamily="34" charset="-122"/>
                <a:cs typeface="Calibri" pitchFamily="34" charset="-120"/>
              </a:rPr>
              <a:t>↓</a:t>
            </a:r>
            <a:endParaRPr dirty="0" sz="1300" lang="en-US"/>
          </a:p>
        </p:txBody>
      </p:sp>
      <p:sp>
        <p:nvSpPr>
          <p:cNvPr id="1048692" name="Text 22"/>
          <p:cNvSpPr/>
          <p:nvPr/>
        </p:nvSpPr>
        <p:spPr>
          <a:xfrm>
            <a:off x="9079992" y="3886200"/>
            <a:ext cx="2468880" cy="274320"/>
          </a:xfrm>
          <a:prstGeom prst="rect"/>
          <a:noFill/>
        </p:spPr>
        <p:txBody>
          <a:bodyPr anchor="ctr" bIns="0" lIns="0" rIns="0" rtlCol="0" tIns="0" wrap="square"/>
          <a:p>
            <a:pPr indent="0" marL="0">
              <a:buNone/>
            </a:pPr>
            <a:r>
              <a:rPr dirty="0" sz="950" i="1" lang="en-US">
                <a:solidFill>
                  <a:srgbClr val="5B6B7C"/>
                </a:solidFill>
                <a:latin typeface="Calibri" pitchFamily="34" charset="0"/>
                <a:ea typeface="Calibri" pitchFamily="34" charset="-122"/>
                <a:cs typeface="Calibri" pitchFamily="34" charset="-120"/>
              </a:rPr>
              <a:t>JSON over HTTP</a:t>
            </a:r>
            <a:endParaRPr dirty="0" sz="950" lang="en-US"/>
          </a:p>
        </p:txBody>
      </p:sp>
      <p:sp>
        <p:nvSpPr>
          <p:cNvPr id="1048693" name="Shape 23"/>
          <p:cNvSpPr/>
          <p:nvPr/>
        </p:nvSpPr>
        <p:spPr>
          <a:xfrm>
            <a:off x="3246120" y="4073652"/>
            <a:ext cx="5669280" cy="786384"/>
          </a:xfrm>
          <a:prstGeom prst="roundRect">
            <a:avLst>
              <a:gd name="adj" fmla="val 10465"/>
            </a:avLst>
          </a:prstGeom>
          <a:solidFill>
            <a:srgbClr val="F7F9FB"/>
          </a:solidFill>
          <a:ln w="17780">
            <a:solidFill>
              <a:srgbClr val="0F3057"/>
            </a:solidFill>
            <a:prstDash val="solid"/>
          </a:ln>
        </p:spPr>
      </p:sp>
      <p:sp>
        <p:nvSpPr>
          <p:cNvPr id="1048694" name="Shape 24"/>
          <p:cNvSpPr/>
          <p:nvPr/>
        </p:nvSpPr>
        <p:spPr>
          <a:xfrm>
            <a:off x="3410712" y="4238244"/>
            <a:ext cx="457200" cy="457200"/>
          </a:xfrm>
          <a:prstGeom prst="ellipse"/>
          <a:solidFill>
            <a:srgbClr val="0F3057"/>
          </a:solidFill>
        </p:spPr>
      </p:sp>
      <p:sp>
        <p:nvSpPr>
          <p:cNvPr id="1048695" name="Text 25"/>
          <p:cNvSpPr/>
          <p:nvPr/>
        </p:nvSpPr>
        <p:spPr>
          <a:xfrm>
            <a:off x="3410712" y="4238244"/>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pic>
        <p:nvPicPr>
          <p:cNvPr id="2097170" name="Image 3" descr="/home/claude/sih/icons/icon_server_navy.png"/>
          <p:cNvPicPr>
            <a:picLocks noChangeAspect="1"/>
          </p:cNvPicPr>
          <p:nvPr/>
        </p:nvPicPr>
        <p:blipFill>
          <a:blip xmlns:r="http://schemas.openxmlformats.org/officeDocument/2006/relationships" r:embed="rId4"/>
          <a:stretch>
            <a:fillRect/>
          </a:stretch>
        </p:blipFill>
        <p:spPr>
          <a:xfrm>
            <a:off x="4023360" y="4311396"/>
            <a:ext cx="310896" cy="310896"/>
          </a:xfrm>
          <a:prstGeom prst="rect"/>
        </p:spPr>
      </p:pic>
      <p:sp>
        <p:nvSpPr>
          <p:cNvPr id="1048696" name="Text 26"/>
          <p:cNvSpPr/>
          <p:nvPr/>
        </p:nvSpPr>
        <p:spPr>
          <a:xfrm>
            <a:off x="4480560" y="4165092"/>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Spring Boot Backend</a:t>
            </a:r>
            <a:endParaRPr dirty="0" sz="1500" lang="en-US"/>
          </a:p>
        </p:txBody>
      </p:sp>
      <p:sp>
        <p:nvSpPr>
          <p:cNvPr id="1048697" name="Text 27"/>
          <p:cNvSpPr/>
          <p:nvPr/>
        </p:nvSpPr>
        <p:spPr>
          <a:xfrm>
            <a:off x="4480560" y="4494276"/>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Controller and service layers validate and route each request.</a:t>
            </a:r>
            <a:endParaRPr dirty="0" sz="1080" lang="en-US"/>
          </a:p>
        </p:txBody>
      </p:sp>
      <p:sp>
        <p:nvSpPr>
          <p:cNvPr id="1048698" name="Text 28"/>
          <p:cNvSpPr/>
          <p:nvPr/>
        </p:nvSpPr>
        <p:spPr>
          <a:xfrm>
            <a:off x="3264408" y="4832604"/>
            <a:ext cx="365760" cy="201168"/>
          </a:xfrm>
          <a:prstGeom prst="rect"/>
          <a:noFill/>
        </p:spPr>
        <p:txBody>
          <a:bodyPr anchor="ctr" bIns="0" lIns="0" rIns="0" rtlCol="0" tIns="0" wrap="square"/>
          <a:p>
            <a:pPr algn="ctr" indent="0" marL="0">
              <a:buNone/>
            </a:pPr>
            <a:r>
              <a:rPr dirty="0" sz="1300" lang="en-US">
                <a:solidFill>
                  <a:srgbClr val="0F3057"/>
                </a:solidFill>
                <a:latin typeface="Calibri" pitchFamily="34" charset="0"/>
                <a:ea typeface="Calibri" pitchFamily="34" charset="-122"/>
                <a:cs typeface="Calibri" pitchFamily="34" charset="-120"/>
              </a:rPr>
              <a:t>↓</a:t>
            </a:r>
            <a:endParaRPr dirty="0" sz="1300" lang="en-US"/>
          </a:p>
        </p:txBody>
      </p:sp>
      <p:sp>
        <p:nvSpPr>
          <p:cNvPr id="1048699" name="Text 29"/>
          <p:cNvSpPr/>
          <p:nvPr/>
        </p:nvSpPr>
        <p:spPr>
          <a:xfrm>
            <a:off x="9079992" y="4741164"/>
            <a:ext cx="2468880" cy="274320"/>
          </a:xfrm>
          <a:prstGeom prst="rect"/>
          <a:noFill/>
        </p:spPr>
        <p:txBody>
          <a:bodyPr anchor="ctr" bIns="0" lIns="0" rIns="0" rtlCol="0" tIns="0" wrap="square"/>
          <a:p>
            <a:pPr indent="0" marL="0">
              <a:buNone/>
            </a:pPr>
            <a:r>
              <a:rPr dirty="0" sz="950" i="1" lang="en-US">
                <a:solidFill>
                  <a:srgbClr val="5B6B7C"/>
                </a:solidFill>
                <a:latin typeface="Calibri" pitchFamily="34" charset="0"/>
                <a:ea typeface="Calibri" pitchFamily="34" charset="-122"/>
                <a:cs typeface="Calibri" pitchFamily="34" charset="-120"/>
              </a:rPr>
              <a:t>Service Invocation</a:t>
            </a:r>
            <a:endParaRPr dirty="0" sz="950" lang="en-US"/>
          </a:p>
        </p:txBody>
      </p:sp>
      <p:sp>
        <p:nvSpPr>
          <p:cNvPr id="1048700" name="Shape 30"/>
          <p:cNvSpPr/>
          <p:nvPr/>
        </p:nvSpPr>
        <p:spPr>
          <a:xfrm>
            <a:off x="3246120" y="4928616"/>
            <a:ext cx="5669280" cy="786384"/>
          </a:xfrm>
          <a:prstGeom prst="roundRect">
            <a:avLst>
              <a:gd name="adj" fmla="val 10465"/>
            </a:avLst>
          </a:prstGeom>
          <a:solidFill>
            <a:srgbClr val="F7F9FB"/>
          </a:solidFill>
          <a:ln w="17780">
            <a:solidFill>
              <a:srgbClr val="E63946"/>
            </a:solidFill>
            <a:prstDash val="solid"/>
          </a:ln>
        </p:spPr>
      </p:sp>
      <p:sp>
        <p:nvSpPr>
          <p:cNvPr id="1048701" name="Shape 31"/>
          <p:cNvSpPr/>
          <p:nvPr/>
        </p:nvSpPr>
        <p:spPr>
          <a:xfrm>
            <a:off x="3410712" y="5093208"/>
            <a:ext cx="457200" cy="457200"/>
          </a:xfrm>
          <a:prstGeom prst="ellipse"/>
          <a:solidFill>
            <a:srgbClr val="E63946"/>
          </a:solidFill>
        </p:spPr>
      </p:sp>
      <p:sp>
        <p:nvSpPr>
          <p:cNvPr id="1048702" name="Text 32"/>
          <p:cNvSpPr/>
          <p:nvPr/>
        </p:nvSpPr>
        <p:spPr>
          <a:xfrm>
            <a:off x="3410712" y="5093208"/>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pic>
        <p:nvPicPr>
          <p:cNvPr id="2097171" name="Image 4" descr="/home/claude/sih/icons/icon_sort_red.png"/>
          <p:cNvPicPr>
            <a:picLocks noChangeAspect="1"/>
          </p:cNvPicPr>
          <p:nvPr/>
        </p:nvPicPr>
        <p:blipFill>
          <a:blip xmlns:r="http://schemas.openxmlformats.org/officeDocument/2006/relationships" r:embed="rId5"/>
          <a:stretch>
            <a:fillRect/>
          </a:stretch>
        </p:blipFill>
        <p:spPr>
          <a:xfrm>
            <a:off x="4023360" y="5166360"/>
            <a:ext cx="310896" cy="310896"/>
          </a:xfrm>
          <a:prstGeom prst="rect"/>
        </p:spPr>
      </p:pic>
      <p:sp>
        <p:nvSpPr>
          <p:cNvPr id="1048703" name="Text 33"/>
          <p:cNvSpPr/>
          <p:nvPr/>
        </p:nvSpPr>
        <p:spPr>
          <a:xfrm>
            <a:off x="4480560" y="5020056"/>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Priority Queue Engine</a:t>
            </a:r>
            <a:endParaRPr dirty="0" sz="1500" lang="en-US"/>
          </a:p>
        </p:txBody>
      </p:sp>
      <p:sp>
        <p:nvSpPr>
          <p:cNvPr id="1048704" name="Text 34"/>
          <p:cNvSpPr/>
          <p:nvPr/>
        </p:nvSpPr>
        <p:spPr>
          <a:xfrm>
            <a:off x="4480560" y="5349240"/>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Java PriorityQueue orders patients by urgency, then arrival time.</a:t>
            </a:r>
            <a:endParaRPr dirty="0" sz="1080" lang="en-US"/>
          </a:p>
        </p:txBody>
      </p:sp>
      <p:sp>
        <p:nvSpPr>
          <p:cNvPr id="1048705" name="Text 35"/>
          <p:cNvSpPr/>
          <p:nvPr/>
        </p:nvSpPr>
        <p:spPr>
          <a:xfrm>
            <a:off x="3264408" y="5687568"/>
            <a:ext cx="365760" cy="201168"/>
          </a:xfrm>
          <a:prstGeom prst="rect"/>
          <a:noFill/>
        </p:spPr>
        <p:txBody>
          <a:bodyPr anchor="ctr" bIns="0" lIns="0" rIns="0" rtlCol="0" tIns="0" wrap="square"/>
          <a:p>
            <a:pPr algn="ctr" indent="0" marL="0">
              <a:buNone/>
            </a:pPr>
            <a:r>
              <a:rPr dirty="0" sz="1300" lang="en-US">
                <a:solidFill>
                  <a:srgbClr val="E63946"/>
                </a:solidFill>
                <a:latin typeface="Calibri" pitchFamily="34" charset="0"/>
                <a:ea typeface="Calibri" pitchFamily="34" charset="-122"/>
                <a:cs typeface="Calibri" pitchFamily="34" charset="-120"/>
              </a:rPr>
              <a:t>↓</a:t>
            </a:r>
            <a:endParaRPr dirty="0" sz="1300" lang="en-US"/>
          </a:p>
        </p:txBody>
      </p:sp>
      <p:sp>
        <p:nvSpPr>
          <p:cNvPr id="1048706" name="Text 36"/>
          <p:cNvSpPr/>
          <p:nvPr/>
        </p:nvSpPr>
        <p:spPr>
          <a:xfrm>
            <a:off x="9079992" y="5596128"/>
            <a:ext cx="2468880" cy="274320"/>
          </a:xfrm>
          <a:prstGeom prst="rect"/>
          <a:noFill/>
        </p:spPr>
        <p:txBody>
          <a:bodyPr anchor="ctr" bIns="0" lIns="0" rIns="0" rtlCol="0" tIns="0" wrap="square"/>
          <a:p>
            <a:pPr indent="0" marL="0">
              <a:buNone/>
            </a:pPr>
            <a:r>
              <a:rPr dirty="0" sz="950" i="1" lang="en-US">
                <a:solidFill>
                  <a:srgbClr val="5B6B7C"/>
                </a:solidFill>
                <a:latin typeface="Calibri" pitchFamily="34" charset="0"/>
                <a:ea typeface="Calibri" pitchFamily="34" charset="-122"/>
                <a:cs typeface="Calibri" pitchFamily="34" charset="-120"/>
              </a:rPr>
              <a:t>JPA / Hibernate Write</a:t>
            </a:r>
            <a:endParaRPr dirty="0" sz="950" lang="en-US"/>
          </a:p>
        </p:txBody>
      </p:sp>
      <p:sp>
        <p:nvSpPr>
          <p:cNvPr id="1048707" name="Shape 37"/>
          <p:cNvSpPr/>
          <p:nvPr/>
        </p:nvSpPr>
        <p:spPr>
          <a:xfrm>
            <a:off x="3246120" y="5783580"/>
            <a:ext cx="5669280" cy="786384"/>
          </a:xfrm>
          <a:prstGeom prst="roundRect">
            <a:avLst>
              <a:gd name="adj" fmla="val 10465"/>
            </a:avLst>
          </a:prstGeom>
          <a:solidFill>
            <a:srgbClr val="F7F9FB"/>
          </a:solidFill>
          <a:ln w="17780">
            <a:solidFill>
              <a:srgbClr val="588157"/>
            </a:solidFill>
            <a:prstDash val="solid"/>
          </a:ln>
        </p:spPr>
      </p:sp>
      <p:sp>
        <p:nvSpPr>
          <p:cNvPr id="1048708" name="Shape 38"/>
          <p:cNvSpPr/>
          <p:nvPr/>
        </p:nvSpPr>
        <p:spPr>
          <a:xfrm>
            <a:off x="3410712" y="5948172"/>
            <a:ext cx="457200" cy="457200"/>
          </a:xfrm>
          <a:prstGeom prst="ellipse"/>
          <a:solidFill>
            <a:srgbClr val="588157"/>
          </a:solidFill>
        </p:spPr>
      </p:sp>
      <p:sp>
        <p:nvSpPr>
          <p:cNvPr id="1048709" name="Text 39"/>
          <p:cNvSpPr/>
          <p:nvPr/>
        </p:nvSpPr>
        <p:spPr>
          <a:xfrm>
            <a:off x="3410712" y="594817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6</a:t>
            </a:r>
            <a:endParaRPr dirty="0" sz="1500" lang="en-US"/>
          </a:p>
        </p:txBody>
      </p:sp>
      <p:pic>
        <p:nvPicPr>
          <p:cNvPr id="2097172" name="Image 5" descr="/home/claude/sih/icons/icon_database_navy.png"/>
          <p:cNvPicPr>
            <a:picLocks noChangeAspect="1"/>
          </p:cNvPicPr>
          <p:nvPr/>
        </p:nvPicPr>
        <p:blipFill>
          <a:blip xmlns:r="http://schemas.openxmlformats.org/officeDocument/2006/relationships" r:embed="rId6"/>
          <a:stretch>
            <a:fillRect/>
          </a:stretch>
        </p:blipFill>
        <p:spPr>
          <a:xfrm>
            <a:off x="4023360" y="6021324"/>
            <a:ext cx="310896" cy="310896"/>
          </a:xfrm>
          <a:prstGeom prst="rect"/>
        </p:spPr>
      </p:pic>
      <p:sp>
        <p:nvSpPr>
          <p:cNvPr id="1048710" name="Text 40"/>
          <p:cNvSpPr/>
          <p:nvPr/>
        </p:nvSpPr>
        <p:spPr>
          <a:xfrm>
            <a:off x="4480560" y="5875020"/>
            <a:ext cx="4206240" cy="329184"/>
          </a:xfrm>
          <a:prstGeom prst="rect"/>
          <a:noFill/>
        </p:spPr>
        <p:txBody>
          <a:bodyPr anchor="ctr" bIns="0" lIns="0" rIns="0" rtlCol="0" tIns="0" wrap="square"/>
          <a:p>
            <a:pPr indent="0" marL="0">
              <a:buNone/>
            </a:pPr>
            <a:r>
              <a:rPr b="1" dirty="0" sz="1500" lang="en-US">
                <a:solidFill>
                  <a:srgbClr val="0F3057"/>
                </a:solidFill>
                <a:latin typeface="Cambria" pitchFamily="34" charset="0"/>
                <a:ea typeface="Cambria" pitchFamily="34" charset="-122"/>
                <a:cs typeface="Cambria" pitchFamily="34" charset="-120"/>
              </a:rPr>
              <a:t>MySQL Database</a:t>
            </a:r>
            <a:endParaRPr dirty="0" sz="1500" lang="en-US"/>
          </a:p>
        </p:txBody>
      </p:sp>
      <p:sp>
        <p:nvSpPr>
          <p:cNvPr id="1048711" name="Text 41"/>
          <p:cNvSpPr/>
          <p:nvPr/>
        </p:nvSpPr>
        <p:spPr>
          <a:xfrm>
            <a:off x="4480560" y="6204204"/>
            <a:ext cx="4206240" cy="329184"/>
          </a:xfrm>
          <a:prstGeom prst="rect"/>
          <a:noFill/>
        </p:spPr>
        <p:txBody>
          <a:bodyPr anchor="ctr" bIns="0" lIns="0" rIns="0" rtlCol="0" tIns="0" wrap="square"/>
          <a:p>
            <a:pPr indent="0" marL="0">
              <a:buNone/>
            </a:pPr>
            <a:r>
              <a:rPr dirty="0" sz="1080" lang="en-US">
                <a:solidFill>
                  <a:srgbClr val="5B6B7C"/>
                </a:solidFill>
                <a:latin typeface="Calibri" pitchFamily="34" charset="0"/>
                <a:ea typeface="Calibri" pitchFamily="34" charset="-122"/>
                <a:cs typeface="Calibri" pitchFamily="34" charset="-120"/>
              </a:rPr>
              <a:t>Patient records and queue history are persisted via JPA / Hibernate.</a:t>
            </a:r>
            <a:endParaRPr dirty="0" sz="1080" lang="en-US"/>
          </a:p>
        </p:txBody>
      </p:sp>
      <p:sp>
        <p:nvSpPr>
          <p:cNvPr id="1048712" name="Text 42"/>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713" name="Text 43"/>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30" name=""/>
        <p:cNvGrpSpPr/>
        <p:nvPr/>
      </p:nvGrpSpPr>
      <p:grpSpPr>
        <a:xfrm>
          <a:off x="0" y="0"/>
          <a:ext cx="0" cy="0"/>
          <a:chOff x="0" y="0"/>
          <a:chExt cx="0" cy="0"/>
        </a:xfrm>
      </p:grpSpPr>
      <p:sp>
        <p:nvSpPr>
          <p:cNvPr id="1048717"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THE CENTERPIECE</a:t>
            </a:r>
            <a:endParaRPr dirty="0" sz="1300" lang="en-US"/>
          </a:p>
        </p:txBody>
      </p:sp>
      <p:sp>
        <p:nvSpPr>
          <p:cNvPr id="1048718"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Heart of the System — Java Priority Queue</a:t>
            </a:r>
            <a:endParaRPr dirty="0" sz="3000" lang="en-US"/>
          </a:p>
        </p:txBody>
      </p:sp>
      <p:sp>
        <p:nvSpPr>
          <p:cNvPr id="1048719" name="Shape 2"/>
          <p:cNvSpPr/>
          <p:nvPr/>
        </p:nvSpPr>
        <p:spPr>
          <a:xfrm>
            <a:off x="548640" y="1481328"/>
            <a:ext cx="2057400" cy="658368"/>
          </a:xfrm>
          <a:prstGeom prst="roundRect">
            <a:avLst>
              <a:gd name="adj" fmla="val 9722"/>
            </a:avLst>
          </a:prstGeom>
          <a:solidFill>
            <a:srgbClr val="E63946"/>
          </a:solidFill>
        </p:spPr>
      </p:sp>
      <p:sp>
        <p:nvSpPr>
          <p:cNvPr id="1048720" name="Text 3"/>
          <p:cNvSpPr/>
          <p:nvPr/>
        </p:nvSpPr>
        <p:spPr>
          <a:xfrm>
            <a:off x="548640" y="1481328"/>
            <a:ext cx="2057400" cy="658368"/>
          </a:xfrm>
          <a:prstGeom prst="rect"/>
          <a:noFill/>
        </p:spPr>
        <p:txBody>
          <a:bodyPr anchor="ctr" bIns="0" lIns="0" rIns="0" rtlCol="0" tIns="0" wrap="square"/>
          <a:p>
            <a:pPr algn="ctr" indent="0" marL="0">
              <a:buNone/>
            </a:pPr>
            <a:r>
              <a:rPr b="1" dirty="0" sz="1300" lang="en-US">
                <a:solidFill>
                  <a:srgbClr val="FFFFFF"/>
                </a:solidFill>
                <a:latin typeface="Calibri" pitchFamily="34" charset="0"/>
                <a:ea typeface="Calibri" pitchFamily="34" charset="-122"/>
                <a:cs typeface="Calibri" pitchFamily="34" charset="-120"/>
              </a:rPr>
              <a:t>P1  Critical</a:t>
            </a:r>
            <a:endParaRPr dirty="0" sz="1300" lang="en-US"/>
          </a:p>
        </p:txBody>
      </p:sp>
      <p:sp>
        <p:nvSpPr>
          <p:cNvPr id="1048721" name="Shape 4"/>
          <p:cNvSpPr/>
          <p:nvPr/>
        </p:nvSpPr>
        <p:spPr>
          <a:xfrm>
            <a:off x="2807208" y="1481328"/>
            <a:ext cx="2057400" cy="658368"/>
          </a:xfrm>
          <a:prstGeom prst="roundRect">
            <a:avLst>
              <a:gd name="adj" fmla="val 9722"/>
            </a:avLst>
          </a:prstGeom>
          <a:solidFill>
            <a:srgbClr val="F4A261"/>
          </a:solidFill>
        </p:spPr>
      </p:sp>
      <p:sp>
        <p:nvSpPr>
          <p:cNvPr id="1048722" name="Text 5"/>
          <p:cNvSpPr/>
          <p:nvPr/>
        </p:nvSpPr>
        <p:spPr>
          <a:xfrm>
            <a:off x="2807208" y="1481328"/>
            <a:ext cx="2057400" cy="658368"/>
          </a:xfrm>
          <a:prstGeom prst="rect"/>
          <a:noFill/>
        </p:spPr>
        <p:txBody>
          <a:bodyPr anchor="ctr" bIns="0" lIns="0" rIns="0" rtlCol="0" tIns="0" wrap="square"/>
          <a:p>
            <a:pPr algn="ctr" indent="0" marL="0">
              <a:buNone/>
            </a:pPr>
            <a:r>
              <a:rPr b="1" dirty="0" sz="1300" lang="en-US">
                <a:solidFill>
                  <a:srgbClr val="FFFFFF"/>
                </a:solidFill>
                <a:latin typeface="Calibri" pitchFamily="34" charset="0"/>
                <a:ea typeface="Calibri" pitchFamily="34" charset="-122"/>
                <a:cs typeface="Calibri" pitchFamily="34" charset="-120"/>
              </a:rPr>
              <a:t>P2  Serious</a:t>
            </a:r>
            <a:endParaRPr dirty="0" sz="1300" lang="en-US"/>
          </a:p>
        </p:txBody>
      </p:sp>
      <p:sp>
        <p:nvSpPr>
          <p:cNvPr id="1048723" name="Shape 6"/>
          <p:cNvSpPr/>
          <p:nvPr/>
        </p:nvSpPr>
        <p:spPr>
          <a:xfrm>
            <a:off x="5065776" y="1481328"/>
            <a:ext cx="2057400" cy="658368"/>
          </a:xfrm>
          <a:prstGeom prst="roundRect">
            <a:avLst>
              <a:gd name="adj" fmla="val 9722"/>
            </a:avLst>
          </a:prstGeom>
          <a:solidFill>
            <a:srgbClr val="E9C46A"/>
          </a:solidFill>
        </p:spPr>
      </p:sp>
      <p:sp>
        <p:nvSpPr>
          <p:cNvPr id="1048724" name="Text 7"/>
          <p:cNvSpPr/>
          <p:nvPr/>
        </p:nvSpPr>
        <p:spPr>
          <a:xfrm>
            <a:off x="5065776" y="1481328"/>
            <a:ext cx="2057400" cy="658368"/>
          </a:xfrm>
          <a:prstGeom prst="rect"/>
          <a:noFill/>
        </p:spPr>
        <p:txBody>
          <a:bodyPr anchor="ctr" bIns="0" lIns="0" rIns="0" rtlCol="0" tIns="0" wrap="square"/>
          <a:p>
            <a:pPr algn="ctr" indent="0" marL="0">
              <a:buNone/>
            </a:pPr>
            <a:r>
              <a:rPr b="1" dirty="0" sz="1300" lang="en-US">
                <a:solidFill>
                  <a:srgbClr val="FFFFFF"/>
                </a:solidFill>
                <a:latin typeface="Calibri" pitchFamily="34" charset="0"/>
                <a:ea typeface="Calibri" pitchFamily="34" charset="-122"/>
                <a:cs typeface="Calibri" pitchFamily="34" charset="-120"/>
              </a:rPr>
              <a:t>P3  Moderate</a:t>
            </a:r>
            <a:endParaRPr dirty="0" sz="1300" lang="en-US"/>
          </a:p>
        </p:txBody>
      </p:sp>
      <p:sp>
        <p:nvSpPr>
          <p:cNvPr id="1048725" name="Shape 8"/>
          <p:cNvSpPr/>
          <p:nvPr/>
        </p:nvSpPr>
        <p:spPr>
          <a:xfrm>
            <a:off x="7324344" y="1481328"/>
            <a:ext cx="2057400" cy="658368"/>
          </a:xfrm>
          <a:prstGeom prst="roundRect">
            <a:avLst>
              <a:gd name="adj" fmla="val 9722"/>
            </a:avLst>
          </a:prstGeom>
          <a:solidFill>
            <a:srgbClr val="6A9955"/>
          </a:solidFill>
        </p:spPr>
      </p:sp>
      <p:sp>
        <p:nvSpPr>
          <p:cNvPr id="1048726" name="Text 9"/>
          <p:cNvSpPr/>
          <p:nvPr/>
        </p:nvSpPr>
        <p:spPr>
          <a:xfrm>
            <a:off x="7324344" y="1481328"/>
            <a:ext cx="2057400" cy="658368"/>
          </a:xfrm>
          <a:prstGeom prst="rect"/>
          <a:noFill/>
        </p:spPr>
        <p:txBody>
          <a:bodyPr anchor="ctr" bIns="0" lIns="0" rIns="0" rtlCol="0" tIns="0" wrap="square"/>
          <a:p>
            <a:pPr algn="ctr" indent="0" marL="0">
              <a:buNone/>
            </a:pPr>
            <a:r>
              <a:rPr b="1" dirty="0" sz="1300" lang="en-US">
                <a:solidFill>
                  <a:srgbClr val="FFFFFF"/>
                </a:solidFill>
                <a:latin typeface="Calibri" pitchFamily="34" charset="0"/>
                <a:ea typeface="Calibri" pitchFamily="34" charset="-122"/>
                <a:cs typeface="Calibri" pitchFamily="34" charset="-120"/>
              </a:rPr>
              <a:t>P4  Minor</a:t>
            </a:r>
            <a:endParaRPr dirty="0" sz="1300" lang="en-US"/>
          </a:p>
        </p:txBody>
      </p:sp>
      <p:sp>
        <p:nvSpPr>
          <p:cNvPr id="1048727" name="Shape 10"/>
          <p:cNvSpPr/>
          <p:nvPr/>
        </p:nvSpPr>
        <p:spPr>
          <a:xfrm>
            <a:off x="9582912" y="1481328"/>
            <a:ext cx="2057400" cy="658368"/>
          </a:xfrm>
          <a:prstGeom prst="roundRect">
            <a:avLst>
              <a:gd name="adj" fmla="val 9722"/>
            </a:avLst>
          </a:prstGeom>
          <a:solidFill>
            <a:srgbClr val="9CA3AF"/>
          </a:solidFill>
        </p:spPr>
      </p:sp>
      <p:sp>
        <p:nvSpPr>
          <p:cNvPr id="1048728" name="Text 11"/>
          <p:cNvSpPr/>
          <p:nvPr/>
        </p:nvSpPr>
        <p:spPr>
          <a:xfrm>
            <a:off x="9582912" y="1481328"/>
            <a:ext cx="2057400" cy="658368"/>
          </a:xfrm>
          <a:prstGeom prst="rect"/>
          <a:noFill/>
        </p:spPr>
        <p:txBody>
          <a:bodyPr anchor="ctr" bIns="0" lIns="0" rIns="0" rtlCol="0" tIns="0" wrap="square"/>
          <a:p>
            <a:pPr algn="ctr" indent="0" marL="0">
              <a:buNone/>
            </a:pPr>
            <a:r>
              <a:rPr b="1" dirty="0" sz="1300" lang="en-US">
                <a:solidFill>
                  <a:srgbClr val="FFFFFF"/>
                </a:solidFill>
                <a:latin typeface="Calibri" pitchFamily="34" charset="0"/>
                <a:ea typeface="Calibri" pitchFamily="34" charset="-122"/>
                <a:cs typeface="Calibri" pitchFamily="34" charset="-120"/>
              </a:rPr>
              <a:t>P5  Normal</a:t>
            </a:r>
            <a:endParaRPr dirty="0" sz="1300" lang="en-US"/>
          </a:p>
        </p:txBody>
      </p:sp>
      <p:sp>
        <p:nvSpPr>
          <p:cNvPr id="1048729" name="Shape 12"/>
          <p:cNvSpPr/>
          <p:nvPr/>
        </p:nvSpPr>
        <p:spPr>
          <a:xfrm>
            <a:off x="548640" y="2350008"/>
            <a:ext cx="3246120" cy="3886200"/>
          </a:xfrm>
          <a:prstGeom prst="roundRect">
            <a:avLst>
              <a:gd name="adj" fmla="val 2817"/>
            </a:avLst>
          </a:prstGeom>
          <a:solidFill>
            <a:srgbClr val="0F3057"/>
          </a:solidFill>
          <a:effectLst>
            <a:outerShdw algn="bl" blurRad="101600" dir="2700000" dist="38100" kx="0" ky="0" rotWithShape="0" sx="100000" sy="100000">
              <a:srgbClr val="0F3057">
                <a:alpha val="12000"/>
              </a:srgbClr>
            </a:outerShdw>
          </a:effectLst>
        </p:spPr>
      </p:sp>
      <p:sp>
        <p:nvSpPr>
          <p:cNvPr id="1048730" name="Text 13"/>
          <p:cNvSpPr/>
          <p:nvPr/>
        </p:nvSpPr>
        <p:spPr>
          <a:xfrm>
            <a:off x="822960" y="2606040"/>
            <a:ext cx="2697480" cy="274320"/>
          </a:xfrm>
          <a:prstGeom prst="rect"/>
          <a:noFill/>
        </p:spPr>
        <p:txBody>
          <a:bodyPr anchor="ctr" bIns="0" lIns="0" rIns="0" rtlCol="0" tIns="0" wrap="square"/>
          <a:p>
            <a:pPr indent="0" marL="0">
              <a:buNone/>
            </a:pPr>
            <a:r>
              <a:rPr b="1" dirty="0" sz="1150" kern="0" lang="en-US" spc="150">
                <a:solidFill>
                  <a:srgbClr val="8FB8CC"/>
                </a:solidFill>
                <a:latin typeface="Calibri" pitchFamily="34" charset="0"/>
                <a:ea typeface="Calibri" pitchFamily="34" charset="-122"/>
                <a:cs typeface="Calibri" pitchFamily="34" charset="-120"/>
              </a:rPr>
              <a:t>SORTING LOGIC</a:t>
            </a:r>
            <a:endParaRPr dirty="0" sz="1150" lang="en-US"/>
          </a:p>
        </p:txBody>
      </p:sp>
      <p:sp>
        <p:nvSpPr>
          <p:cNvPr id="1048731" name="Shape 14"/>
          <p:cNvSpPr/>
          <p:nvPr/>
        </p:nvSpPr>
        <p:spPr>
          <a:xfrm>
            <a:off x="822960" y="3063240"/>
            <a:ext cx="420624" cy="420624"/>
          </a:xfrm>
          <a:prstGeom prst="ellipse"/>
          <a:solidFill>
            <a:srgbClr val="E63946"/>
          </a:solidFill>
        </p:spPr>
      </p:sp>
      <p:sp>
        <p:nvSpPr>
          <p:cNvPr id="1048732" name="Text 15"/>
          <p:cNvSpPr/>
          <p:nvPr/>
        </p:nvSpPr>
        <p:spPr>
          <a:xfrm>
            <a:off x="822960" y="3063240"/>
            <a:ext cx="420624" cy="420624"/>
          </a:xfrm>
          <a:prstGeom prst="rect"/>
          <a:noFill/>
        </p:spPr>
        <p:txBody>
          <a:bodyPr anchor="ctr" bIns="0" lIns="0" rIns="0" rtlCol="0" tIns="0" wrap="square"/>
          <a:p>
            <a:pPr algn="ctr" indent="0" marL="0">
              <a:buNone/>
            </a:pPr>
            <a:r>
              <a:rPr b="1" dirty="0" sz="1700" lang="en-US">
                <a:solidFill>
                  <a:srgbClr val="FFFFFF"/>
                </a:solidFill>
                <a:latin typeface="Cambria" pitchFamily="34" charset="0"/>
                <a:ea typeface="Cambria" pitchFamily="34" charset="-122"/>
                <a:cs typeface="Cambria" pitchFamily="34" charset="-120"/>
              </a:rPr>
              <a:t>1</a:t>
            </a:r>
            <a:endParaRPr dirty="0" sz="1700" lang="en-US"/>
          </a:p>
        </p:txBody>
      </p:sp>
      <p:sp>
        <p:nvSpPr>
          <p:cNvPr id="1048733" name="Text 16"/>
          <p:cNvSpPr/>
          <p:nvPr/>
        </p:nvSpPr>
        <p:spPr>
          <a:xfrm>
            <a:off x="1371600" y="3026664"/>
            <a:ext cx="2148840" cy="320040"/>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Priority Level</a:t>
            </a:r>
            <a:endParaRPr dirty="0" sz="1450" lang="en-US"/>
          </a:p>
        </p:txBody>
      </p:sp>
      <p:sp>
        <p:nvSpPr>
          <p:cNvPr id="1048734" name="Text 17"/>
          <p:cNvSpPr/>
          <p:nvPr/>
        </p:nvSpPr>
        <p:spPr>
          <a:xfrm>
            <a:off x="1371600" y="3355848"/>
            <a:ext cx="2148840" cy="685800"/>
          </a:xfrm>
          <a:prstGeom prst="rect"/>
          <a:noFill/>
        </p:spPr>
        <p:txBody>
          <a:bodyPr anchor="ctr" bIns="0" lIns="0" rIns="0" rtlCol="0" tIns="0" wrap="square"/>
          <a:p>
            <a:pPr indent="0" marL="0">
              <a:lnSpc>
                <a:spcPct val="120000"/>
              </a:lnSpc>
              <a:buNone/>
            </a:pPr>
            <a:r>
              <a:rPr dirty="0" sz="1150" lang="en-US">
                <a:solidFill>
                  <a:srgbClr val="C7D9E3"/>
                </a:solidFill>
                <a:latin typeface="Calibri" pitchFamily="34" charset="0"/>
                <a:ea typeface="Calibri" pitchFamily="34" charset="-122"/>
                <a:cs typeface="Calibri" pitchFamily="34" charset="-120"/>
              </a:rPr>
              <a:t>Lower number = higher urgency. Compared first, always.</a:t>
            </a:r>
            <a:endParaRPr dirty="0" sz="1150" lang="en-US"/>
          </a:p>
        </p:txBody>
      </p:sp>
      <p:sp>
        <p:nvSpPr>
          <p:cNvPr id="1048735" name="Shape 18"/>
          <p:cNvSpPr/>
          <p:nvPr/>
        </p:nvSpPr>
        <p:spPr>
          <a:xfrm>
            <a:off x="822960" y="4114800"/>
            <a:ext cx="420624" cy="420624"/>
          </a:xfrm>
          <a:prstGeom prst="ellipse"/>
          <a:solidFill>
            <a:srgbClr val="E63946"/>
          </a:solidFill>
        </p:spPr>
      </p:sp>
      <p:sp>
        <p:nvSpPr>
          <p:cNvPr id="1048736" name="Text 19"/>
          <p:cNvSpPr/>
          <p:nvPr/>
        </p:nvSpPr>
        <p:spPr>
          <a:xfrm>
            <a:off x="822960" y="4114800"/>
            <a:ext cx="420624" cy="420624"/>
          </a:xfrm>
          <a:prstGeom prst="rect"/>
          <a:noFill/>
        </p:spPr>
        <p:txBody>
          <a:bodyPr anchor="ctr" bIns="0" lIns="0" rIns="0" rtlCol="0" tIns="0" wrap="square"/>
          <a:p>
            <a:pPr algn="ctr" indent="0" marL="0">
              <a:buNone/>
            </a:pPr>
            <a:r>
              <a:rPr b="1" dirty="0" sz="1700" lang="en-US">
                <a:solidFill>
                  <a:srgbClr val="FFFFFF"/>
                </a:solidFill>
                <a:latin typeface="Cambria" pitchFamily="34" charset="0"/>
                <a:ea typeface="Cambria" pitchFamily="34" charset="-122"/>
                <a:cs typeface="Cambria" pitchFamily="34" charset="-120"/>
              </a:rPr>
              <a:t>2</a:t>
            </a:r>
            <a:endParaRPr dirty="0" sz="1700" lang="en-US"/>
          </a:p>
        </p:txBody>
      </p:sp>
      <p:sp>
        <p:nvSpPr>
          <p:cNvPr id="1048737" name="Text 20"/>
          <p:cNvSpPr/>
          <p:nvPr/>
        </p:nvSpPr>
        <p:spPr>
          <a:xfrm>
            <a:off x="1371600" y="4078224"/>
            <a:ext cx="2148840" cy="320040"/>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Arrival Time (FIFO)</a:t>
            </a:r>
            <a:endParaRPr dirty="0" sz="1450" lang="en-US"/>
          </a:p>
        </p:txBody>
      </p:sp>
      <p:sp>
        <p:nvSpPr>
          <p:cNvPr id="1048738" name="Text 21"/>
          <p:cNvSpPr/>
          <p:nvPr/>
        </p:nvSpPr>
        <p:spPr>
          <a:xfrm>
            <a:off x="1371600" y="4407408"/>
            <a:ext cx="2148840" cy="685800"/>
          </a:xfrm>
          <a:prstGeom prst="rect"/>
          <a:noFill/>
        </p:spPr>
        <p:txBody>
          <a:bodyPr anchor="ctr" bIns="0" lIns="0" rIns="0" rtlCol="0" tIns="0" wrap="square"/>
          <a:p>
            <a:pPr indent="0" marL="0">
              <a:lnSpc>
                <a:spcPct val="120000"/>
              </a:lnSpc>
              <a:buNone/>
            </a:pPr>
            <a:r>
              <a:rPr dirty="0" sz="1150" lang="en-US">
                <a:solidFill>
                  <a:srgbClr val="C7D9E3"/>
                </a:solidFill>
                <a:latin typeface="Calibri" pitchFamily="34" charset="0"/>
                <a:ea typeface="Calibri" pitchFamily="34" charset="-122"/>
                <a:cs typeface="Calibri" pitchFamily="34" charset="-120"/>
              </a:rPr>
              <a:t>If priority ties, the earlier-arrived patient is served first.</a:t>
            </a:r>
            <a:endParaRPr dirty="0" sz="1150" lang="en-US"/>
          </a:p>
        </p:txBody>
      </p:sp>
      <p:sp>
        <p:nvSpPr>
          <p:cNvPr id="1048739" name="Shape 22"/>
          <p:cNvSpPr/>
          <p:nvPr/>
        </p:nvSpPr>
        <p:spPr>
          <a:xfrm>
            <a:off x="822960" y="5212080"/>
            <a:ext cx="2697480" cy="9144"/>
          </a:xfrm>
          <a:prstGeom prst="rect"/>
          <a:solidFill>
            <a:srgbClr val="2B4A6B"/>
          </a:solidFill>
        </p:spPr>
      </p:sp>
      <p:sp>
        <p:nvSpPr>
          <p:cNvPr id="1048740" name="Text 23"/>
          <p:cNvSpPr/>
          <p:nvPr/>
        </p:nvSpPr>
        <p:spPr>
          <a:xfrm>
            <a:off x="822960" y="5349240"/>
            <a:ext cx="2697480" cy="868680"/>
          </a:xfrm>
          <a:prstGeom prst="rect"/>
          <a:noFill/>
        </p:spPr>
        <p:txBody>
          <a:bodyPr anchor="ctr" bIns="0" lIns="0" rIns="0" rtlCol="0" tIns="0" wrap="square"/>
          <a:p>
            <a:pPr indent="0" marL="0">
              <a:lnSpc>
                <a:spcPct val="125000"/>
              </a:lnSpc>
              <a:buNone/>
            </a:pPr>
            <a:r>
              <a:rPr dirty="0" sz="1150" i="1" lang="en-US">
                <a:solidFill>
                  <a:srgbClr val="C7D9E3"/>
                </a:solidFill>
                <a:latin typeface="Calibri" pitchFamily="34" charset="0"/>
                <a:ea typeface="Calibri" pitchFamily="34" charset="-122"/>
                <a:cs typeface="Calibri" pitchFamily="34" charset="-120"/>
              </a:rPr>
              <a:t>Patient class implements Comparable&lt;Patient&gt;, so the queue auto-orders on every insert.</a:t>
            </a:r>
            <a:endParaRPr dirty="0" sz="1150" lang="en-US"/>
          </a:p>
        </p:txBody>
      </p:sp>
      <p:sp>
        <p:nvSpPr>
          <p:cNvPr id="1048741" name="Text 24"/>
          <p:cNvSpPr/>
          <p:nvPr/>
        </p:nvSpPr>
        <p:spPr>
          <a:xfrm>
            <a:off x="4114800" y="2350008"/>
            <a:ext cx="7525512" cy="274320"/>
          </a:xfrm>
          <a:prstGeom prst="rect"/>
          <a:noFill/>
        </p:spPr>
        <p:txBody>
          <a:bodyPr anchor="ctr" bIns="0" lIns="0" rIns="0" rtlCol="0" tIns="0" wrap="square"/>
          <a:p>
            <a:pPr indent="0" marL="0">
              <a:buNone/>
            </a:pPr>
            <a:r>
              <a:rPr b="1" dirty="0" sz="1150" kern="0" lang="en-US" spc="150">
                <a:solidFill>
                  <a:srgbClr val="1C7293"/>
                </a:solidFill>
                <a:latin typeface="Calibri" pitchFamily="34" charset="0"/>
                <a:ea typeface="Calibri" pitchFamily="34" charset="-122"/>
                <a:cs typeface="Calibri" pitchFamily="34" charset="-120"/>
              </a:rPr>
              <a:t>PRIORITYQUEUE WORKFLOW</a:t>
            </a:r>
            <a:endParaRPr dirty="0" sz="1150" lang="en-US"/>
          </a:p>
        </p:txBody>
      </p:sp>
      <p:sp>
        <p:nvSpPr>
          <p:cNvPr id="1048742" name="Shape 25"/>
          <p:cNvSpPr/>
          <p:nvPr/>
        </p:nvSpPr>
        <p:spPr>
          <a:xfrm>
            <a:off x="4114800" y="2734056"/>
            <a:ext cx="3063240" cy="384048"/>
          </a:xfrm>
          <a:prstGeom prst="roundRect">
            <a:avLst>
              <a:gd name="adj" fmla="val 14286"/>
            </a:avLst>
          </a:prstGeom>
          <a:solidFill>
            <a:srgbClr val="5B6B7C"/>
          </a:solidFill>
        </p:spPr>
      </p:sp>
      <p:sp>
        <p:nvSpPr>
          <p:cNvPr id="1048743" name="Text 26"/>
          <p:cNvSpPr/>
          <p:nvPr/>
        </p:nvSpPr>
        <p:spPr>
          <a:xfrm>
            <a:off x="4114800" y="2734056"/>
            <a:ext cx="3063240" cy="384048"/>
          </a:xfrm>
          <a:prstGeom prst="rect"/>
          <a:noFill/>
        </p:spPr>
        <p:txBody>
          <a:bodyPr anchor="ctr" bIns="0" lIns="0" rIns="0" rtlCol="0" tIns="0" wrap="square"/>
          <a:p>
            <a:pPr algn="ctr" indent="0" marL="0">
              <a:buNone/>
            </a:pPr>
            <a:r>
              <a:rPr b="1" dirty="0" sz="1150" lang="en-US">
                <a:solidFill>
                  <a:srgbClr val="FFFFFF"/>
                </a:solidFill>
                <a:latin typeface="Calibri" pitchFamily="34" charset="0"/>
                <a:ea typeface="Calibri" pitchFamily="34" charset="-122"/>
                <a:cs typeface="Calibri" pitchFamily="34" charset="-120"/>
              </a:rPr>
              <a:t>INCOMING (ARRIVAL ORDER)</a:t>
            </a:r>
            <a:endParaRPr dirty="0" sz="1150" lang="en-US"/>
          </a:p>
        </p:txBody>
      </p:sp>
      <p:sp>
        <p:nvSpPr>
          <p:cNvPr id="1048744" name="Shape 27"/>
          <p:cNvSpPr/>
          <p:nvPr/>
        </p:nvSpPr>
        <p:spPr>
          <a:xfrm>
            <a:off x="4114800" y="3209544"/>
            <a:ext cx="3063240" cy="530352"/>
          </a:xfrm>
          <a:prstGeom prst="roundRect">
            <a:avLst>
              <a:gd name="adj" fmla="val 10345"/>
            </a:avLst>
          </a:prstGeom>
          <a:solidFill>
            <a:srgbClr val="F7F9FB"/>
          </a:solidFill>
          <a:ln w="12700">
            <a:solidFill>
              <a:srgbClr val="DCE6EC"/>
            </a:solidFill>
            <a:prstDash val="solid"/>
          </a:ln>
        </p:spPr>
      </p:sp>
      <p:sp>
        <p:nvSpPr>
          <p:cNvPr id="1048745" name="Shape 28"/>
          <p:cNvSpPr/>
          <p:nvPr/>
        </p:nvSpPr>
        <p:spPr>
          <a:xfrm>
            <a:off x="4224528" y="3291840"/>
            <a:ext cx="365760" cy="365760"/>
          </a:xfrm>
          <a:prstGeom prst="ellipse"/>
          <a:solidFill>
            <a:srgbClr val="E9C46A"/>
          </a:solidFill>
        </p:spPr>
      </p:sp>
      <p:sp>
        <p:nvSpPr>
          <p:cNvPr id="1048746" name="Text 29"/>
          <p:cNvSpPr/>
          <p:nvPr/>
        </p:nvSpPr>
        <p:spPr>
          <a:xfrm>
            <a:off x="4224528" y="3291840"/>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P3</a:t>
            </a:r>
            <a:endParaRPr dirty="0" sz="1100" lang="en-US"/>
          </a:p>
        </p:txBody>
      </p:sp>
      <p:sp>
        <p:nvSpPr>
          <p:cNvPr id="1048747" name="Text 30"/>
          <p:cNvSpPr/>
          <p:nvPr/>
        </p:nvSpPr>
        <p:spPr>
          <a:xfrm>
            <a:off x="4681728" y="3246120"/>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John</a:t>
            </a:r>
            <a:endParaRPr dirty="0" sz="1250" lang="en-US"/>
          </a:p>
        </p:txBody>
      </p:sp>
      <p:sp>
        <p:nvSpPr>
          <p:cNvPr id="1048748" name="Text 31"/>
          <p:cNvSpPr/>
          <p:nvPr/>
        </p:nvSpPr>
        <p:spPr>
          <a:xfrm>
            <a:off x="4681728" y="3502152"/>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10:02</a:t>
            </a:r>
            <a:endParaRPr dirty="0" sz="950" lang="en-US"/>
          </a:p>
        </p:txBody>
      </p:sp>
      <p:sp>
        <p:nvSpPr>
          <p:cNvPr id="1048749" name="Shape 32"/>
          <p:cNvSpPr/>
          <p:nvPr/>
        </p:nvSpPr>
        <p:spPr>
          <a:xfrm>
            <a:off x="4114800" y="3813048"/>
            <a:ext cx="3063240" cy="530352"/>
          </a:xfrm>
          <a:prstGeom prst="roundRect">
            <a:avLst>
              <a:gd name="adj" fmla="val 10345"/>
            </a:avLst>
          </a:prstGeom>
          <a:solidFill>
            <a:srgbClr val="F7F9FB"/>
          </a:solidFill>
          <a:ln w="12700">
            <a:solidFill>
              <a:srgbClr val="DCE6EC"/>
            </a:solidFill>
            <a:prstDash val="solid"/>
          </a:ln>
        </p:spPr>
      </p:sp>
      <p:sp>
        <p:nvSpPr>
          <p:cNvPr id="1048750" name="Shape 33"/>
          <p:cNvSpPr/>
          <p:nvPr/>
        </p:nvSpPr>
        <p:spPr>
          <a:xfrm>
            <a:off x="4224528" y="3895344"/>
            <a:ext cx="365760" cy="365760"/>
          </a:xfrm>
          <a:prstGeom prst="ellipse"/>
          <a:solidFill>
            <a:srgbClr val="E63946"/>
          </a:solidFill>
        </p:spPr>
      </p:sp>
      <p:sp>
        <p:nvSpPr>
          <p:cNvPr id="1048751" name="Text 34"/>
          <p:cNvSpPr/>
          <p:nvPr/>
        </p:nvSpPr>
        <p:spPr>
          <a:xfrm>
            <a:off x="4224528" y="3895344"/>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P1</a:t>
            </a:r>
            <a:endParaRPr dirty="0" sz="1100" lang="en-US"/>
          </a:p>
        </p:txBody>
      </p:sp>
      <p:sp>
        <p:nvSpPr>
          <p:cNvPr id="1048752" name="Text 35"/>
          <p:cNvSpPr/>
          <p:nvPr/>
        </p:nvSpPr>
        <p:spPr>
          <a:xfrm>
            <a:off x="4681728" y="3849624"/>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Asha</a:t>
            </a:r>
            <a:endParaRPr dirty="0" sz="1250" lang="en-US"/>
          </a:p>
        </p:txBody>
      </p:sp>
      <p:sp>
        <p:nvSpPr>
          <p:cNvPr id="1048753" name="Text 36"/>
          <p:cNvSpPr/>
          <p:nvPr/>
        </p:nvSpPr>
        <p:spPr>
          <a:xfrm>
            <a:off x="4681728" y="4105656"/>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10:05</a:t>
            </a:r>
            <a:endParaRPr dirty="0" sz="950" lang="en-US"/>
          </a:p>
        </p:txBody>
      </p:sp>
      <p:sp>
        <p:nvSpPr>
          <p:cNvPr id="1048754" name="Shape 37"/>
          <p:cNvSpPr/>
          <p:nvPr/>
        </p:nvSpPr>
        <p:spPr>
          <a:xfrm>
            <a:off x="4114800" y="4416552"/>
            <a:ext cx="3063240" cy="530352"/>
          </a:xfrm>
          <a:prstGeom prst="roundRect">
            <a:avLst>
              <a:gd name="adj" fmla="val 10345"/>
            </a:avLst>
          </a:prstGeom>
          <a:solidFill>
            <a:srgbClr val="F7F9FB"/>
          </a:solidFill>
          <a:ln w="12700">
            <a:solidFill>
              <a:srgbClr val="DCE6EC"/>
            </a:solidFill>
            <a:prstDash val="solid"/>
          </a:ln>
        </p:spPr>
      </p:sp>
      <p:sp>
        <p:nvSpPr>
          <p:cNvPr id="1048755" name="Shape 38"/>
          <p:cNvSpPr/>
          <p:nvPr/>
        </p:nvSpPr>
        <p:spPr>
          <a:xfrm>
            <a:off x="4224528" y="4498848"/>
            <a:ext cx="365760" cy="365760"/>
          </a:xfrm>
          <a:prstGeom prst="ellipse"/>
          <a:solidFill>
            <a:srgbClr val="6A9955"/>
          </a:solidFill>
        </p:spPr>
      </p:sp>
      <p:sp>
        <p:nvSpPr>
          <p:cNvPr id="1048756" name="Text 39"/>
          <p:cNvSpPr/>
          <p:nvPr/>
        </p:nvSpPr>
        <p:spPr>
          <a:xfrm>
            <a:off x="4224528" y="4498848"/>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P4</a:t>
            </a:r>
            <a:endParaRPr dirty="0" sz="1100" lang="en-US"/>
          </a:p>
        </p:txBody>
      </p:sp>
      <p:sp>
        <p:nvSpPr>
          <p:cNvPr id="1048757" name="Text 40"/>
          <p:cNvSpPr/>
          <p:nvPr/>
        </p:nvSpPr>
        <p:spPr>
          <a:xfrm>
            <a:off x="4681728" y="4453128"/>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Wei</a:t>
            </a:r>
            <a:endParaRPr dirty="0" sz="1250" lang="en-US"/>
          </a:p>
        </p:txBody>
      </p:sp>
      <p:sp>
        <p:nvSpPr>
          <p:cNvPr id="1048758" name="Text 41"/>
          <p:cNvSpPr/>
          <p:nvPr/>
        </p:nvSpPr>
        <p:spPr>
          <a:xfrm>
            <a:off x="4681728" y="4709160"/>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10:07</a:t>
            </a:r>
            <a:endParaRPr dirty="0" sz="950" lang="en-US"/>
          </a:p>
        </p:txBody>
      </p:sp>
      <p:sp>
        <p:nvSpPr>
          <p:cNvPr id="1048759" name="Shape 42"/>
          <p:cNvSpPr/>
          <p:nvPr/>
        </p:nvSpPr>
        <p:spPr>
          <a:xfrm>
            <a:off x="4114800" y="5020056"/>
            <a:ext cx="3063240" cy="530352"/>
          </a:xfrm>
          <a:prstGeom prst="roundRect">
            <a:avLst>
              <a:gd name="adj" fmla="val 10345"/>
            </a:avLst>
          </a:prstGeom>
          <a:solidFill>
            <a:srgbClr val="F7F9FB"/>
          </a:solidFill>
          <a:ln w="12700">
            <a:solidFill>
              <a:srgbClr val="DCE6EC"/>
            </a:solidFill>
            <a:prstDash val="solid"/>
          </a:ln>
        </p:spPr>
      </p:sp>
      <p:sp>
        <p:nvSpPr>
          <p:cNvPr id="1048760" name="Shape 43"/>
          <p:cNvSpPr/>
          <p:nvPr/>
        </p:nvSpPr>
        <p:spPr>
          <a:xfrm>
            <a:off x="4224528" y="5102352"/>
            <a:ext cx="365760" cy="365760"/>
          </a:xfrm>
          <a:prstGeom prst="ellipse"/>
          <a:solidFill>
            <a:srgbClr val="F4A261"/>
          </a:solidFill>
        </p:spPr>
      </p:sp>
      <p:sp>
        <p:nvSpPr>
          <p:cNvPr id="1048761" name="Text 44"/>
          <p:cNvSpPr/>
          <p:nvPr/>
        </p:nvSpPr>
        <p:spPr>
          <a:xfrm>
            <a:off x="4224528" y="5102352"/>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P2</a:t>
            </a:r>
            <a:endParaRPr dirty="0" sz="1100" lang="en-US"/>
          </a:p>
        </p:txBody>
      </p:sp>
      <p:sp>
        <p:nvSpPr>
          <p:cNvPr id="1048762" name="Text 45"/>
          <p:cNvSpPr/>
          <p:nvPr/>
        </p:nvSpPr>
        <p:spPr>
          <a:xfrm>
            <a:off x="4681728" y="5056632"/>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Maria</a:t>
            </a:r>
            <a:endParaRPr dirty="0" sz="1250" lang="en-US"/>
          </a:p>
        </p:txBody>
      </p:sp>
      <p:sp>
        <p:nvSpPr>
          <p:cNvPr id="1048763" name="Text 46"/>
          <p:cNvSpPr/>
          <p:nvPr/>
        </p:nvSpPr>
        <p:spPr>
          <a:xfrm>
            <a:off x="4681728" y="5312664"/>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10:10</a:t>
            </a:r>
            <a:endParaRPr dirty="0" sz="950" lang="en-US"/>
          </a:p>
        </p:txBody>
      </p:sp>
      <p:sp>
        <p:nvSpPr>
          <p:cNvPr id="1048764" name="Shape 47"/>
          <p:cNvSpPr/>
          <p:nvPr/>
        </p:nvSpPr>
        <p:spPr>
          <a:xfrm>
            <a:off x="4114800" y="5623560"/>
            <a:ext cx="3063240" cy="530352"/>
          </a:xfrm>
          <a:prstGeom prst="roundRect">
            <a:avLst>
              <a:gd name="adj" fmla="val 10345"/>
            </a:avLst>
          </a:prstGeom>
          <a:solidFill>
            <a:srgbClr val="F7F9FB"/>
          </a:solidFill>
          <a:ln w="12700">
            <a:solidFill>
              <a:srgbClr val="DCE6EC"/>
            </a:solidFill>
            <a:prstDash val="solid"/>
          </a:ln>
        </p:spPr>
      </p:sp>
      <p:sp>
        <p:nvSpPr>
          <p:cNvPr id="1048765" name="Shape 48"/>
          <p:cNvSpPr/>
          <p:nvPr/>
        </p:nvSpPr>
        <p:spPr>
          <a:xfrm>
            <a:off x="4224528" y="5705856"/>
            <a:ext cx="365760" cy="365760"/>
          </a:xfrm>
          <a:prstGeom prst="ellipse"/>
          <a:solidFill>
            <a:srgbClr val="E63946"/>
          </a:solidFill>
        </p:spPr>
      </p:sp>
      <p:sp>
        <p:nvSpPr>
          <p:cNvPr id="1048766" name="Text 49"/>
          <p:cNvSpPr/>
          <p:nvPr/>
        </p:nvSpPr>
        <p:spPr>
          <a:xfrm>
            <a:off x="4224528" y="5705856"/>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P1</a:t>
            </a:r>
            <a:endParaRPr dirty="0" sz="1100" lang="en-US"/>
          </a:p>
        </p:txBody>
      </p:sp>
      <p:sp>
        <p:nvSpPr>
          <p:cNvPr id="1048767" name="Text 50"/>
          <p:cNvSpPr/>
          <p:nvPr/>
        </p:nvSpPr>
        <p:spPr>
          <a:xfrm>
            <a:off x="4681728" y="5660136"/>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Omar</a:t>
            </a:r>
            <a:endParaRPr dirty="0" sz="1250" lang="en-US"/>
          </a:p>
        </p:txBody>
      </p:sp>
      <p:sp>
        <p:nvSpPr>
          <p:cNvPr id="1048768" name="Text 51"/>
          <p:cNvSpPr/>
          <p:nvPr/>
        </p:nvSpPr>
        <p:spPr>
          <a:xfrm>
            <a:off x="4681728" y="5916168"/>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10:12</a:t>
            </a:r>
            <a:endParaRPr dirty="0" sz="950" lang="en-US"/>
          </a:p>
        </p:txBody>
      </p:sp>
      <p:sp>
        <p:nvSpPr>
          <p:cNvPr id="1048769" name="Shape 52"/>
          <p:cNvSpPr/>
          <p:nvPr/>
        </p:nvSpPr>
        <p:spPr>
          <a:xfrm>
            <a:off x="8257032" y="2734056"/>
            <a:ext cx="3063240" cy="384048"/>
          </a:xfrm>
          <a:prstGeom prst="roundRect">
            <a:avLst>
              <a:gd name="adj" fmla="val 14286"/>
            </a:avLst>
          </a:prstGeom>
          <a:solidFill>
            <a:srgbClr val="1C7293"/>
          </a:solidFill>
        </p:spPr>
      </p:sp>
      <p:sp>
        <p:nvSpPr>
          <p:cNvPr id="1048770" name="Text 53"/>
          <p:cNvSpPr/>
          <p:nvPr/>
        </p:nvSpPr>
        <p:spPr>
          <a:xfrm>
            <a:off x="8257032" y="2734056"/>
            <a:ext cx="3063240" cy="384048"/>
          </a:xfrm>
          <a:prstGeom prst="rect"/>
          <a:noFill/>
        </p:spPr>
        <p:txBody>
          <a:bodyPr anchor="ctr" bIns="0" lIns="0" rIns="0" rtlCol="0" tIns="0" wrap="square"/>
          <a:p>
            <a:pPr algn="ctr" indent="0" marL="0">
              <a:buNone/>
            </a:pPr>
            <a:r>
              <a:rPr b="1" dirty="0" sz="1150" lang="en-US">
                <a:solidFill>
                  <a:srgbClr val="FFFFFF"/>
                </a:solidFill>
                <a:latin typeface="Calibri" pitchFamily="34" charset="0"/>
                <a:ea typeface="Calibri" pitchFamily="34" charset="-122"/>
                <a:cs typeface="Calibri" pitchFamily="34" charset="-120"/>
              </a:rPr>
              <a:t>PRIORITY QUEUE (AUTO-SORTED)</a:t>
            </a:r>
            <a:endParaRPr dirty="0" sz="1150" lang="en-US"/>
          </a:p>
        </p:txBody>
      </p:sp>
      <p:sp>
        <p:nvSpPr>
          <p:cNvPr id="1048771" name="Shape 54"/>
          <p:cNvSpPr/>
          <p:nvPr/>
        </p:nvSpPr>
        <p:spPr>
          <a:xfrm>
            <a:off x="8257032" y="3209544"/>
            <a:ext cx="3063240" cy="530352"/>
          </a:xfrm>
          <a:prstGeom prst="roundRect">
            <a:avLst>
              <a:gd name="adj" fmla="val 10345"/>
            </a:avLst>
          </a:prstGeom>
          <a:solidFill>
            <a:srgbClr val="E3EEF2"/>
          </a:solidFill>
          <a:ln w="22225">
            <a:solidFill>
              <a:srgbClr val="1C7293"/>
            </a:solidFill>
            <a:prstDash val="solid"/>
          </a:ln>
        </p:spPr>
      </p:sp>
      <p:sp>
        <p:nvSpPr>
          <p:cNvPr id="1048772" name="Shape 55"/>
          <p:cNvSpPr/>
          <p:nvPr/>
        </p:nvSpPr>
        <p:spPr>
          <a:xfrm>
            <a:off x="8366760" y="3291840"/>
            <a:ext cx="365760" cy="365760"/>
          </a:xfrm>
          <a:prstGeom prst="ellipse"/>
          <a:solidFill>
            <a:srgbClr val="E63946"/>
          </a:solidFill>
        </p:spPr>
      </p:sp>
      <p:sp>
        <p:nvSpPr>
          <p:cNvPr id="1048773" name="Text 56"/>
          <p:cNvSpPr/>
          <p:nvPr/>
        </p:nvSpPr>
        <p:spPr>
          <a:xfrm>
            <a:off x="8366760" y="3291840"/>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P1</a:t>
            </a:r>
            <a:endParaRPr dirty="0" sz="1100" lang="en-US"/>
          </a:p>
        </p:txBody>
      </p:sp>
      <p:sp>
        <p:nvSpPr>
          <p:cNvPr id="1048774" name="Text 57"/>
          <p:cNvSpPr/>
          <p:nvPr/>
        </p:nvSpPr>
        <p:spPr>
          <a:xfrm>
            <a:off x="8823960" y="3246120"/>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Asha</a:t>
            </a:r>
            <a:endParaRPr dirty="0" sz="1250" lang="en-US"/>
          </a:p>
        </p:txBody>
      </p:sp>
      <p:sp>
        <p:nvSpPr>
          <p:cNvPr id="1048775" name="Text 58"/>
          <p:cNvSpPr/>
          <p:nvPr/>
        </p:nvSpPr>
        <p:spPr>
          <a:xfrm>
            <a:off x="8823960" y="3502152"/>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10:05</a:t>
            </a:r>
            <a:endParaRPr dirty="0" sz="950" lang="en-US"/>
          </a:p>
        </p:txBody>
      </p:sp>
      <p:sp>
        <p:nvSpPr>
          <p:cNvPr id="1048776" name="Text 59"/>
          <p:cNvSpPr/>
          <p:nvPr/>
        </p:nvSpPr>
        <p:spPr>
          <a:xfrm>
            <a:off x="10543032" y="3346704"/>
            <a:ext cx="685800" cy="256032"/>
          </a:xfrm>
          <a:prstGeom prst="rect"/>
          <a:noFill/>
        </p:spPr>
        <p:txBody>
          <a:bodyPr anchor="ctr" bIns="0" lIns="0" rIns="0" rtlCol="0" tIns="0" wrap="square"/>
          <a:p>
            <a:pPr algn="r" indent="0" marL="0">
              <a:buNone/>
            </a:pPr>
            <a:r>
              <a:rPr b="1" dirty="0" sz="950" lang="en-US">
                <a:solidFill>
                  <a:srgbClr val="1C7293"/>
                </a:solidFill>
                <a:latin typeface="Calibri" pitchFamily="34" charset="0"/>
                <a:ea typeface="Calibri" pitchFamily="34" charset="-122"/>
                <a:cs typeface="Calibri" pitchFamily="34" charset="-120"/>
              </a:rPr>
              <a:t>NEXT</a:t>
            </a:r>
            <a:endParaRPr dirty="0" sz="950" lang="en-US"/>
          </a:p>
        </p:txBody>
      </p:sp>
      <p:sp>
        <p:nvSpPr>
          <p:cNvPr id="1048777" name="Shape 60"/>
          <p:cNvSpPr/>
          <p:nvPr/>
        </p:nvSpPr>
        <p:spPr>
          <a:xfrm>
            <a:off x="8257032" y="3813048"/>
            <a:ext cx="3063240" cy="530352"/>
          </a:xfrm>
          <a:prstGeom prst="roundRect">
            <a:avLst>
              <a:gd name="adj" fmla="val 10345"/>
            </a:avLst>
          </a:prstGeom>
          <a:solidFill>
            <a:srgbClr val="F7F9FB"/>
          </a:solidFill>
          <a:ln w="12700">
            <a:solidFill>
              <a:srgbClr val="DCE6EC"/>
            </a:solidFill>
            <a:prstDash val="solid"/>
          </a:ln>
        </p:spPr>
      </p:sp>
      <p:sp>
        <p:nvSpPr>
          <p:cNvPr id="1048778" name="Shape 61"/>
          <p:cNvSpPr/>
          <p:nvPr/>
        </p:nvSpPr>
        <p:spPr>
          <a:xfrm>
            <a:off x="8366760" y="3895344"/>
            <a:ext cx="365760" cy="365760"/>
          </a:xfrm>
          <a:prstGeom prst="ellipse"/>
          <a:solidFill>
            <a:srgbClr val="E63946"/>
          </a:solidFill>
        </p:spPr>
      </p:sp>
      <p:sp>
        <p:nvSpPr>
          <p:cNvPr id="1048779" name="Text 62"/>
          <p:cNvSpPr/>
          <p:nvPr/>
        </p:nvSpPr>
        <p:spPr>
          <a:xfrm>
            <a:off x="8366760" y="3895344"/>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P1</a:t>
            </a:r>
            <a:endParaRPr dirty="0" sz="1100" lang="en-US"/>
          </a:p>
        </p:txBody>
      </p:sp>
      <p:sp>
        <p:nvSpPr>
          <p:cNvPr id="1048780" name="Text 63"/>
          <p:cNvSpPr/>
          <p:nvPr/>
        </p:nvSpPr>
        <p:spPr>
          <a:xfrm>
            <a:off x="8823960" y="3849624"/>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Omar</a:t>
            </a:r>
            <a:endParaRPr dirty="0" sz="1250" lang="en-US"/>
          </a:p>
        </p:txBody>
      </p:sp>
      <p:sp>
        <p:nvSpPr>
          <p:cNvPr id="1048781" name="Text 64"/>
          <p:cNvSpPr/>
          <p:nvPr/>
        </p:nvSpPr>
        <p:spPr>
          <a:xfrm>
            <a:off x="8823960" y="4105656"/>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10:12</a:t>
            </a:r>
            <a:endParaRPr dirty="0" sz="950" lang="en-US"/>
          </a:p>
        </p:txBody>
      </p:sp>
      <p:sp>
        <p:nvSpPr>
          <p:cNvPr id="1048782" name="Shape 65"/>
          <p:cNvSpPr/>
          <p:nvPr/>
        </p:nvSpPr>
        <p:spPr>
          <a:xfrm>
            <a:off x="8257032" y="4416552"/>
            <a:ext cx="3063240" cy="530352"/>
          </a:xfrm>
          <a:prstGeom prst="roundRect">
            <a:avLst>
              <a:gd name="adj" fmla="val 10345"/>
            </a:avLst>
          </a:prstGeom>
          <a:solidFill>
            <a:srgbClr val="F7F9FB"/>
          </a:solidFill>
          <a:ln w="12700">
            <a:solidFill>
              <a:srgbClr val="DCE6EC"/>
            </a:solidFill>
            <a:prstDash val="solid"/>
          </a:ln>
        </p:spPr>
      </p:sp>
      <p:sp>
        <p:nvSpPr>
          <p:cNvPr id="1048783" name="Shape 66"/>
          <p:cNvSpPr/>
          <p:nvPr/>
        </p:nvSpPr>
        <p:spPr>
          <a:xfrm>
            <a:off x="8366760" y="4498848"/>
            <a:ext cx="365760" cy="365760"/>
          </a:xfrm>
          <a:prstGeom prst="ellipse"/>
          <a:solidFill>
            <a:srgbClr val="F4A261"/>
          </a:solidFill>
        </p:spPr>
      </p:sp>
      <p:sp>
        <p:nvSpPr>
          <p:cNvPr id="1048784" name="Text 67"/>
          <p:cNvSpPr/>
          <p:nvPr/>
        </p:nvSpPr>
        <p:spPr>
          <a:xfrm>
            <a:off x="8366760" y="4498848"/>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P2</a:t>
            </a:r>
            <a:endParaRPr dirty="0" sz="1100" lang="en-US"/>
          </a:p>
        </p:txBody>
      </p:sp>
      <p:sp>
        <p:nvSpPr>
          <p:cNvPr id="1048785" name="Text 68"/>
          <p:cNvSpPr/>
          <p:nvPr/>
        </p:nvSpPr>
        <p:spPr>
          <a:xfrm>
            <a:off x="8823960" y="4453128"/>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Maria</a:t>
            </a:r>
            <a:endParaRPr dirty="0" sz="1250" lang="en-US"/>
          </a:p>
        </p:txBody>
      </p:sp>
      <p:sp>
        <p:nvSpPr>
          <p:cNvPr id="1048786" name="Text 69"/>
          <p:cNvSpPr/>
          <p:nvPr/>
        </p:nvSpPr>
        <p:spPr>
          <a:xfrm>
            <a:off x="8823960" y="4709160"/>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10:10</a:t>
            </a:r>
            <a:endParaRPr dirty="0" sz="950" lang="en-US"/>
          </a:p>
        </p:txBody>
      </p:sp>
      <p:sp>
        <p:nvSpPr>
          <p:cNvPr id="1048787" name="Shape 70"/>
          <p:cNvSpPr/>
          <p:nvPr/>
        </p:nvSpPr>
        <p:spPr>
          <a:xfrm>
            <a:off x="8257032" y="5020056"/>
            <a:ext cx="3063240" cy="530352"/>
          </a:xfrm>
          <a:prstGeom prst="roundRect">
            <a:avLst>
              <a:gd name="adj" fmla="val 10345"/>
            </a:avLst>
          </a:prstGeom>
          <a:solidFill>
            <a:srgbClr val="F7F9FB"/>
          </a:solidFill>
          <a:ln w="12700">
            <a:solidFill>
              <a:srgbClr val="DCE6EC"/>
            </a:solidFill>
            <a:prstDash val="solid"/>
          </a:ln>
        </p:spPr>
      </p:sp>
      <p:sp>
        <p:nvSpPr>
          <p:cNvPr id="1048788" name="Shape 71"/>
          <p:cNvSpPr/>
          <p:nvPr/>
        </p:nvSpPr>
        <p:spPr>
          <a:xfrm>
            <a:off x="8366760" y="5102352"/>
            <a:ext cx="365760" cy="365760"/>
          </a:xfrm>
          <a:prstGeom prst="ellipse"/>
          <a:solidFill>
            <a:srgbClr val="E9C46A"/>
          </a:solidFill>
        </p:spPr>
      </p:sp>
      <p:sp>
        <p:nvSpPr>
          <p:cNvPr id="1048789" name="Text 72"/>
          <p:cNvSpPr/>
          <p:nvPr/>
        </p:nvSpPr>
        <p:spPr>
          <a:xfrm>
            <a:off x="8366760" y="5102352"/>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P3</a:t>
            </a:r>
            <a:endParaRPr dirty="0" sz="1100" lang="en-US"/>
          </a:p>
        </p:txBody>
      </p:sp>
      <p:sp>
        <p:nvSpPr>
          <p:cNvPr id="1048790" name="Text 73"/>
          <p:cNvSpPr/>
          <p:nvPr/>
        </p:nvSpPr>
        <p:spPr>
          <a:xfrm>
            <a:off x="8823960" y="5056632"/>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John</a:t>
            </a:r>
            <a:endParaRPr dirty="0" sz="1250" lang="en-US"/>
          </a:p>
        </p:txBody>
      </p:sp>
      <p:sp>
        <p:nvSpPr>
          <p:cNvPr id="1048791" name="Text 74"/>
          <p:cNvSpPr/>
          <p:nvPr/>
        </p:nvSpPr>
        <p:spPr>
          <a:xfrm>
            <a:off x="8823960" y="5312664"/>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10:02</a:t>
            </a:r>
            <a:endParaRPr dirty="0" sz="950" lang="en-US"/>
          </a:p>
        </p:txBody>
      </p:sp>
      <p:sp>
        <p:nvSpPr>
          <p:cNvPr id="1048792" name="Shape 75"/>
          <p:cNvSpPr/>
          <p:nvPr/>
        </p:nvSpPr>
        <p:spPr>
          <a:xfrm>
            <a:off x="8257032" y="5623560"/>
            <a:ext cx="3063240" cy="530352"/>
          </a:xfrm>
          <a:prstGeom prst="roundRect">
            <a:avLst>
              <a:gd name="adj" fmla="val 10345"/>
            </a:avLst>
          </a:prstGeom>
          <a:solidFill>
            <a:srgbClr val="F7F9FB"/>
          </a:solidFill>
          <a:ln w="12700">
            <a:solidFill>
              <a:srgbClr val="DCE6EC"/>
            </a:solidFill>
            <a:prstDash val="solid"/>
          </a:ln>
        </p:spPr>
      </p:sp>
      <p:sp>
        <p:nvSpPr>
          <p:cNvPr id="1048793" name="Shape 76"/>
          <p:cNvSpPr/>
          <p:nvPr/>
        </p:nvSpPr>
        <p:spPr>
          <a:xfrm>
            <a:off x="8366760" y="5705856"/>
            <a:ext cx="365760" cy="365760"/>
          </a:xfrm>
          <a:prstGeom prst="ellipse"/>
          <a:solidFill>
            <a:srgbClr val="6A9955"/>
          </a:solidFill>
        </p:spPr>
      </p:sp>
      <p:sp>
        <p:nvSpPr>
          <p:cNvPr id="1048794" name="Text 77"/>
          <p:cNvSpPr/>
          <p:nvPr/>
        </p:nvSpPr>
        <p:spPr>
          <a:xfrm>
            <a:off x="8366760" y="5705856"/>
            <a:ext cx="365760" cy="365760"/>
          </a:xfrm>
          <a:prstGeom prst="rect"/>
          <a:noFill/>
        </p:spPr>
        <p:txBody>
          <a:bodyPr anchor="ctr" bIns="0" lIns="0" rIns="0" rtlCol="0" tIns="0" wrap="square"/>
          <a:p>
            <a:pPr algn="ctr" indent="0" marL="0">
              <a:buNone/>
            </a:pPr>
            <a:r>
              <a:rPr b="1" dirty="0" sz="1100" lang="en-US">
                <a:solidFill>
                  <a:srgbClr val="FFFFFF"/>
                </a:solidFill>
                <a:latin typeface="Calibri" pitchFamily="34" charset="0"/>
                <a:ea typeface="Calibri" pitchFamily="34" charset="-122"/>
                <a:cs typeface="Calibri" pitchFamily="34" charset="-120"/>
              </a:rPr>
              <a:t>P4</a:t>
            </a:r>
            <a:endParaRPr dirty="0" sz="1100" lang="en-US"/>
          </a:p>
        </p:txBody>
      </p:sp>
      <p:sp>
        <p:nvSpPr>
          <p:cNvPr id="1048795" name="Text 78"/>
          <p:cNvSpPr/>
          <p:nvPr/>
        </p:nvSpPr>
        <p:spPr>
          <a:xfrm>
            <a:off x="8823960" y="5660136"/>
            <a:ext cx="1691640" cy="274320"/>
          </a:xfrm>
          <a:prstGeom prst="rect"/>
          <a:noFill/>
        </p:spPr>
        <p:txBody>
          <a:bodyPr anchor="ctr" bIns="0" lIns="0" rIns="0" rtlCol="0" tIns="0" wrap="square"/>
          <a:p>
            <a:pPr indent="0" marL="0">
              <a:buNone/>
            </a:pPr>
            <a:r>
              <a:rPr b="1" dirty="0" sz="1250" lang="en-US">
                <a:solidFill>
                  <a:srgbClr val="0F3057"/>
                </a:solidFill>
                <a:latin typeface="Calibri" pitchFamily="34" charset="0"/>
                <a:ea typeface="Calibri" pitchFamily="34" charset="-122"/>
                <a:cs typeface="Calibri" pitchFamily="34" charset="-120"/>
              </a:rPr>
              <a:t>Wei</a:t>
            </a:r>
            <a:endParaRPr dirty="0" sz="1250" lang="en-US"/>
          </a:p>
        </p:txBody>
      </p:sp>
      <p:sp>
        <p:nvSpPr>
          <p:cNvPr id="1048796" name="Text 79"/>
          <p:cNvSpPr/>
          <p:nvPr/>
        </p:nvSpPr>
        <p:spPr>
          <a:xfrm>
            <a:off x="8823960" y="5916168"/>
            <a:ext cx="1691640" cy="228600"/>
          </a:xfrm>
          <a:prstGeom prst="rect"/>
          <a:noFill/>
        </p:spPr>
        <p:txBody>
          <a:bodyPr anchor="ctr" bIns="0" lIns="0" rIns="0" rtlCol="0" tIns="0" wrap="square"/>
          <a:p>
            <a:pPr indent="0" marL="0">
              <a:buNone/>
            </a:pPr>
            <a:r>
              <a:rPr dirty="0" sz="950" lang="en-US">
                <a:solidFill>
                  <a:srgbClr val="5B6B7C"/>
                </a:solidFill>
                <a:latin typeface="Calibri" pitchFamily="34" charset="0"/>
                <a:ea typeface="Calibri" pitchFamily="34" charset="-122"/>
                <a:cs typeface="Calibri" pitchFamily="34" charset="-120"/>
              </a:rPr>
              <a:t>10:07</a:t>
            </a:r>
            <a:endParaRPr dirty="0" sz="950" lang="en-US"/>
          </a:p>
        </p:txBody>
      </p:sp>
      <p:sp>
        <p:nvSpPr>
          <p:cNvPr id="1048797" name="Text 80"/>
          <p:cNvSpPr/>
          <p:nvPr/>
        </p:nvSpPr>
        <p:spPr>
          <a:xfrm>
            <a:off x="7223760" y="4581144"/>
            <a:ext cx="987552" cy="365760"/>
          </a:xfrm>
          <a:prstGeom prst="rect"/>
          <a:noFill/>
        </p:spPr>
        <p:txBody>
          <a:bodyPr anchor="ctr" bIns="0" lIns="0" rIns="0" rtlCol="0" tIns="0" wrap="square"/>
          <a:p>
            <a:pPr algn="ctr" indent="0" marL="0">
              <a:buNone/>
            </a:pPr>
            <a:r>
              <a:rPr b="1" dirty="0" sz="2600" lang="en-US">
                <a:solidFill>
                  <a:srgbClr val="E63946"/>
                </a:solidFill>
                <a:latin typeface="Calibri" pitchFamily="34" charset="0"/>
                <a:ea typeface="Calibri" pitchFamily="34" charset="-122"/>
                <a:cs typeface="Calibri" pitchFamily="34" charset="-120"/>
              </a:rPr>
              <a:t>→</a:t>
            </a:r>
            <a:endParaRPr dirty="0" sz="2600" lang="en-US"/>
          </a:p>
        </p:txBody>
      </p:sp>
      <p:sp>
        <p:nvSpPr>
          <p:cNvPr id="1048798" name="Text 81"/>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799" name="Text 82"/>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33" name=""/>
        <p:cNvGrpSpPr/>
        <p:nvPr/>
      </p:nvGrpSpPr>
      <p:grpSpPr>
        <a:xfrm>
          <a:off x="0" y="0"/>
          <a:ext cx="0" cy="0"/>
          <a:chOff x="0" y="0"/>
          <a:chExt cx="0" cy="0"/>
        </a:xfrm>
      </p:grpSpPr>
      <p:sp>
        <p:nvSpPr>
          <p:cNvPr id="1048803"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DATA &amp; INTEGRATION</a:t>
            </a:r>
            <a:endParaRPr dirty="0" sz="1300" lang="en-US"/>
          </a:p>
        </p:txBody>
      </p:sp>
      <p:sp>
        <p:nvSpPr>
          <p:cNvPr id="1048804"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Database &amp; API Design</a:t>
            </a:r>
            <a:endParaRPr dirty="0" sz="3000" lang="en-US"/>
          </a:p>
        </p:txBody>
      </p:sp>
      <p:pic>
        <p:nvPicPr>
          <p:cNvPr id="2097173" name="Image 0" descr="/home/claude/sih/icons/icon_database_navy.png"/>
          <p:cNvPicPr>
            <a:picLocks noChangeAspect="1"/>
          </p:cNvPicPr>
          <p:nvPr/>
        </p:nvPicPr>
        <p:blipFill>
          <a:blip xmlns:r="http://schemas.openxmlformats.org/officeDocument/2006/relationships" r:embed="rId1"/>
          <a:stretch>
            <a:fillRect/>
          </a:stretch>
        </p:blipFill>
        <p:spPr>
          <a:xfrm>
            <a:off x="548640" y="1627632"/>
            <a:ext cx="365760" cy="365760"/>
          </a:xfrm>
          <a:prstGeom prst="rect"/>
        </p:spPr>
      </p:pic>
      <p:sp>
        <p:nvSpPr>
          <p:cNvPr id="1048805" name="Text 2"/>
          <p:cNvSpPr/>
          <p:nvPr/>
        </p:nvSpPr>
        <p:spPr>
          <a:xfrm>
            <a:off x="1024128" y="1627632"/>
            <a:ext cx="4983480" cy="365760"/>
          </a:xfrm>
          <a:prstGeom prst="rect"/>
          <a:noFill/>
        </p:spPr>
        <p:txBody>
          <a:bodyPr anchor="ctr" bIns="0" lIns="0" rIns="0" rtlCol="0" tIns="0" wrap="square"/>
          <a:p>
            <a:pPr indent="0" marL="0">
              <a:buNone/>
            </a:pPr>
            <a:r>
              <a:rPr b="1" dirty="0" sz="1600" lang="en-US">
                <a:solidFill>
                  <a:srgbClr val="0F3057"/>
                </a:solidFill>
                <a:latin typeface="Courier New" pitchFamily="34" charset="0"/>
                <a:ea typeface="Courier New" pitchFamily="34" charset="-122"/>
                <a:cs typeface="Courier New" pitchFamily="34" charset="-120"/>
              </a:rPr>
              <a:t>patients  TABLE</a:t>
            </a:r>
            <a:endParaRPr dirty="0" sz="1600" lang="en-US"/>
          </a:p>
        </p:txBody>
      </p:sp>
      <p:graphicFrame>
        <p:nvGraphicFramePr>
          <p:cNvPr id="4194304" name="Table 0"/>
          <p:cNvGraphicFramePr>
            <a:graphicFrameLocks noGrp="1"/>
          </p:cNvGraphicFramePr>
          <p:nvPr/>
        </p:nvGraphicFramePr>
        <p:xfrm>
          <a:off x="548640" y="2130552"/>
          <a:ext cx="5440680" cy="914400"/>
        </p:xfrm>
        <a:graphic>
          <a:graphicData uri="http://schemas.openxmlformats.org/drawingml/2006/table">
            <a:tbl>
              <a:tblPr/>
              <a:tblGrid>
                <a:gridCol w="1554480"/>
                <a:gridCol w="1417320"/>
                <a:gridCol w="2468880"/>
              </a:tblGrid>
              <a:tr h="420624">
                <a:tc>
                  <a:txBody>
                    <a:bodyPr/>
                    <a:p>
                      <a:pPr indent="0" marL="0">
                        <a:buNone/>
                      </a:pPr>
                      <a:r>
                        <a:rPr b="1" dirty="0" sz="1150" lang="en-US">
                          <a:solidFill>
                            <a:srgbClr val="FFFFFF"/>
                          </a:solidFill>
                        </a:rPr>
                        <a:t>Field</a:t>
                      </a:r>
                      <a:endParaRPr dirty="0" sz="115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F3057"/>
                    </a:solidFill>
                  </a:tcPr>
                </a:tc>
                <a:tc>
                  <a:txBody>
                    <a:bodyPr/>
                    <a:p>
                      <a:pPr indent="0" marL="0">
                        <a:buNone/>
                      </a:pPr>
                      <a:r>
                        <a:rPr b="1" dirty="0" sz="1150" lang="en-US">
                          <a:solidFill>
                            <a:srgbClr val="FFFFFF"/>
                          </a:solidFill>
                        </a:rPr>
                        <a:t>Type</a:t>
                      </a:r>
                      <a:endParaRPr dirty="0" sz="115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F3057"/>
                    </a:solidFill>
                  </a:tcPr>
                </a:tc>
                <a:tc>
                  <a:txBody>
                    <a:bodyPr/>
                    <a:p>
                      <a:pPr indent="0" marL="0">
                        <a:buNone/>
                      </a:pPr>
                      <a:r>
                        <a:rPr b="1" dirty="0" sz="1150" lang="en-US">
                          <a:solidFill>
                            <a:srgbClr val="FFFFFF"/>
                          </a:solidFill>
                        </a:rPr>
                        <a:t>Description</a:t>
                      </a:r>
                      <a:endParaRPr dirty="0" sz="115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F3057"/>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patientId</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1C7293"/>
                          </a:solidFill>
                        </a:rPr>
                        <a:t>INT (PK)</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5B6B7C"/>
                          </a:solidFill>
                        </a:rPr>
                        <a:t>Unique patient identifier</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name</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1C7293"/>
                          </a:solidFill>
                        </a:rPr>
                        <a:t>VARCHAR(100)</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5B6B7C"/>
                          </a:solidFill>
                        </a:rPr>
                        <a:t>Patient full name</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age</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1C7293"/>
                          </a:solidFill>
                        </a:rPr>
                        <a:t>INT</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5B6B7C"/>
                          </a:solidFill>
                        </a:rPr>
                        <a:t>Patient age</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symptoms</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1C7293"/>
                          </a:solidFill>
                        </a:rPr>
                        <a:t>TEXT</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5B6B7C"/>
                          </a:solidFill>
                        </a:rPr>
                        <a:t>Reported symptoms</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priorityLevel</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1C7293"/>
                          </a:solidFill>
                        </a:rPr>
                        <a:t>INT (1–5)</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p>
                      <a:pPr indent="0" marL="0">
                        <a:buNone/>
                      </a:pPr>
                      <a:r>
                        <a:rPr dirty="0" sz="1100" lang="en-US">
                          <a:solidFill>
                            <a:srgbClr val="5B6B7C"/>
                          </a:solidFill>
                        </a:rPr>
                        <a:t>Triage priority level</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r>
              <a:tr h="420624">
                <a:tc>
                  <a:txBody>
                    <a:bodyPr/>
                    <a:p>
                      <a:pPr indent="0" marL="0">
                        <a:buNone/>
                      </a:pPr>
                      <a:r>
                        <a:rPr b="1" dirty="0" sz="1150" lang="en-US">
                          <a:solidFill>
                            <a:srgbClr val="0F3057"/>
                          </a:solidFill>
                          <a:latin typeface="Courier New" pitchFamily="34" charset="0"/>
                          <a:ea typeface="Courier New" pitchFamily="34" charset="-122"/>
                          <a:cs typeface="Courier New" pitchFamily="34" charset="-120"/>
                        </a:rPr>
                        <a:t>arrivalTime</a:t>
                      </a:r>
                      <a:endParaRPr dirty="0" sz="1150" lang="en-US">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1C7293"/>
                          </a:solidFill>
                        </a:rPr>
                        <a:t>DATETIME</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c>
                  <a:txBody>
                    <a:bodyPr/>
                    <a:p>
                      <a:pPr indent="0" marL="0">
                        <a:buNone/>
                      </a:pPr>
                      <a:r>
                        <a:rPr dirty="0" sz="1100" lang="en-US">
                          <a:solidFill>
                            <a:srgbClr val="5B6B7C"/>
                          </a:solidFill>
                        </a:rPr>
                        <a:t>Timestamp of arrival</a:t>
                      </a:r>
                      <a:endParaRPr dirty="0" sz="1100" lang="en-US"/>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7F9FB"/>
                    </a:solidFill>
                  </a:tcPr>
                </a:tc>
              </a:tr>
            </a:tbl>
          </a:graphicData>
        </a:graphic>
      </p:graphicFrame>
      <p:sp>
        <p:nvSpPr>
          <p:cNvPr id="1048806" name="Shape 3"/>
          <p:cNvSpPr/>
          <p:nvPr/>
        </p:nvSpPr>
        <p:spPr>
          <a:xfrm>
            <a:off x="548640" y="5303520"/>
            <a:ext cx="5440680" cy="777240"/>
          </a:xfrm>
          <a:prstGeom prst="roundRect">
            <a:avLst>
              <a:gd name="adj" fmla="val 9412"/>
            </a:avLst>
          </a:prstGeom>
          <a:solidFill>
            <a:srgbClr val="E3EEF2"/>
          </a:solidFill>
        </p:spPr>
      </p:sp>
      <p:sp>
        <p:nvSpPr>
          <p:cNvPr id="1048807" name="Text 4"/>
          <p:cNvSpPr/>
          <p:nvPr/>
        </p:nvSpPr>
        <p:spPr>
          <a:xfrm>
            <a:off x="777240" y="5303520"/>
            <a:ext cx="4983480" cy="777240"/>
          </a:xfrm>
          <a:prstGeom prst="rect"/>
          <a:noFill/>
        </p:spPr>
        <p:txBody>
          <a:bodyPr anchor="ctr" bIns="0" lIns="0" rIns="0" rtlCol="0" tIns="0" wrap="square"/>
          <a:p>
            <a:pPr indent="0" marL="0">
              <a:lnSpc>
                <a:spcPct val="120000"/>
              </a:lnSpc>
              <a:buNone/>
            </a:pPr>
            <a:r>
              <a:rPr dirty="0" sz="1150" i="1" lang="en-US">
                <a:solidFill>
                  <a:srgbClr val="0F3057"/>
                </a:solidFill>
                <a:latin typeface="Calibri" pitchFamily="34" charset="0"/>
                <a:ea typeface="Calibri" pitchFamily="34" charset="-122"/>
                <a:cs typeface="Calibri" pitchFamily="34" charset="-120"/>
              </a:rPr>
              <a:t>priorityLevel + arrivalTime together drive the PriorityQueue ordering at query time.</a:t>
            </a:r>
            <a:endParaRPr dirty="0" sz="1150" lang="en-US"/>
          </a:p>
        </p:txBody>
      </p:sp>
      <p:sp>
        <p:nvSpPr>
          <p:cNvPr id="1048808" name="Text 5"/>
          <p:cNvSpPr/>
          <p:nvPr/>
        </p:nvSpPr>
        <p:spPr>
          <a:xfrm>
            <a:off x="6492240" y="1627632"/>
            <a:ext cx="4572000" cy="274320"/>
          </a:xfrm>
          <a:prstGeom prst="rect"/>
          <a:noFill/>
        </p:spPr>
        <p:txBody>
          <a:bodyPr anchor="ctr" bIns="0" lIns="0" rIns="0" rtlCol="0" tIns="0" wrap="square"/>
          <a:p>
            <a:pPr indent="0" marL="0">
              <a:buNone/>
            </a:pPr>
            <a:r>
              <a:rPr b="1" dirty="0" sz="1150" kern="0" lang="en-US" spc="150">
                <a:solidFill>
                  <a:srgbClr val="1C7293"/>
                </a:solidFill>
                <a:latin typeface="Calibri" pitchFamily="34" charset="0"/>
                <a:ea typeface="Calibri" pitchFamily="34" charset="-122"/>
                <a:cs typeface="Calibri" pitchFamily="34" charset="-120"/>
              </a:rPr>
              <a:t>REST API ENDPOINTS</a:t>
            </a:r>
            <a:endParaRPr dirty="0" sz="1150" lang="en-US"/>
          </a:p>
        </p:txBody>
      </p:sp>
      <p:sp>
        <p:nvSpPr>
          <p:cNvPr id="1048809" name="Shape 6"/>
          <p:cNvSpPr/>
          <p:nvPr/>
        </p:nvSpPr>
        <p:spPr>
          <a:xfrm>
            <a:off x="6492240" y="2011680"/>
            <a:ext cx="5148072" cy="603504"/>
          </a:xfrm>
          <a:prstGeom prst="roundRect">
            <a:avLst>
              <a:gd name="adj" fmla="val 10606"/>
            </a:avLst>
          </a:prstGeom>
          <a:solidFill>
            <a:srgbClr val="F7F9FB"/>
          </a:solidFill>
          <a:ln w="9525">
            <a:solidFill>
              <a:srgbClr val="DCE6EC"/>
            </a:solidFill>
            <a:prstDash val="solid"/>
          </a:ln>
        </p:spPr>
      </p:sp>
      <p:sp>
        <p:nvSpPr>
          <p:cNvPr id="1048810" name="Shape 7"/>
          <p:cNvSpPr/>
          <p:nvPr/>
        </p:nvSpPr>
        <p:spPr>
          <a:xfrm>
            <a:off x="6638544" y="2130552"/>
            <a:ext cx="914400" cy="310896"/>
          </a:xfrm>
          <a:prstGeom prst="roundRect">
            <a:avLst>
              <a:gd name="adj" fmla="val 50000"/>
            </a:avLst>
          </a:prstGeom>
          <a:solidFill>
            <a:srgbClr val="588157"/>
          </a:solidFill>
        </p:spPr>
      </p:sp>
      <p:sp>
        <p:nvSpPr>
          <p:cNvPr id="1048811" name="Text 8"/>
          <p:cNvSpPr/>
          <p:nvPr/>
        </p:nvSpPr>
        <p:spPr>
          <a:xfrm>
            <a:off x="6638544" y="2130552"/>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POST</a:t>
            </a:r>
            <a:endParaRPr dirty="0" sz="1050" lang="en-US"/>
          </a:p>
        </p:txBody>
      </p:sp>
      <p:sp>
        <p:nvSpPr>
          <p:cNvPr id="1048812" name="Text 9"/>
          <p:cNvSpPr/>
          <p:nvPr/>
        </p:nvSpPr>
        <p:spPr>
          <a:xfrm>
            <a:off x="7680960" y="2066544"/>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/patients</a:t>
            </a:r>
            <a:endParaRPr dirty="0" sz="1250" lang="en-US"/>
          </a:p>
        </p:txBody>
      </p:sp>
      <p:sp>
        <p:nvSpPr>
          <p:cNvPr id="1048813" name="Text 10"/>
          <p:cNvSpPr/>
          <p:nvPr/>
        </p:nvSpPr>
        <p:spPr>
          <a:xfrm>
            <a:off x="7680960" y="2340864"/>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Register a new patient</a:t>
            </a:r>
            <a:endParaRPr dirty="0" sz="1000" lang="en-US"/>
          </a:p>
        </p:txBody>
      </p:sp>
      <p:sp>
        <p:nvSpPr>
          <p:cNvPr id="1048814" name="Shape 11"/>
          <p:cNvSpPr/>
          <p:nvPr/>
        </p:nvSpPr>
        <p:spPr>
          <a:xfrm>
            <a:off x="6492240" y="2724912"/>
            <a:ext cx="5148072" cy="603504"/>
          </a:xfrm>
          <a:prstGeom prst="roundRect">
            <a:avLst>
              <a:gd name="adj" fmla="val 10606"/>
            </a:avLst>
          </a:prstGeom>
          <a:solidFill>
            <a:srgbClr val="F7F9FB"/>
          </a:solidFill>
          <a:ln w="9525">
            <a:solidFill>
              <a:srgbClr val="DCE6EC"/>
            </a:solidFill>
            <a:prstDash val="solid"/>
          </a:ln>
        </p:spPr>
      </p:sp>
      <p:sp>
        <p:nvSpPr>
          <p:cNvPr id="1048815" name="Shape 12"/>
          <p:cNvSpPr/>
          <p:nvPr/>
        </p:nvSpPr>
        <p:spPr>
          <a:xfrm>
            <a:off x="6638544" y="2843784"/>
            <a:ext cx="914400" cy="310896"/>
          </a:xfrm>
          <a:prstGeom prst="roundRect">
            <a:avLst>
              <a:gd name="adj" fmla="val 50000"/>
            </a:avLst>
          </a:prstGeom>
          <a:solidFill>
            <a:srgbClr val="1C7293"/>
          </a:solidFill>
        </p:spPr>
      </p:sp>
      <p:sp>
        <p:nvSpPr>
          <p:cNvPr id="1048816" name="Text 13"/>
          <p:cNvSpPr/>
          <p:nvPr/>
        </p:nvSpPr>
        <p:spPr>
          <a:xfrm>
            <a:off x="6638544" y="2843784"/>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GET</a:t>
            </a:r>
            <a:endParaRPr dirty="0" sz="1050" lang="en-US"/>
          </a:p>
        </p:txBody>
      </p:sp>
      <p:sp>
        <p:nvSpPr>
          <p:cNvPr id="1048817" name="Text 14"/>
          <p:cNvSpPr/>
          <p:nvPr/>
        </p:nvSpPr>
        <p:spPr>
          <a:xfrm>
            <a:off x="7680960" y="2779776"/>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/patients</a:t>
            </a:r>
            <a:endParaRPr dirty="0" sz="1250" lang="en-US"/>
          </a:p>
        </p:txBody>
      </p:sp>
      <p:sp>
        <p:nvSpPr>
          <p:cNvPr id="1048818" name="Text 15"/>
          <p:cNvSpPr/>
          <p:nvPr/>
        </p:nvSpPr>
        <p:spPr>
          <a:xfrm>
            <a:off x="7680960" y="3054096"/>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List the full active queue</a:t>
            </a:r>
            <a:endParaRPr dirty="0" sz="1000" lang="en-US"/>
          </a:p>
        </p:txBody>
      </p:sp>
      <p:sp>
        <p:nvSpPr>
          <p:cNvPr id="1048819" name="Shape 16"/>
          <p:cNvSpPr/>
          <p:nvPr/>
        </p:nvSpPr>
        <p:spPr>
          <a:xfrm>
            <a:off x="6492240" y="3438144"/>
            <a:ext cx="5148072" cy="603504"/>
          </a:xfrm>
          <a:prstGeom prst="roundRect">
            <a:avLst>
              <a:gd name="adj" fmla="val 10606"/>
            </a:avLst>
          </a:prstGeom>
          <a:solidFill>
            <a:srgbClr val="F7F9FB"/>
          </a:solidFill>
          <a:ln w="9525">
            <a:solidFill>
              <a:srgbClr val="DCE6EC"/>
            </a:solidFill>
            <a:prstDash val="solid"/>
          </a:ln>
        </p:spPr>
      </p:sp>
      <p:sp>
        <p:nvSpPr>
          <p:cNvPr id="1048820" name="Shape 17"/>
          <p:cNvSpPr/>
          <p:nvPr/>
        </p:nvSpPr>
        <p:spPr>
          <a:xfrm>
            <a:off x="6638544" y="3557016"/>
            <a:ext cx="914400" cy="310896"/>
          </a:xfrm>
          <a:prstGeom prst="roundRect">
            <a:avLst>
              <a:gd name="adj" fmla="val 50000"/>
            </a:avLst>
          </a:prstGeom>
          <a:solidFill>
            <a:srgbClr val="1C7293"/>
          </a:solidFill>
        </p:spPr>
      </p:sp>
      <p:sp>
        <p:nvSpPr>
          <p:cNvPr id="1048821" name="Text 18"/>
          <p:cNvSpPr/>
          <p:nvPr/>
        </p:nvSpPr>
        <p:spPr>
          <a:xfrm>
            <a:off x="6638544" y="3557016"/>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GET</a:t>
            </a:r>
            <a:endParaRPr dirty="0" sz="1050" lang="en-US"/>
          </a:p>
        </p:txBody>
      </p:sp>
      <p:sp>
        <p:nvSpPr>
          <p:cNvPr id="1048822" name="Text 19"/>
          <p:cNvSpPr/>
          <p:nvPr/>
        </p:nvSpPr>
        <p:spPr>
          <a:xfrm>
            <a:off x="7680960" y="3493008"/>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/patients/next</a:t>
            </a:r>
            <a:endParaRPr dirty="0" sz="1250" lang="en-US"/>
          </a:p>
        </p:txBody>
      </p:sp>
      <p:sp>
        <p:nvSpPr>
          <p:cNvPr id="1048823" name="Text 20"/>
          <p:cNvSpPr/>
          <p:nvPr/>
        </p:nvSpPr>
        <p:spPr>
          <a:xfrm>
            <a:off x="7680960" y="3767328"/>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Peek the next patient to call</a:t>
            </a:r>
            <a:endParaRPr dirty="0" sz="1000" lang="en-US"/>
          </a:p>
        </p:txBody>
      </p:sp>
      <p:sp>
        <p:nvSpPr>
          <p:cNvPr id="1048824" name="Shape 21"/>
          <p:cNvSpPr/>
          <p:nvPr/>
        </p:nvSpPr>
        <p:spPr>
          <a:xfrm>
            <a:off x="6492240" y="4151376"/>
            <a:ext cx="5148072" cy="603504"/>
          </a:xfrm>
          <a:prstGeom prst="roundRect">
            <a:avLst>
              <a:gd name="adj" fmla="val 10606"/>
            </a:avLst>
          </a:prstGeom>
          <a:solidFill>
            <a:srgbClr val="F7F9FB"/>
          </a:solidFill>
          <a:ln w="9525">
            <a:solidFill>
              <a:srgbClr val="DCE6EC"/>
            </a:solidFill>
            <a:prstDash val="solid"/>
          </a:ln>
        </p:spPr>
      </p:sp>
      <p:sp>
        <p:nvSpPr>
          <p:cNvPr id="1048825" name="Shape 22"/>
          <p:cNvSpPr/>
          <p:nvPr/>
        </p:nvSpPr>
        <p:spPr>
          <a:xfrm>
            <a:off x="6638544" y="4270248"/>
            <a:ext cx="914400" cy="310896"/>
          </a:xfrm>
          <a:prstGeom prst="roundRect">
            <a:avLst>
              <a:gd name="adj" fmla="val 50000"/>
            </a:avLst>
          </a:prstGeom>
          <a:solidFill>
            <a:srgbClr val="E9A23B"/>
          </a:solidFill>
        </p:spPr>
      </p:sp>
      <p:sp>
        <p:nvSpPr>
          <p:cNvPr id="1048826" name="Text 23"/>
          <p:cNvSpPr/>
          <p:nvPr/>
        </p:nvSpPr>
        <p:spPr>
          <a:xfrm>
            <a:off x="6638544" y="4270248"/>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PUT</a:t>
            </a:r>
            <a:endParaRPr dirty="0" sz="1050" lang="en-US"/>
          </a:p>
        </p:txBody>
      </p:sp>
      <p:sp>
        <p:nvSpPr>
          <p:cNvPr id="1048827" name="Text 24"/>
          <p:cNvSpPr/>
          <p:nvPr/>
        </p:nvSpPr>
        <p:spPr>
          <a:xfrm>
            <a:off x="7680960" y="4206240"/>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/patients/{id}/priority</a:t>
            </a:r>
            <a:endParaRPr dirty="0" sz="1250" lang="en-US"/>
          </a:p>
        </p:txBody>
      </p:sp>
      <p:sp>
        <p:nvSpPr>
          <p:cNvPr id="1048828" name="Text 25"/>
          <p:cNvSpPr/>
          <p:nvPr/>
        </p:nvSpPr>
        <p:spPr>
          <a:xfrm>
            <a:off x="7680960" y="4480560"/>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Update a patient's priority</a:t>
            </a:r>
            <a:endParaRPr dirty="0" sz="1000" lang="en-US"/>
          </a:p>
        </p:txBody>
      </p:sp>
      <p:sp>
        <p:nvSpPr>
          <p:cNvPr id="1048829" name="Shape 26"/>
          <p:cNvSpPr/>
          <p:nvPr/>
        </p:nvSpPr>
        <p:spPr>
          <a:xfrm>
            <a:off x="6492240" y="4864608"/>
            <a:ext cx="5148072" cy="603504"/>
          </a:xfrm>
          <a:prstGeom prst="roundRect">
            <a:avLst>
              <a:gd name="adj" fmla="val 10606"/>
            </a:avLst>
          </a:prstGeom>
          <a:solidFill>
            <a:srgbClr val="F7F9FB"/>
          </a:solidFill>
          <a:ln w="9525">
            <a:solidFill>
              <a:srgbClr val="DCE6EC"/>
            </a:solidFill>
            <a:prstDash val="solid"/>
          </a:ln>
        </p:spPr>
      </p:sp>
      <p:sp>
        <p:nvSpPr>
          <p:cNvPr id="1048830" name="Shape 27"/>
          <p:cNvSpPr/>
          <p:nvPr/>
        </p:nvSpPr>
        <p:spPr>
          <a:xfrm>
            <a:off x="6638544" y="4983480"/>
            <a:ext cx="914400" cy="310896"/>
          </a:xfrm>
          <a:prstGeom prst="roundRect">
            <a:avLst>
              <a:gd name="adj" fmla="val 50000"/>
            </a:avLst>
          </a:prstGeom>
          <a:solidFill>
            <a:srgbClr val="E63946"/>
          </a:solidFill>
        </p:spPr>
      </p:sp>
      <p:sp>
        <p:nvSpPr>
          <p:cNvPr id="1048831" name="Text 28"/>
          <p:cNvSpPr/>
          <p:nvPr/>
        </p:nvSpPr>
        <p:spPr>
          <a:xfrm>
            <a:off x="6638544" y="4983480"/>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DELETE</a:t>
            </a:r>
            <a:endParaRPr dirty="0" sz="1050" lang="en-US"/>
          </a:p>
        </p:txBody>
      </p:sp>
      <p:sp>
        <p:nvSpPr>
          <p:cNvPr id="1048832" name="Text 29"/>
          <p:cNvSpPr/>
          <p:nvPr/>
        </p:nvSpPr>
        <p:spPr>
          <a:xfrm>
            <a:off x="7680960" y="4919472"/>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/patients/{id}</a:t>
            </a:r>
            <a:endParaRPr dirty="0" sz="1250" lang="en-US"/>
          </a:p>
        </p:txBody>
      </p:sp>
      <p:sp>
        <p:nvSpPr>
          <p:cNvPr id="1048833" name="Text 30"/>
          <p:cNvSpPr/>
          <p:nvPr/>
        </p:nvSpPr>
        <p:spPr>
          <a:xfrm>
            <a:off x="7680960" y="5193792"/>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Remove / discharge a patient</a:t>
            </a:r>
            <a:endParaRPr dirty="0" sz="1000" lang="en-US"/>
          </a:p>
        </p:txBody>
      </p:sp>
      <p:sp>
        <p:nvSpPr>
          <p:cNvPr id="1048834" name="Shape 31"/>
          <p:cNvSpPr/>
          <p:nvPr/>
        </p:nvSpPr>
        <p:spPr>
          <a:xfrm>
            <a:off x="6492240" y="5577840"/>
            <a:ext cx="5148072" cy="603504"/>
          </a:xfrm>
          <a:prstGeom prst="roundRect">
            <a:avLst>
              <a:gd name="adj" fmla="val 10606"/>
            </a:avLst>
          </a:prstGeom>
          <a:solidFill>
            <a:srgbClr val="F7F9FB"/>
          </a:solidFill>
          <a:ln w="9525">
            <a:solidFill>
              <a:srgbClr val="DCE6EC"/>
            </a:solidFill>
            <a:prstDash val="solid"/>
          </a:ln>
        </p:spPr>
      </p:sp>
      <p:sp>
        <p:nvSpPr>
          <p:cNvPr id="1048835" name="Shape 32"/>
          <p:cNvSpPr/>
          <p:nvPr/>
        </p:nvSpPr>
        <p:spPr>
          <a:xfrm>
            <a:off x="6638544" y="5696712"/>
            <a:ext cx="914400" cy="310896"/>
          </a:xfrm>
          <a:prstGeom prst="roundRect">
            <a:avLst>
              <a:gd name="adj" fmla="val 50000"/>
            </a:avLst>
          </a:prstGeom>
          <a:solidFill>
            <a:srgbClr val="1C7293"/>
          </a:solidFill>
        </p:spPr>
      </p:sp>
      <p:sp>
        <p:nvSpPr>
          <p:cNvPr id="1048836" name="Text 33"/>
          <p:cNvSpPr/>
          <p:nvPr/>
        </p:nvSpPr>
        <p:spPr>
          <a:xfrm>
            <a:off x="6638544" y="5696712"/>
            <a:ext cx="9144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GET</a:t>
            </a:r>
            <a:endParaRPr dirty="0" sz="1050" lang="en-US"/>
          </a:p>
        </p:txBody>
      </p:sp>
      <p:sp>
        <p:nvSpPr>
          <p:cNvPr id="1048837" name="Text 34"/>
          <p:cNvSpPr/>
          <p:nvPr/>
        </p:nvSpPr>
        <p:spPr>
          <a:xfrm>
            <a:off x="7680960" y="5632704"/>
            <a:ext cx="3867912" cy="292608"/>
          </a:xfrm>
          <a:prstGeom prst="rect"/>
          <a:noFill/>
        </p:spPr>
        <p:txBody>
          <a:bodyPr anchor="ctr" bIns="0" lIns="0" rIns="0" rtlCol="0" tIns="0" wrap="square"/>
          <a:p>
            <a:pPr indent="0" marL="0">
              <a:buNone/>
            </a:pPr>
            <a:r>
              <a:rPr b="1" dirty="0" sz="1250" lang="en-US">
                <a:solidFill>
                  <a:srgbClr val="0F3057"/>
                </a:solidFill>
                <a:latin typeface="Courier New" pitchFamily="34" charset="0"/>
                <a:ea typeface="Courier New" pitchFamily="34" charset="-122"/>
                <a:cs typeface="Courier New" pitchFamily="34" charset="-120"/>
              </a:rPr>
              <a:t>/history</a:t>
            </a:r>
            <a:endParaRPr dirty="0" sz="1250" lang="en-US"/>
          </a:p>
        </p:txBody>
      </p:sp>
      <p:sp>
        <p:nvSpPr>
          <p:cNvPr id="1048838" name="Text 35"/>
          <p:cNvSpPr/>
          <p:nvPr/>
        </p:nvSpPr>
        <p:spPr>
          <a:xfrm>
            <a:off x="7680960" y="5907024"/>
            <a:ext cx="3867912" cy="237744"/>
          </a:xfrm>
          <a:prstGeom prst="rect"/>
          <a:noFill/>
        </p:spPr>
        <p:txBody>
          <a:bodyPr anchor="ctr" bIns="0" lIns="0" rIns="0" rtlCol="0" tIns="0" wrap="square"/>
          <a:p>
            <a:pPr indent="0" marL="0">
              <a:buNone/>
            </a:pPr>
            <a:r>
              <a:rPr dirty="0" sz="1000" lang="en-US">
                <a:solidFill>
                  <a:srgbClr val="5B6B7C"/>
                </a:solidFill>
                <a:latin typeface="Calibri" pitchFamily="34" charset="0"/>
                <a:ea typeface="Calibri" pitchFamily="34" charset="-122"/>
                <a:cs typeface="Calibri" pitchFamily="34" charset="-120"/>
              </a:rPr>
              <a:t>Fetch served-patient history</a:t>
            </a:r>
            <a:endParaRPr dirty="0" sz="1000" lang="en-US"/>
          </a:p>
        </p:txBody>
      </p:sp>
      <p:sp>
        <p:nvSpPr>
          <p:cNvPr id="1048839" name="Text 36"/>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840" name="Text 37"/>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36" name=""/>
        <p:cNvGrpSpPr/>
        <p:nvPr/>
      </p:nvGrpSpPr>
      <p:grpSpPr>
        <a:xfrm>
          <a:off x="0" y="0"/>
          <a:ext cx="0" cy="0"/>
          <a:chOff x="0" y="0"/>
          <a:chExt cx="0" cy="0"/>
        </a:xfrm>
      </p:grpSpPr>
      <p:sp>
        <p:nvSpPr>
          <p:cNvPr id="1048844"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USER EXPERIENCE</a:t>
            </a:r>
            <a:endParaRPr dirty="0" sz="1300" lang="en-US"/>
          </a:p>
        </p:txBody>
      </p:sp>
      <p:sp>
        <p:nvSpPr>
          <p:cNvPr id="1048845"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Dashboard Features</a:t>
            </a:r>
            <a:endParaRPr dirty="0" sz="3000" lang="en-US"/>
          </a:p>
        </p:txBody>
      </p:sp>
      <p:sp>
        <p:nvSpPr>
          <p:cNvPr id="1048846" name="Shape 2"/>
          <p:cNvSpPr/>
          <p:nvPr/>
        </p:nvSpPr>
        <p:spPr>
          <a:xfrm>
            <a:off x="548640" y="1783080"/>
            <a:ext cx="502920" cy="502920"/>
          </a:xfrm>
          <a:prstGeom prst="ellipse"/>
          <a:solidFill>
            <a:srgbClr val="E3EEF2"/>
          </a:solidFill>
        </p:spPr>
      </p:sp>
      <p:pic>
        <p:nvPicPr>
          <p:cNvPr id="2097174" name="Image 0" descr="/home/claude/sih/icons/icon_plus_navy.png"/>
          <p:cNvPicPr>
            <a:picLocks noChangeAspect="1"/>
          </p:cNvPicPr>
          <p:nvPr/>
        </p:nvPicPr>
        <p:blipFill>
          <a:blip xmlns:r="http://schemas.openxmlformats.org/officeDocument/2006/relationships" r:embed="rId1"/>
          <a:stretch>
            <a:fillRect/>
          </a:stretch>
        </p:blipFill>
        <p:spPr>
          <a:xfrm>
            <a:off x="667512" y="1901952"/>
            <a:ext cx="265176" cy="265176"/>
          </a:xfrm>
          <a:prstGeom prst="rect"/>
        </p:spPr>
      </p:pic>
      <p:sp>
        <p:nvSpPr>
          <p:cNvPr id="1048847" name="Text 3"/>
          <p:cNvSpPr/>
          <p:nvPr/>
        </p:nvSpPr>
        <p:spPr>
          <a:xfrm>
            <a:off x="548640" y="2350008"/>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Patient Registration Form</a:t>
            </a:r>
            <a:endParaRPr dirty="0" sz="1250" lang="en-US"/>
          </a:p>
        </p:txBody>
      </p:sp>
      <p:sp>
        <p:nvSpPr>
          <p:cNvPr id="1048848" name="Shape 4"/>
          <p:cNvSpPr/>
          <p:nvPr/>
        </p:nvSpPr>
        <p:spPr>
          <a:xfrm>
            <a:off x="3383280" y="1783080"/>
            <a:ext cx="502920" cy="502920"/>
          </a:xfrm>
          <a:prstGeom prst="ellipse"/>
          <a:solidFill>
            <a:srgbClr val="E3EEF2"/>
          </a:solidFill>
        </p:spPr>
      </p:sp>
      <p:pic>
        <p:nvPicPr>
          <p:cNvPr id="2097175" name="Image 1" descr="/home/claude/sih/icons/icon_dashboard_navy.png"/>
          <p:cNvPicPr>
            <a:picLocks noChangeAspect="1"/>
          </p:cNvPicPr>
          <p:nvPr/>
        </p:nvPicPr>
        <p:blipFill>
          <a:blip xmlns:r="http://schemas.openxmlformats.org/officeDocument/2006/relationships" r:embed="rId2"/>
          <a:stretch>
            <a:fillRect/>
          </a:stretch>
        </p:blipFill>
        <p:spPr>
          <a:xfrm>
            <a:off x="3502152" y="1901952"/>
            <a:ext cx="265176" cy="265176"/>
          </a:xfrm>
          <a:prstGeom prst="rect"/>
        </p:spPr>
      </p:pic>
      <p:sp>
        <p:nvSpPr>
          <p:cNvPr id="1048849" name="Text 5"/>
          <p:cNvSpPr/>
          <p:nvPr/>
        </p:nvSpPr>
        <p:spPr>
          <a:xfrm>
            <a:off x="3383280" y="2350008"/>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Live Emergency Queue</a:t>
            </a:r>
            <a:endParaRPr dirty="0" sz="1250" lang="en-US"/>
          </a:p>
        </p:txBody>
      </p:sp>
      <p:sp>
        <p:nvSpPr>
          <p:cNvPr id="1048850" name="Shape 6"/>
          <p:cNvSpPr/>
          <p:nvPr/>
        </p:nvSpPr>
        <p:spPr>
          <a:xfrm>
            <a:off x="548640" y="2862072"/>
            <a:ext cx="502920" cy="502920"/>
          </a:xfrm>
          <a:prstGeom prst="ellipse"/>
          <a:solidFill>
            <a:srgbClr val="E3EEF2"/>
          </a:solidFill>
        </p:spPr>
      </p:sp>
      <p:pic>
        <p:nvPicPr>
          <p:cNvPr id="2097176" name="Image 2" descr="/home/claude/sih/icons/icon_phone_navy.png"/>
          <p:cNvPicPr>
            <a:picLocks noChangeAspect="1"/>
          </p:cNvPicPr>
          <p:nvPr/>
        </p:nvPicPr>
        <p:blipFill>
          <a:blip xmlns:r="http://schemas.openxmlformats.org/officeDocument/2006/relationships" r:embed="rId3"/>
          <a:stretch>
            <a:fillRect/>
          </a:stretch>
        </p:blipFill>
        <p:spPr>
          <a:xfrm>
            <a:off x="667512" y="2980944"/>
            <a:ext cx="265176" cy="265176"/>
          </a:xfrm>
          <a:prstGeom prst="rect"/>
        </p:spPr>
      </p:pic>
      <p:sp>
        <p:nvSpPr>
          <p:cNvPr id="1048851" name="Text 7"/>
          <p:cNvSpPr/>
          <p:nvPr/>
        </p:nvSpPr>
        <p:spPr>
          <a:xfrm>
            <a:off x="548640" y="3429000"/>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Call Next Patient</a:t>
            </a:r>
            <a:endParaRPr dirty="0" sz="1250" lang="en-US"/>
          </a:p>
        </p:txBody>
      </p:sp>
      <p:sp>
        <p:nvSpPr>
          <p:cNvPr id="1048852" name="Shape 8"/>
          <p:cNvSpPr/>
          <p:nvPr/>
        </p:nvSpPr>
        <p:spPr>
          <a:xfrm>
            <a:off x="3383280" y="2862072"/>
            <a:ext cx="502920" cy="502920"/>
          </a:xfrm>
          <a:prstGeom prst="ellipse"/>
          <a:solidFill>
            <a:srgbClr val="E3EEF2"/>
          </a:solidFill>
        </p:spPr>
      </p:sp>
      <p:pic>
        <p:nvPicPr>
          <p:cNvPr id="2097177" name="Image 3" descr="/home/claude/sih/icons/icon_sort_navy2.png"/>
          <p:cNvPicPr>
            <a:picLocks noChangeAspect="1"/>
          </p:cNvPicPr>
          <p:nvPr/>
        </p:nvPicPr>
        <p:blipFill>
          <a:blip xmlns:r="http://schemas.openxmlformats.org/officeDocument/2006/relationships" r:embed="rId4"/>
          <a:stretch>
            <a:fillRect/>
          </a:stretch>
        </p:blipFill>
        <p:spPr>
          <a:xfrm>
            <a:off x="3502152" y="2980944"/>
            <a:ext cx="265176" cy="265176"/>
          </a:xfrm>
          <a:prstGeom prst="rect"/>
        </p:spPr>
      </p:pic>
      <p:sp>
        <p:nvSpPr>
          <p:cNvPr id="1048853" name="Text 9"/>
          <p:cNvSpPr/>
          <p:nvPr/>
        </p:nvSpPr>
        <p:spPr>
          <a:xfrm>
            <a:off x="3383280" y="3429000"/>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Queue Statistics</a:t>
            </a:r>
            <a:endParaRPr dirty="0" sz="1250" lang="en-US"/>
          </a:p>
        </p:txBody>
      </p:sp>
      <p:sp>
        <p:nvSpPr>
          <p:cNvPr id="1048854" name="Shape 10"/>
          <p:cNvSpPr/>
          <p:nvPr/>
        </p:nvSpPr>
        <p:spPr>
          <a:xfrm>
            <a:off x="548640" y="3941064"/>
            <a:ext cx="502920" cy="502920"/>
          </a:xfrm>
          <a:prstGeom prst="ellipse"/>
          <a:solidFill>
            <a:srgbClr val="E3EEF2"/>
          </a:solidFill>
        </p:spPr>
      </p:sp>
      <p:pic>
        <p:nvPicPr>
          <p:cNvPr id="2097178" name="Image 4" descr="/home/claude/sih/icons/icon_history_navy.png"/>
          <p:cNvPicPr>
            <a:picLocks noChangeAspect="1"/>
          </p:cNvPicPr>
          <p:nvPr/>
        </p:nvPicPr>
        <p:blipFill>
          <a:blip xmlns:r="http://schemas.openxmlformats.org/officeDocument/2006/relationships" r:embed="rId5"/>
          <a:stretch>
            <a:fillRect/>
          </a:stretch>
        </p:blipFill>
        <p:spPr>
          <a:xfrm>
            <a:off x="667512" y="4059936"/>
            <a:ext cx="265176" cy="265176"/>
          </a:xfrm>
          <a:prstGeom prst="rect"/>
        </p:spPr>
      </p:pic>
      <p:sp>
        <p:nvSpPr>
          <p:cNvPr id="1048855" name="Text 11"/>
          <p:cNvSpPr/>
          <p:nvPr/>
        </p:nvSpPr>
        <p:spPr>
          <a:xfrm>
            <a:off x="548640" y="4507992"/>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Patient History</a:t>
            </a:r>
            <a:endParaRPr dirty="0" sz="1250" lang="en-US"/>
          </a:p>
        </p:txBody>
      </p:sp>
      <p:sp>
        <p:nvSpPr>
          <p:cNvPr id="1048856" name="Shape 12"/>
          <p:cNvSpPr/>
          <p:nvPr/>
        </p:nvSpPr>
        <p:spPr>
          <a:xfrm>
            <a:off x="3383280" y="3941064"/>
            <a:ext cx="502920" cy="502920"/>
          </a:xfrm>
          <a:prstGeom prst="ellipse"/>
          <a:solidFill>
            <a:srgbClr val="E3EEF2"/>
          </a:solidFill>
        </p:spPr>
      </p:sp>
      <p:pic>
        <p:nvPicPr>
          <p:cNvPr id="2097179" name="Image 5" descr="/home/claude/sih/icons/icon_search_navy.png"/>
          <p:cNvPicPr>
            <a:picLocks noChangeAspect="1"/>
          </p:cNvPicPr>
          <p:nvPr/>
        </p:nvPicPr>
        <p:blipFill>
          <a:blip xmlns:r="http://schemas.openxmlformats.org/officeDocument/2006/relationships" r:embed="rId6"/>
          <a:stretch>
            <a:fillRect/>
          </a:stretch>
        </p:blipFill>
        <p:spPr>
          <a:xfrm>
            <a:off x="3502152" y="4059936"/>
            <a:ext cx="265176" cy="265176"/>
          </a:xfrm>
          <a:prstGeom prst="rect"/>
        </p:spPr>
      </p:pic>
      <p:sp>
        <p:nvSpPr>
          <p:cNvPr id="1048857" name="Text 13"/>
          <p:cNvSpPr/>
          <p:nvPr/>
        </p:nvSpPr>
        <p:spPr>
          <a:xfrm>
            <a:off x="3383280" y="4507992"/>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Search Patient</a:t>
            </a:r>
            <a:endParaRPr dirty="0" sz="1250" lang="en-US"/>
          </a:p>
        </p:txBody>
      </p:sp>
      <p:sp>
        <p:nvSpPr>
          <p:cNvPr id="1048858" name="Shape 14"/>
          <p:cNvSpPr/>
          <p:nvPr/>
        </p:nvSpPr>
        <p:spPr>
          <a:xfrm>
            <a:off x="548640" y="5020056"/>
            <a:ext cx="502920" cy="502920"/>
          </a:xfrm>
          <a:prstGeom prst="ellipse"/>
          <a:solidFill>
            <a:srgbClr val="E3EEF2"/>
          </a:solidFill>
        </p:spPr>
      </p:sp>
      <p:pic>
        <p:nvPicPr>
          <p:cNvPr id="2097180" name="Image 6" descr="/home/claude/sih/icons/icon_filter_navy.png"/>
          <p:cNvPicPr>
            <a:picLocks noChangeAspect="1"/>
          </p:cNvPicPr>
          <p:nvPr/>
        </p:nvPicPr>
        <p:blipFill>
          <a:blip xmlns:r="http://schemas.openxmlformats.org/officeDocument/2006/relationships" r:embed="rId7"/>
          <a:stretch>
            <a:fillRect/>
          </a:stretch>
        </p:blipFill>
        <p:spPr>
          <a:xfrm>
            <a:off x="667512" y="5138928"/>
            <a:ext cx="265176" cy="265176"/>
          </a:xfrm>
          <a:prstGeom prst="rect"/>
        </p:spPr>
      </p:pic>
      <p:sp>
        <p:nvSpPr>
          <p:cNvPr id="1048859" name="Text 15"/>
          <p:cNvSpPr/>
          <p:nvPr/>
        </p:nvSpPr>
        <p:spPr>
          <a:xfrm>
            <a:off x="548640" y="5586984"/>
            <a:ext cx="2697480" cy="457200"/>
          </a:xfrm>
          <a:prstGeom prst="rect"/>
          <a:noFill/>
        </p:spPr>
        <p:txBody>
          <a:bodyPr anchor="ctr" bIns="0" lIns="0" rIns="0" rtlCol="0" tIns="0" wrap="square"/>
          <a:p>
            <a:pPr indent="0" marL="0">
              <a:lnSpc>
                <a:spcPct val="110000"/>
              </a:lnSpc>
              <a:buNone/>
            </a:pPr>
            <a:r>
              <a:rPr b="1" dirty="0" sz="1250" lang="en-US">
                <a:solidFill>
                  <a:srgbClr val="1E293B"/>
                </a:solidFill>
                <a:latin typeface="Calibri" pitchFamily="34" charset="0"/>
                <a:ea typeface="Calibri" pitchFamily="34" charset="-122"/>
                <a:cs typeface="Calibri" pitchFamily="34" charset="-120"/>
              </a:rPr>
              <a:t>Filter by Priority</a:t>
            </a:r>
            <a:endParaRPr dirty="0" sz="1250" lang="en-US"/>
          </a:p>
        </p:txBody>
      </p:sp>
      <p:sp>
        <p:nvSpPr>
          <p:cNvPr id="1048860" name="Shape 16"/>
          <p:cNvSpPr/>
          <p:nvPr/>
        </p:nvSpPr>
        <p:spPr>
          <a:xfrm>
            <a:off x="5989320" y="1627632"/>
            <a:ext cx="5650992" cy="4736592"/>
          </a:xfrm>
          <a:prstGeom prst="roundRect">
            <a:avLst>
              <a:gd name="adj" fmla="val 1737"/>
            </a:avLst>
          </a:prstGeom>
          <a:solidFill>
            <a:srgbClr val="FFFFFF"/>
          </a:solidFill>
          <a:ln w="15875">
            <a:solidFill>
              <a:srgbClr val="DCE6EC"/>
            </a:solidFill>
            <a:prstDash val="solid"/>
          </a:ln>
          <a:effectLst>
            <a:outerShdw algn="bl" blurRad="101600" dir="2700000" dist="38100" kx="0" ky="0" rotWithShape="0" sx="100000" sy="100000">
              <a:srgbClr val="0F3057">
                <a:alpha val="12000"/>
              </a:srgbClr>
            </a:outerShdw>
          </a:effectLst>
        </p:spPr>
      </p:sp>
      <p:sp>
        <p:nvSpPr>
          <p:cNvPr id="1048861" name="Shape 17"/>
          <p:cNvSpPr/>
          <p:nvPr/>
        </p:nvSpPr>
        <p:spPr>
          <a:xfrm>
            <a:off x="6190488" y="1773936"/>
            <a:ext cx="118872" cy="118872"/>
          </a:xfrm>
          <a:prstGeom prst="ellipse"/>
          <a:solidFill>
            <a:srgbClr val="E63946"/>
          </a:solidFill>
        </p:spPr>
      </p:sp>
      <p:sp>
        <p:nvSpPr>
          <p:cNvPr id="1048862" name="Shape 18"/>
          <p:cNvSpPr/>
          <p:nvPr/>
        </p:nvSpPr>
        <p:spPr>
          <a:xfrm>
            <a:off x="6409944" y="1773936"/>
            <a:ext cx="118872" cy="118872"/>
          </a:xfrm>
          <a:prstGeom prst="ellipse"/>
          <a:solidFill>
            <a:srgbClr val="E9C46A"/>
          </a:solidFill>
        </p:spPr>
      </p:sp>
      <p:sp>
        <p:nvSpPr>
          <p:cNvPr id="1048863" name="Shape 19"/>
          <p:cNvSpPr/>
          <p:nvPr/>
        </p:nvSpPr>
        <p:spPr>
          <a:xfrm>
            <a:off x="6629400" y="1773936"/>
            <a:ext cx="118872" cy="118872"/>
          </a:xfrm>
          <a:prstGeom prst="ellipse"/>
          <a:solidFill>
            <a:srgbClr val="588157"/>
          </a:solidFill>
        </p:spPr>
      </p:sp>
      <p:sp>
        <p:nvSpPr>
          <p:cNvPr id="1048864" name="Shape 20"/>
          <p:cNvSpPr/>
          <p:nvPr/>
        </p:nvSpPr>
        <p:spPr>
          <a:xfrm>
            <a:off x="5989320" y="2011680"/>
            <a:ext cx="5650992" cy="10973"/>
          </a:xfrm>
          <a:prstGeom prst="rect"/>
          <a:solidFill>
            <a:srgbClr val="DCE6EC"/>
          </a:solidFill>
        </p:spPr>
      </p:sp>
      <p:sp>
        <p:nvSpPr>
          <p:cNvPr id="1048865" name="Shape 21"/>
          <p:cNvSpPr/>
          <p:nvPr/>
        </p:nvSpPr>
        <p:spPr>
          <a:xfrm>
            <a:off x="6153912" y="2157984"/>
            <a:ext cx="5321808" cy="475488"/>
          </a:xfrm>
          <a:prstGeom prst="roundRect">
            <a:avLst>
              <a:gd name="adj" fmla="val 13462"/>
            </a:avLst>
          </a:prstGeom>
          <a:solidFill>
            <a:srgbClr val="0F3057"/>
          </a:solidFill>
        </p:spPr>
      </p:sp>
      <p:pic>
        <p:nvPicPr>
          <p:cNvPr id="2097181" name="Image 7" descr="/home/claude/sih/icons/icon_dashboard_white.png"/>
          <p:cNvPicPr>
            <a:picLocks noChangeAspect="1"/>
          </p:cNvPicPr>
          <p:nvPr/>
        </p:nvPicPr>
        <p:blipFill>
          <a:blip xmlns:r="http://schemas.openxmlformats.org/officeDocument/2006/relationships" r:embed="rId8"/>
          <a:stretch>
            <a:fillRect/>
          </a:stretch>
        </p:blipFill>
        <p:spPr>
          <a:xfrm>
            <a:off x="6300216" y="2267712"/>
            <a:ext cx="256032" cy="256032"/>
          </a:xfrm>
          <a:prstGeom prst="rect"/>
        </p:spPr>
      </p:pic>
      <p:sp>
        <p:nvSpPr>
          <p:cNvPr id="1048866" name="Text 22"/>
          <p:cNvSpPr/>
          <p:nvPr/>
        </p:nvSpPr>
        <p:spPr>
          <a:xfrm>
            <a:off x="6647688" y="2157984"/>
            <a:ext cx="3108960" cy="475488"/>
          </a:xfrm>
          <a:prstGeom prst="rect"/>
          <a:noFill/>
        </p:spPr>
        <p:txBody>
          <a:bodyPr anchor="ctr" bIns="0" lIns="0" rIns="0" rtlCol="0" tIns="0" wrap="square"/>
          <a:p>
            <a:pPr indent="0" marL="0">
              <a:buNone/>
            </a:pPr>
            <a:r>
              <a:rPr b="1" dirty="0" sz="1300" lang="en-US">
                <a:solidFill>
                  <a:srgbClr val="FFFFFF"/>
                </a:solidFill>
                <a:latin typeface="Cambria" pitchFamily="34" charset="0"/>
                <a:ea typeface="Cambria" pitchFamily="34" charset="-122"/>
                <a:cs typeface="Cambria" pitchFamily="34" charset="-120"/>
              </a:rPr>
              <a:t>Emergency Queue Dashboard</a:t>
            </a:r>
            <a:endParaRPr dirty="0" sz="1300" lang="en-US"/>
          </a:p>
        </p:txBody>
      </p:sp>
      <p:sp>
        <p:nvSpPr>
          <p:cNvPr id="1048867" name="Shape 23"/>
          <p:cNvSpPr/>
          <p:nvPr/>
        </p:nvSpPr>
        <p:spPr>
          <a:xfrm>
            <a:off x="10725912" y="2258568"/>
            <a:ext cx="594360" cy="274320"/>
          </a:xfrm>
          <a:prstGeom prst="roundRect">
            <a:avLst>
              <a:gd name="adj" fmla="val 50000"/>
            </a:avLst>
          </a:prstGeom>
          <a:solidFill>
            <a:srgbClr val="1B3F66"/>
          </a:solidFill>
        </p:spPr>
      </p:sp>
      <p:pic>
        <p:nvPicPr>
          <p:cNvPr id="2097182" name="Image 8" descr="/home/claude/sih/icons/icon_search_white.png"/>
          <p:cNvPicPr>
            <a:picLocks noChangeAspect="1"/>
          </p:cNvPicPr>
          <p:nvPr/>
        </p:nvPicPr>
        <p:blipFill>
          <a:blip xmlns:r="http://schemas.openxmlformats.org/officeDocument/2006/relationships" r:embed="rId9"/>
          <a:stretch>
            <a:fillRect/>
          </a:stretch>
        </p:blipFill>
        <p:spPr>
          <a:xfrm>
            <a:off x="10863072" y="2313432"/>
            <a:ext cx="164592" cy="164592"/>
          </a:xfrm>
          <a:prstGeom prst="rect"/>
        </p:spPr>
      </p:pic>
      <p:sp>
        <p:nvSpPr>
          <p:cNvPr id="1048868" name="Shape 24"/>
          <p:cNvSpPr/>
          <p:nvPr/>
        </p:nvSpPr>
        <p:spPr>
          <a:xfrm>
            <a:off x="6153912" y="2798064"/>
            <a:ext cx="1688592" cy="868680"/>
          </a:xfrm>
          <a:prstGeom prst="roundRect">
            <a:avLst>
              <a:gd name="adj" fmla="val 7368"/>
            </a:avLst>
          </a:prstGeom>
          <a:solidFill>
            <a:srgbClr val="F7F9FB"/>
          </a:solidFill>
          <a:ln w="12700">
            <a:solidFill>
              <a:srgbClr val="DCE6EC"/>
            </a:solidFill>
            <a:prstDash val="solid"/>
          </a:ln>
        </p:spPr>
      </p:sp>
      <p:sp>
        <p:nvSpPr>
          <p:cNvPr id="1048869" name="Text 25"/>
          <p:cNvSpPr/>
          <p:nvPr/>
        </p:nvSpPr>
        <p:spPr>
          <a:xfrm>
            <a:off x="6153912" y="2889504"/>
            <a:ext cx="1688592" cy="457200"/>
          </a:xfrm>
          <a:prstGeom prst="rect"/>
          <a:noFill/>
        </p:spPr>
        <p:txBody>
          <a:bodyPr anchor="ctr" bIns="0" lIns="0" rIns="0" rtlCol="0" tIns="0" wrap="square"/>
          <a:p>
            <a:pPr algn="ctr" indent="0" marL="0">
              <a:buNone/>
            </a:pPr>
            <a:r>
              <a:rPr b="1" dirty="0" sz="2000" lang="en-US">
                <a:solidFill>
                  <a:srgbClr val="0F3057"/>
                </a:solidFill>
                <a:latin typeface="Cambria" pitchFamily="34" charset="0"/>
                <a:ea typeface="Cambria" pitchFamily="34" charset="-122"/>
                <a:cs typeface="Cambria" pitchFamily="34" charset="-120"/>
              </a:rPr>
              <a:t>24</a:t>
            </a:r>
            <a:endParaRPr dirty="0" sz="2000" lang="en-US"/>
          </a:p>
        </p:txBody>
      </p:sp>
      <p:sp>
        <p:nvSpPr>
          <p:cNvPr id="1048870" name="Text 26"/>
          <p:cNvSpPr/>
          <p:nvPr/>
        </p:nvSpPr>
        <p:spPr>
          <a:xfrm>
            <a:off x="6153912" y="3364992"/>
            <a:ext cx="1688592" cy="256032"/>
          </a:xfrm>
          <a:prstGeom prst="rect"/>
          <a:noFill/>
        </p:spPr>
        <p:txBody>
          <a:bodyPr anchor="ctr" bIns="0" lIns="0" rIns="0" rtlCol="0" tIns="0" wrap="square"/>
          <a:p>
            <a:pPr algn="ctr" indent="0" marL="0">
              <a:buNone/>
            </a:pPr>
            <a:r>
              <a:rPr dirty="0" sz="950" lang="en-US">
                <a:solidFill>
                  <a:srgbClr val="5B6B7C"/>
                </a:solidFill>
                <a:latin typeface="Calibri" pitchFamily="34" charset="0"/>
                <a:ea typeface="Calibri" pitchFamily="34" charset="-122"/>
                <a:cs typeface="Calibri" pitchFamily="34" charset="-120"/>
              </a:rPr>
              <a:t>Patients</a:t>
            </a:r>
            <a:endParaRPr dirty="0" sz="950" lang="en-US"/>
          </a:p>
        </p:txBody>
      </p:sp>
      <p:sp>
        <p:nvSpPr>
          <p:cNvPr id="1048871" name="Shape 27"/>
          <p:cNvSpPr/>
          <p:nvPr/>
        </p:nvSpPr>
        <p:spPr>
          <a:xfrm>
            <a:off x="7970520" y="2798064"/>
            <a:ext cx="1688592" cy="868680"/>
          </a:xfrm>
          <a:prstGeom prst="roundRect">
            <a:avLst>
              <a:gd name="adj" fmla="val 7368"/>
            </a:avLst>
          </a:prstGeom>
          <a:solidFill>
            <a:srgbClr val="F7F9FB"/>
          </a:solidFill>
          <a:ln w="12700">
            <a:solidFill>
              <a:srgbClr val="DCE6EC"/>
            </a:solidFill>
            <a:prstDash val="solid"/>
          </a:ln>
        </p:spPr>
      </p:sp>
      <p:sp>
        <p:nvSpPr>
          <p:cNvPr id="1048872" name="Text 28"/>
          <p:cNvSpPr/>
          <p:nvPr/>
        </p:nvSpPr>
        <p:spPr>
          <a:xfrm>
            <a:off x="7970520" y="2889504"/>
            <a:ext cx="1688592" cy="457200"/>
          </a:xfrm>
          <a:prstGeom prst="rect"/>
          <a:noFill/>
        </p:spPr>
        <p:txBody>
          <a:bodyPr anchor="ctr" bIns="0" lIns="0" rIns="0" rtlCol="0" tIns="0" wrap="square"/>
          <a:p>
            <a:pPr algn="ctr" indent="0" marL="0">
              <a:buNone/>
            </a:pPr>
            <a:r>
              <a:rPr b="1" dirty="0" sz="2000" lang="en-US">
                <a:solidFill>
                  <a:srgbClr val="0F3057"/>
                </a:solidFill>
                <a:latin typeface="Cambria" pitchFamily="34" charset="0"/>
                <a:ea typeface="Cambria" pitchFamily="34" charset="-122"/>
                <a:cs typeface="Cambria" pitchFamily="34" charset="-120"/>
              </a:rPr>
              <a:t>12 min</a:t>
            </a:r>
            <a:endParaRPr dirty="0" sz="2000" lang="en-US"/>
          </a:p>
        </p:txBody>
      </p:sp>
      <p:sp>
        <p:nvSpPr>
          <p:cNvPr id="1048873" name="Text 29"/>
          <p:cNvSpPr/>
          <p:nvPr/>
        </p:nvSpPr>
        <p:spPr>
          <a:xfrm>
            <a:off x="7970520" y="3364992"/>
            <a:ext cx="1688592" cy="256032"/>
          </a:xfrm>
          <a:prstGeom prst="rect"/>
          <a:noFill/>
        </p:spPr>
        <p:txBody>
          <a:bodyPr anchor="ctr" bIns="0" lIns="0" rIns="0" rtlCol="0" tIns="0" wrap="square"/>
          <a:p>
            <a:pPr algn="ctr" indent="0" marL="0">
              <a:buNone/>
            </a:pPr>
            <a:r>
              <a:rPr dirty="0" sz="950" lang="en-US">
                <a:solidFill>
                  <a:srgbClr val="5B6B7C"/>
                </a:solidFill>
                <a:latin typeface="Calibri" pitchFamily="34" charset="0"/>
                <a:ea typeface="Calibri" pitchFamily="34" charset="-122"/>
                <a:cs typeface="Calibri" pitchFamily="34" charset="-120"/>
              </a:rPr>
              <a:t>Avg. Wait</a:t>
            </a:r>
            <a:endParaRPr dirty="0" sz="950" lang="en-US"/>
          </a:p>
        </p:txBody>
      </p:sp>
      <p:sp>
        <p:nvSpPr>
          <p:cNvPr id="1048874" name="Shape 30"/>
          <p:cNvSpPr/>
          <p:nvPr/>
        </p:nvSpPr>
        <p:spPr>
          <a:xfrm>
            <a:off x="9787128" y="2798064"/>
            <a:ext cx="1688592" cy="868680"/>
          </a:xfrm>
          <a:prstGeom prst="roundRect">
            <a:avLst>
              <a:gd name="adj" fmla="val 7368"/>
            </a:avLst>
          </a:prstGeom>
          <a:solidFill>
            <a:srgbClr val="F7F9FB"/>
          </a:solidFill>
          <a:ln w="12700">
            <a:solidFill>
              <a:srgbClr val="DCE6EC"/>
            </a:solidFill>
            <a:prstDash val="solid"/>
          </a:ln>
        </p:spPr>
      </p:sp>
      <p:sp>
        <p:nvSpPr>
          <p:cNvPr id="1048875" name="Text 31"/>
          <p:cNvSpPr/>
          <p:nvPr/>
        </p:nvSpPr>
        <p:spPr>
          <a:xfrm>
            <a:off x="9787128" y="2889504"/>
            <a:ext cx="1688592" cy="457200"/>
          </a:xfrm>
          <a:prstGeom prst="rect"/>
          <a:noFill/>
        </p:spPr>
        <p:txBody>
          <a:bodyPr anchor="ctr" bIns="0" lIns="0" rIns="0" rtlCol="0" tIns="0" wrap="square"/>
          <a:p>
            <a:pPr algn="ctr" indent="0" marL="0">
              <a:buNone/>
            </a:pPr>
            <a:r>
              <a:rPr b="1" dirty="0" sz="2000" lang="en-US">
                <a:solidFill>
                  <a:srgbClr val="0F3057"/>
                </a:solidFill>
                <a:latin typeface="Cambria" pitchFamily="34" charset="0"/>
                <a:ea typeface="Cambria" pitchFamily="34" charset="-122"/>
                <a:cs typeface="Cambria" pitchFamily="34" charset="-120"/>
              </a:rPr>
              <a:t>3</a:t>
            </a:r>
            <a:endParaRPr dirty="0" sz="2000" lang="en-US"/>
          </a:p>
        </p:txBody>
      </p:sp>
      <p:sp>
        <p:nvSpPr>
          <p:cNvPr id="1048876" name="Text 32"/>
          <p:cNvSpPr/>
          <p:nvPr/>
        </p:nvSpPr>
        <p:spPr>
          <a:xfrm>
            <a:off x="9787128" y="3364992"/>
            <a:ext cx="1688592" cy="256032"/>
          </a:xfrm>
          <a:prstGeom prst="rect"/>
          <a:noFill/>
        </p:spPr>
        <p:txBody>
          <a:bodyPr anchor="ctr" bIns="0" lIns="0" rIns="0" rtlCol="0" tIns="0" wrap="square"/>
          <a:p>
            <a:pPr algn="ctr" indent="0" marL="0">
              <a:buNone/>
            </a:pPr>
            <a:r>
              <a:rPr dirty="0" sz="950" lang="en-US">
                <a:solidFill>
                  <a:srgbClr val="5B6B7C"/>
                </a:solidFill>
                <a:latin typeface="Calibri" pitchFamily="34" charset="0"/>
                <a:ea typeface="Calibri" pitchFamily="34" charset="-122"/>
                <a:cs typeface="Calibri" pitchFamily="34" charset="-120"/>
              </a:rPr>
              <a:t>Critical</a:t>
            </a:r>
            <a:endParaRPr dirty="0" sz="950" lang="en-US"/>
          </a:p>
        </p:txBody>
      </p:sp>
      <p:sp>
        <p:nvSpPr>
          <p:cNvPr id="1048877" name="Shape 33"/>
          <p:cNvSpPr/>
          <p:nvPr/>
        </p:nvSpPr>
        <p:spPr>
          <a:xfrm>
            <a:off x="6153912" y="3849624"/>
            <a:ext cx="5321808" cy="530352"/>
          </a:xfrm>
          <a:prstGeom prst="roundRect">
            <a:avLst>
              <a:gd name="adj" fmla="val 12069"/>
            </a:avLst>
          </a:prstGeom>
          <a:solidFill>
            <a:srgbClr val="E3EEF2"/>
          </a:solidFill>
          <a:ln w="12700">
            <a:solidFill>
              <a:srgbClr val="DCE6EC"/>
            </a:solidFill>
            <a:prstDash val="solid"/>
          </a:ln>
        </p:spPr>
      </p:sp>
      <p:sp>
        <p:nvSpPr>
          <p:cNvPr id="1048878" name="Shape 34"/>
          <p:cNvSpPr/>
          <p:nvPr/>
        </p:nvSpPr>
        <p:spPr>
          <a:xfrm>
            <a:off x="6281928" y="3959352"/>
            <a:ext cx="310896" cy="310896"/>
          </a:xfrm>
          <a:prstGeom prst="ellipse"/>
          <a:solidFill>
            <a:srgbClr val="E63946"/>
          </a:solidFill>
        </p:spPr>
      </p:sp>
      <p:sp>
        <p:nvSpPr>
          <p:cNvPr id="1048879" name="Text 35"/>
          <p:cNvSpPr/>
          <p:nvPr/>
        </p:nvSpPr>
        <p:spPr>
          <a:xfrm>
            <a:off x="6281928" y="3959352"/>
            <a:ext cx="310896" cy="310896"/>
          </a:xfrm>
          <a:prstGeom prst="rect"/>
          <a:noFill/>
        </p:spPr>
        <p:txBody>
          <a:bodyPr anchor="ctr" bIns="0" lIns="0" rIns="0" rtlCol="0" tIns="0" wrap="square"/>
          <a:p>
            <a:pPr algn="ctr" indent="0" marL="0">
              <a:buNone/>
            </a:pPr>
            <a:r>
              <a:rPr b="1" dirty="0" sz="950" lang="en-US">
                <a:solidFill>
                  <a:srgbClr val="FFFFFF"/>
                </a:solidFill>
                <a:latin typeface="Calibri" pitchFamily="34" charset="0"/>
                <a:ea typeface="Calibri" pitchFamily="34" charset="-122"/>
                <a:cs typeface="Calibri" pitchFamily="34" charset="-120"/>
              </a:rPr>
              <a:t>P1</a:t>
            </a:r>
            <a:endParaRPr dirty="0" sz="950" lang="en-US"/>
          </a:p>
        </p:txBody>
      </p:sp>
      <p:sp>
        <p:nvSpPr>
          <p:cNvPr id="1048880" name="Text 36"/>
          <p:cNvSpPr/>
          <p:nvPr/>
        </p:nvSpPr>
        <p:spPr>
          <a:xfrm>
            <a:off x="6702552" y="3895344"/>
            <a:ext cx="2468880" cy="256032"/>
          </a:xfrm>
          <a:prstGeom prst="rect"/>
          <a:noFill/>
        </p:spPr>
        <p:txBody>
          <a:bodyPr anchor="ctr" bIns="0" lIns="0" rIns="0" rtlCol="0" tIns="0" wrap="square"/>
          <a:p>
            <a:pPr indent="0" marL="0">
              <a:buNone/>
            </a:pPr>
            <a:r>
              <a:rPr b="1" dirty="0" sz="1150" lang="en-US">
                <a:solidFill>
                  <a:srgbClr val="0F3057"/>
                </a:solidFill>
                <a:latin typeface="Calibri" pitchFamily="34" charset="0"/>
                <a:ea typeface="Calibri" pitchFamily="34" charset="-122"/>
                <a:cs typeface="Calibri" pitchFamily="34" charset="-120"/>
              </a:rPr>
              <a:t>Asha Verma</a:t>
            </a:r>
            <a:endParaRPr dirty="0" sz="1150" lang="en-US"/>
          </a:p>
        </p:txBody>
      </p:sp>
      <p:sp>
        <p:nvSpPr>
          <p:cNvPr id="1048881" name="Text 37"/>
          <p:cNvSpPr/>
          <p:nvPr/>
        </p:nvSpPr>
        <p:spPr>
          <a:xfrm>
            <a:off x="6702552" y="4133088"/>
            <a:ext cx="2468880" cy="219456"/>
          </a:xfrm>
          <a:prstGeom prst="rect"/>
          <a:noFill/>
        </p:spPr>
        <p:txBody>
          <a:bodyPr anchor="ctr" bIns="0" lIns="0" rIns="0" rtlCol="0" tIns="0" wrap="square"/>
          <a:p>
            <a:pPr indent="0" marL="0">
              <a:buNone/>
            </a:pPr>
            <a:r>
              <a:rPr dirty="0" sz="900" lang="en-US">
                <a:solidFill>
                  <a:srgbClr val="5B6B7C"/>
                </a:solidFill>
                <a:latin typeface="Calibri" pitchFamily="34" charset="0"/>
                <a:ea typeface="Calibri" pitchFamily="34" charset="-122"/>
                <a:cs typeface="Calibri" pitchFamily="34" charset="-120"/>
              </a:rPr>
              <a:t>Chest pain</a:t>
            </a:r>
            <a:endParaRPr dirty="0" sz="900" lang="en-US"/>
          </a:p>
        </p:txBody>
      </p:sp>
      <p:sp>
        <p:nvSpPr>
          <p:cNvPr id="1048882" name="Shape 38"/>
          <p:cNvSpPr/>
          <p:nvPr/>
        </p:nvSpPr>
        <p:spPr>
          <a:xfrm>
            <a:off x="10222992" y="3968496"/>
            <a:ext cx="1097280" cy="292608"/>
          </a:xfrm>
          <a:prstGeom prst="roundRect">
            <a:avLst>
              <a:gd name="adj" fmla="val 50000"/>
            </a:avLst>
          </a:prstGeom>
          <a:solidFill>
            <a:srgbClr val="E63946">
              <a:alpha val="18000"/>
            </a:srgbClr>
          </a:solidFill>
          <a:ln w="12700">
            <a:solidFill>
              <a:srgbClr val="E63946"/>
            </a:solidFill>
            <a:prstDash val="solid"/>
          </a:ln>
        </p:spPr>
      </p:sp>
      <p:sp>
        <p:nvSpPr>
          <p:cNvPr id="1048883" name="Text 39"/>
          <p:cNvSpPr/>
          <p:nvPr/>
        </p:nvSpPr>
        <p:spPr>
          <a:xfrm>
            <a:off x="10222992" y="3968496"/>
            <a:ext cx="1097280" cy="292608"/>
          </a:xfrm>
          <a:prstGeom prst="rect"/>
          <a:noFill/>
        </p:spPr>
        <p:txBody>
          <a:bodyPr anchor="ctr" bIns="0" lIns="0" rIns="0" rtlCol="0" tIns="0" wrap="square"/>
          <a:p>
            <a:pPr algn="ctr" indent="0" marL="0">
              <a:buNone/>
            </a:pPr>
            <a:r>
              <a:rPr b="1" dirty="0" sz="900" lang="en-US">
                <a:solidFill>
                  <a:srgbClr val="E63946"/>
                </a:solidFill>
                <a:latin typeface="Calibri" pitchFamily="34" charset="0"/>
                <a:ea typeface="Calibri" pitchFamily="34" charset="-122"/>
                <a:cs typeface="Calibri" pitchFamily="34" charset="-120"/>
              </a:rPr>
              <a:t>Critical</a:t>
            </a:r>
            <a:endParaRPr dirty="0" sz="900" lang="en-US"/>
          </a:p>
        </p:txBody>
      </p:sp>
      <p:sp>
        <p:nvSpPr>
          <p:cNvPr id="1048884" name="Shape 40"/>
          <p:cNvSpPr/>
          <p:nvPr/>
        </p:nvSpPr>
        <p:spPr>
          <a:xfrm>
            <a:off x="6153912" y="4443984"/>
            <a:ext cx="5321808" cy="530352"/>
          </a:xfrm>
          <a:prstGeom prst="roundRect">
            <a:avLst>
              <a:gd name="adj" fmla="val 12069"/>
            </a:avLst>
          </a:prstGeom>
          <a:solidFill>
            <a:srgbClr val="F7F9FB"/>
          </a:solidFill>
          <a:ln w="12700">
            <a:solidFill>
              <a:srgbClr val="DCE6EC"/>
            </a:solidFill>
            <a:prstDash val="solid"/>
          </a:ln>
        </p:spPr>
      </p:sp>
      <p:sp>
        <p:nvSpPr>
          <p:cNvPr id="1048885" name="Shape 41"/>
          <p:cNvSpPr/>
          <p:nvPr/>
        </p:nvSpPr>
        <p:spPr>
          <a:xfrm>
            <a:off x="6281928" y="4553712"/>
            <a:ext cx="310896" cy="310896"/>
          </a:xfrm>
          <a:prstGeom prst="ellipse"/>
          <a:solidFill>
            <a:srgbClr val="F4A261"/>
          </a:solidFill>
        </p:spPr>
      </p:sp>
      <p:sp>
        <p:nvSpPr>
          <p:cNvPr id="1048886" name="Text 42"/>
          <p:cNvSpPr/>
          <p:nvPr/>
        </p:nvSpPr>
        <p:spPr>
          <a:xfrm>
            <a:off x="6281928" y="4553712"/>
            <a:ext cx="310896" cy="310896"/>
          </a:xfrm>
          <a:prstGeom prst="rect"/>
          <a:noFill/>
        </p:spPr>
        <p:txBody>
          <a:bodyPr anchor="ctr" bIns="0" lIns="0" rIns="0" rtlCol="0" tIns="0" wrap="square"/>
          <a:p>
            <a:pPr algn="ctr" indent="0" marL="0">
              <a:buNone/>
            </a:pPr>
            <a:r>
              <a:rPr b="1" dirty="0" sz="950" lang="en-US">
                <a:solidFill>
                  <a:srgbClr val="FFFFFF"/>
                </a:solidFill>
                <a:latin typeface="Calibri" pitchFamily="34" charset="0"/>
                <a:ea typeface="Calibri" pitchFamily="34" charset="-122"/>
                <a:cs typeface="Calibri" pitchFamily="34" charset="-120"/>
              </a:rPr>
              <a:t>P2</a:t>
            </a:r>
            <a:endParaRPr dirty="0" sz="950" lang="en-US"/>
          </a:p>
        </p:txBody>
      </p:sp>
      <p:sp>
        <p:nvSpPr>
          <p:cNvPr id="1048887" name="Text 43"/>
          <p:cNvSpPr/>
          <p:nvPr/>
        </p:nvSpPr>
        <p:spPr>
          <a:xfrm>
            <a:off x="6702552" y="4489704"/>
            <a:ext cx="2468880" cy="256032"/>
          </a:xfrm>
          <a:prstGeom prst="rect"/>
          <a:noFill/>
        </p:spPr>
        <p:txBody>
          <a:bodyPr anchor="ctr" bIns="0" lIns="0" rIns="0" rtlCol="0" tIns="0" wrap="square"/>
          <a:p>
            <a:pPr indent="0" marL="0">
              <a:buNone/>
            </a:pPr>
            <a:r>
              <a:rPr b="1" dirty="0" sz="1150" lang="en-US">
                <a:solidFill>
                  <a:srgbClr val="0F3057"/>
                </a:solidFill>
                <a:latin typeface="Calibri" pitchFamily="34" charset="0"/>
                <a:ea typeface="Calibri" pitchFamily="34" charset="-122"/>
                <a:cs typeface="Calibri" pitchFamily="34" charset="-120"/>
              </a:rPr>
              <a:t>Maria Singh</a:t>
            </a:r>
            <a:endParaRPr dirty="0" sz="1150" lang="en-US"/>
          </a:p>
        </p:txBody>
      </p:sp>
      <p:sp>
        <p:nvSpPr>
          <p:cNvPr id="1048888" name="Text 44"/>
          <p:cNvSpPr/>
          <p:nvPr/>
        </p:nvSpPr>
        <p:spPr>
          <a:xfrm>
            <a:off x="6702552" y="4727448"/>
            <a:ext cx="2468880" cy="219456"/>
          </a:xfrm>
          <a:prstGeom prst="rect"/>
          <a:noFill/>
        </p:spPr>
        <p:txBody>
          <a:bodyPr anchor="ctr" bIns="0" lIns="0" rIns="0" rtlCol="0" tIns="0" wrap="square"/>
          <a:p>
            <a:pPr indent="0" marL="0">
              <a:buNone/>
            </a:pPr>
            <a:r>
              <a:rPr dirty="0" sz="900" lang="en-US">
                <a:solidFill>
                  <a:srgbClr val="5B6B7C"/>
                </a:solidFill>
                <a:latin typeface="Calibri" pitchFamily="34" charset="0"/>
                <a:ea typeface="Calibri" pitchFamily="34" charset="-122"/>
                <a:cs typeface="Calibri" pitchFamily="34" charset="-120"/>
              </a:rPr>
              <a:t>Fracture</a:t>
            </a:r>
            <a:endParaRPr dirty="0" sz="900" lang="en-US"/>
          </a:p>
        </p:txBody>
      </p:sp>
      <p:sp>
        <p:nvSpPr>
          <p:cNvPr id="1048889" name="Shape 45"/>
          <p:cNvSpPr/>
          <p:nvPr/>
        </p:nvSpPr>
        <p:spPr>
          <a:xfrm>
            <a:off x="10222992" y="4562856"/>
            <a:ext cx="1097280" cy="292608"/>
          </a:xfrm>
          <a:prstGeom prst="roundRect">
            <a:avLst>
              <a:gd name="adj" fmla="val 50000"/>
            </a:avLst>
          </a:prstGeom>
          <a:solidFill>
            <a:srgbClr val="F4A261">
              <a:alpha val="18000"/>
            </a:srgbClr>
          </a:solidFill>
          <a:ln w="12700">
            <a:solidFill>
              <a:srgbClr val="F4A261"/>
            </a:solidFill>
            <a:prstDash val="solid"/>
          </a:ln>
        </p:spPr>
      </p:sp>
      <p:sp>
        <p:nvSpPr>
          <p:cNvPr id="1048890" name="Text 46"/>
          <p:cNvSpPr/>
          <p:nvPr/>
        </p:nvSpPr>
        <p:spPr>
          <a:xfrm>
            <a:off x="10222992" y="4562856"/>
            <a:ext cx="1097280" cy="292608"/>
          </a:xfrm>
          <a:prstGeom prst="rect"/>
          <a:noFill/>
        </p:spPr>
        <p:txBody>
          <a:bodyPr anchor="ctr" bIns="0" lIns="0" rIns="0" rtlCol="0" tIns="0" wrap="square"/>
          <a:p>
            <a:pPr algn="ctr" indent="0" marL="0">
              <a:buNone/>
            </a:pPr>
            <a:r>
              <a:rPr b="1" dirty="0" sz="900" lang="en-US">
                <a:solidFill>
                  <a:srgbClr val="F4A261"/>
                </a:solidFill>
                <a:latin typeface="Calibri" pitchFamily="34" charset="0"/>
                <a:ea typeface="Calibri" pitchFamily="34" charset="-122"/>
                <a:cs typeface="Calibri" pitchFamily="34" charset="-120"/>
              </a:rPr>
              <a:t>Serious</a:t>
            </a:r>
            <a:endParaRPr dirty="0" sz="900" lang="en-US"/>
          </a:p>
        </p:txBody>
      </p:sp>
      <p:sp>
        <p:nvSpPr>
          <p:cNvPr id="1048891" name="Shape 47"/>
          <p:cNvSpPr/>
          <p:nvPr/>
        </p:nvSpPr>
        <p:spPr>
          <a:xfrm>
            <a:off x="6153912" y="5038344"/>
            <a:ext cx="5321808" cy="530352"/>
          </a:xfrm>
          <a:prstGeom prst="roundRect">
            <a:avLst>
              <a:gd name="adj" fmla="val 12069"/>
            </a:avLst>
          </a:prstGeom>
          <a:solidFill>
            <a:srgbClr val="F7F9FB"/>
          </a:solidFill>
          <a:ln w="12700">
            <a:solidFill>
              <a:srgbClr val="DCE6EC"/>
            </a:solidFill>
            <a:prstDash val="solid"/>
          </a:ln>
        </p:spPr>
      </p:sp>
      <p:sp>
        <p:nvSpPr>
          <p:cNvPr id="1048892" name="Shape 48"/>
          <p:cNvSpPr/>
          <p:nvPr/>
        </p:nvSpPr>
        <p:spPr>
          <a:xfrm>
            <a:off x="6281928" y="5148072"/>
            <a:ext cx="310896" cy="310896"/>
          </a:xfrm>
          <a:prstGeom prst="ellipse"/>
          <a:solidFill>
            <a:srgbClr val="E9C46A"/>
          </a:solidFill>
        </p:spPr>
      </p:sp>
      <p:sp>
        <p:nvSpPr>
          <p:cNvPr id="1048893" name="Text 49"/>
          <p:cNvSpPr/>
          <p:nvPr/>
        </p:nvSpPr>
        <p:spPr>
          <a:xfrm>
            <a:off x="6281928" y="5148072"/>
            <a:ext cx="310896" cy="310896"/>
          </a:xfrm>
          <a:prstGeom prst="rect"/>
          <a:noFill/>
        </p:spPr>
        <p:txBody>
          <a:bodyPr anchor="ctr" bIns="0" lIns="0" rIns="0" rtlCol="0" tIns="0" wrap="square"/>
          <a:p>
            <a:pPr algn="ctr" indent="0" marL="0">
              <a:buNone/>
            </a:pPr>
            <a:r>
              <a:rPr b="1" dirty="0" sz="950" lang="en-US">
                <a:solidFill>
                  <a:srgbClr val="FFFFFF"/>
                </a:solidFill>
                <a:latin typeface="Calibri" pitchFamily="34" charset="0"/>
                <a:ea typeface="Calibri" pitchFamily="34" charset="-122"/>
                <a:cs typeface="Calibri" pitchFamily="34" charset="-120"/>
              </a:rPr>
              <a:t>P3</a:t>
            </a:r>
            <a:endParaRPr dirty="0" sz="950" lang="en-US"/>
          </a:p>
        </p:txBody>
      </p:sp>
      <p:sp>
        <p:nvSpPr>
          <p:cNvPr id="1048894" name="Text 50"/>
          <p:cNvSpPr/>
          <p:nvPr/>
        </p:nvSpPr>
        <p:spPr>
          <a:xfrm>
            <a:off x="6702552" y="5084064"/>
            <a:ext cx="2468880" cy="256032"/>
          </a:xfrm>
          <a:prstGeom prst="rect"/>
          <a:noFill/>
        </p:spPr>
        <p:txBody>
          <a:bodyPr anchor="ctr" bIns="0" lIns="0" rIns="0" rtlCol="0" tIns="0" wrap="square"/>
          <a:p>
            <a:pPr indent="0" marL="0">
              <a:buNone/>
            </a:pPr>
            <a:r>
              <a:rPr b="1" dirty="0" sz="1150" lang="en-US">
                <a:solidFill>
                  <a:srgbClr val="0F3057"/>
                </a:solidFill>
                <a:latin typeface="Calibri" pitchFamily="34" charset="0"/>
                <a:ea typeface="Calibri" pitchFamily="34" charset="-122"/>
                <a:cs typeface="Calibri" pitchFamily="34" charset="-120"/>
              </a:rPr>
              <a:t>John Mehta</a:t>
            </a:r>
            <a:endParaRPr dirty="0" sz="1150" lang="en-US"/>
          </a:p>
        </p:txBody>
      </p:sp>
      <p:sp>
        <p:nvSpPr>
          <p:cNvPr id="1048895" name="Text 51"/>
          <p:cNvSpPr/>
          <p:nvPr/>
        </p:nvSpPr>
        <p:spPr>
          <a:xfrm>
            <a:off x="6702552" y="5321808"/>
            <a:ext cx="2468880" cy="219456"/>
          </a:xfrm>
          <a:prstGeom prst="rect"/>
          <a:noFill/>
        </p:spPr>
        <p:txBody>
          <a:bodyPr anchor="ctr" bIns="0" lIns="0" rIns="0" rtlCol="0" tIns="0" wrap="square"/>
          <a:p>
            <a:pPr indent="0" marL="0">
              <a:buNone/>
            </a:pPr>
            <a:r>
              <a:rPr dirty="0" sz="900" lang="en-US">
                <a:solidFill>
                  <a:srgbClr val="5B6B7C"/>
                </a:solidFill>
                <a:latin typeface="Calibri" pitchFamily="34" charset="0"/>
                <a:ea typeface="Calibri" pitchFamily="34" charset="-122"/>
                <a:cs typeface="Calibri" pitchFamily="34" charset="-120"/>
              </a:rPr>
              <a:t>High fever</a:t>
            </a:r>
            <a:endParaRPr dirty="0" sz="900" lang="en-US"/>
          </a:p>
        </p:txBody>
      </p:sp>
      <p:sp>
        <p:nvSpPr>
          <p:cNvPr id="1048896" name="Shape 52"/>
          <p:cNvSpPr/>
          <p:nvPr/>
        </p:nvSpPr>
        <p:spPr>
          <a:xfrm>
            <a:off x="10222992" y="5157216"/>
            <a:ext cx="1097280" cy="292608"/>
          </a:xfrm>
          <a:prstGeom prst="roundRect">
            <a:avLst>
              <a:gd name="adj" fmla="val 50000"/>
            </a:avLst>
          </a:prstGeom>
          <a:solidFill>
            <a:srgbClr val="E9C46A">
              <a:alpha val="18000"/>
            </a:srgbClr>
          </a:solidFill>
          <a:ln w="12700">
            <a:solidFill>
              <a:srgbClr val="E9C46A"/>
            </a:solidFill>
            <a:prstDash val="solid"/>
          </a:ln>
        </p:spPr>
      </p:sp>
      <p:sp>
        <p:nvSpPr>
          <p:cNvPr id="1048897" name="Text 53"/>
          <p:cNvSpPr/>
          <p:nvPr/>
        </p:nvSpPr>
        <p:spPr>
          <a:xfrm>
            <a:off x="10222992" y="5157216"/>
            <a:ext cx="1097280" cy="292608"/>
          </a:xfrm>
          <a:prstGeom prst="rect"/>
          <a:noFill/>
        </p:spPr>
        <p:txBody>
          <a:bodyPr anchor="ctr" bIns="0" lIns="0" rIns="0" rtlCol="0" tIns="0" wrap="square"/>
          <a:p>
            <a:pPr algn="ctr" indent="0" marL="0">
              <a:buNone/>
            </a:pPr>
            <a:r>
              <a:rPr b="1" dirty="0" sz="900" lang="en-US">
                <a:solidFill>
                  <a:srgbClr val="E9C46A"/>
                </a:solidFill>
                <a:latin typeface="Calibri" pitchFamily="34" charset="0"/>
                <a:ea typeface="Calibri" pitchFamily="34" charset="-122"/>
                <a:cs typeface="Calibri" pitchFamily="34" charset="-120"/>
              </a:rPr>
              <a:t>Moderate</a:t>
            </a:r>
            <a:endParaRPr dirty="0" sz="900" lang="en-US"/>
          </a:p>
        </p:txBody>
      </p:sp>
      <p:sp>
        <p:nvSpPr>
          <p:cNvPr id="1048898" name="Shape 54"/>
          <p:cNvSpPr/>
          <p:nvPr/>
        </p:nvSpPr>
        <p:spPr>
          <a:xfrm>
            <a:off x="6153912" y="5632704"/>
            <a:ext cx="5321808" cy="530352"/>
          </a:xfrm>
          <a:prstGeom prst="roundRect">
            <a:avLst>
              <a:gd name="adj" fmla="val 12069"/>
            </a:avLst>
          </a:prstGeom>
          <a:solidFill>
            <a:srgbClr val="F7F9FB"/>
          </a:solidFill>
          <a:ln w="12700">
            <a:solidFill>
              <a:srgbClr val="DCE6EC"/>
            </a:solidFill>
            <a:prstDash val="solid"/>
          </a:ln>
        </p:spPr>
      </p:sp>
      <p:sp>
        <p:nvSpPr>
          <p:cNvPr id="1048899" name="Shape 55"/>
          <p:cNvSpPr/>
          <p:nvPr/>
        </p:nvSpPr>
        <p:spPr>
          <a:xfrm>
            <a:off x="6281928" y="5742432"/>
            <a:ext cx="310896" cy="310896"/>
          </a:xfrm>
          <a:prstGeom prst="ellipse"/>
          <a:solidFill>
            <a:srgbClr val="6A9955"/>
          </a:solidFill>
        </p:spPr>
      </p:sp>
      <p:sp>
        <p:nvSpPr>
          <p:cNvPr id="1048900" name="Text 56"/>
          <p:cNvSpPr/>
          <p:nvPr/>
        </p:nvSpPr>
        <p:spPr>
          <a:xfrm>
            <a:off x="6281928" y="5742432"/>
            <a:ext cx="310896" cy="310896"/>
          </a:xfrm>
          <a:prstGeom prst="rect"/>
          <a:noFill/>
        </p:spPr>
        <p:txBody>
          <a:bodyPr anchor="ctr" bIns="0" lIns="0" rIns="0" rtlCol="0" tIns="0" wrap="square"/>
          <a:p>
            <a:pPr algn="ctr" indent="0" marL="0">
              <a:buNone/>
            </a:pPr>
            <a:r>
              <a:rPr b="1" dirty="0" sz="950" lang="en-US">
                <a:solidFill>
                  <a:srgbClr val="FFFFFF"/>
                </a:solidFill>
                <a:latin typeface="Calibri" pitchFamily="34" charset="0"/>
                <a:ea typeface="Calibri" pitchFamily="34" charset="-122"/>
                <a:cs typeface="Calibri" pitchFamily="34" charset="-120"/>
              </a:rPr>
              <a:t>P4</a:t>
            </a:r>
            <a:endParaRPr dirty="0" sz="950" lang="en-US"/>
          </a:p>
        </p:txBody>
      </p:sp>
      <p:sp>
        <p:nvSpPr>
          <p:cNvPr id="1048901" name="Text 57"/>
          <p:cNvSpPr/>
          <p:nvPr/>
        </p:nvSpPr>
        <p:spPr>
          <a:xfrm>
            <a:off x="6702552" y="5678424"/>
            <a:ext cx="2468880" cy="256032"/>
          </a:xfrm>
          <a:prstGeom prst="rect"/>
          <a:noFill/>
        </p:spPr>
        <p:txBody>
          <a:bodyPr anchor="ctr" bIns="0" lIns="0" rIns="0" rtlCol="0" tIns="0" wrap="square"/>
          <a:p>
            <a:pPr indent="0" marL="0">
              <a:buNone/>
            </a:pPr>
            <a:r>
              <a:rPr b="1" dirty="0" sz="1150" lang="en-US">
                <a:solidFill>
                  <a:srgbClr val="0F3057"/>
                </a:solidFill>
                <a:latin typeface="Calibri" pitchFamily="34" charset="0"/>
                <a:ea typeface="Calibri" pitchFamily="34" charset="-122"/>
                <a:cs typeface="Calibri" pitchFamily="34" charset="-120"/>
              </a:rPr>
              <a:t>Wei Tan</a:t>
            </a:r>
            <a:endParaRPr dirty="0" sz="1150" lang="en-US"/>
          </a:p>
        </p:txBody>
      </p:sp>
      <p:sp>
        <p:nvSpPr>
          <p:cNvPr id="1048902" name="Text 58"/>
          <p:cNvSpPr/>
          <p:nvPr/>
        </p:nvSpPr>
        <p:spPr>
          <a:xfrm>
            <a:off x="6702552" y="5916168"/>
            <a:ext cx="2468880" cy="219456"/>
          </a:xfrm>
          <a:prstGeom prst="rect"/>
          <a:noFill/>
        </p:spPr>
        <p:txBody>
          <a:bodyPr anchor="ctr" bIns="0" lIns="0" rIns="0" rtlCol="0" tIns="0" wrap="square"/>
          <a:p>
            <a:pPr indent="0" marL="0">
              <a:buNone/>
            </a:pPr>
            <a:r>
              <a:rPr dirty="0" sz="900" lang="en-US">
                <a:solidFill>
                  <a:srgbClr val="5B6B7C"/>
                </a:solidFill>
                <a:latin typeface="Calibri" pitchFamily="34" charset="0"/>
                <a:ea typeface="Calibri" pitchFamily="34" charset="-122"/>
                <a:cs typeface="Calibri" pitchFamily="34" charset="-120"/>
              </a:rPr>
              <a:t>Minor cut</a:t>
            </a:r>
            <a:endParaRPr dirty="0" sz="900" lang="en-US"/>
          </a:p>
        </p:txBody>
      </p:sp>
      <p:sp>
        <p:nvSpPr>
          <p:cNvPr id="1048903" name="Shape 59"/>
          <p:cNvSpPr/>
          <p:nvPr/>
        </p:nvSpPr>
        <p:spPr>
          <a:xfrm>
            <a:off x="10222992" y="5751576"/>
            <a:ext cx="1097280" cy="292608"/>
          </a:xfrm>
          <a:prstGeom prst="roundRect">
            <a:avLst>
              <a:gd name="adj" fmla="val 50000"/>
            </a:avLst>
          </a:prstGeom>
          <a:solidFill>
            <a:srgbClr val="6A9955">
              <a:alpha val="18000"/>
            </a:srgbClr>
          </a:solidFill>
          <a:ln w="12700">
            <a:solidFill>
              <a:srgbClr val="6A9955"/>
            </a:solidFill>
            <a:prstDash val="solid"/>
          </a:ln>
        </p:spPr>
      </p:sp>
      <p:sp>
        <p:nvSpPr>
          <p:cNvPr id="1048904" name="Text 60"/>
          <p:cNvSpPr/>
          <p:nvPr/>
        </p:nvSpPr>
        <p:spPr>
          <a:xfrm>
            <a:off x="10222992" y="5751576"/>
            <a:ext cx="1097280" cy="292608"/>
          </a:xfrm>
          <a:prstGeom prst="rect"/>
          <a:noFill/>
        </p:spPr>
        <p:txBody>
          <a:bodyPr anchor="ctr" bIns="0" lIns="0" rIns="0" rtlCol="0" tIns="0" wrap="square"/>
          <a:p>
            <a:pPr algn="ctr" indent="0" marL="0">
              <a:buNone/>
            </a:pPr>
            <a:r>
              <a:rPr b="1" dirty="0" sz="900" lang="en-US">
                <a:solidFill>
                  <a:srgbClr val="6A9955"/>
                </a:solidFill>
                <a:latin typeface="Calibri" pitchFamily="34" charset="0"/>
                <a:ea typeface="Calibri" pitchFamily="34" charset="-122"/>
                <a:cs typeface="Calibri" pitchFamily="34" charset="-120"/>
              </a:rPr>
              <a:t>Minor</a:t>
            </a:r>
            <a:endParaRPr dirty="0" sz="900" lang="en-US"/>
          </a:p>
        </p:txBody>
      </p:sp>
      <p:sp>
        <p:nvSpPr>
          <p:cNvPr id="1048905" name="Text 61"/>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906" name="Text 62"/>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39" name=""/>
        <p:cNvGrpSpPr/>
        <p:nvPr/>
      </p:nvGrpSpPr>
      <p:grpSpPr>
        <a:xfrm>
          <a:off x="0" y="0"/>
          <a:ext cx="0" cy="0"/>
          <a:chOff x="0" y="0"/>
          <a:chExt cx="0" cy="0"/>
        </a:xfrm>
      </p:grpSpPr>
      <p:sp>
        <p:nvSpPr>
          <p:cNvPr id="1048910" name="Text 0"/>
          <p:cNvSpPr/>
          <p:nvPr/>
        </p:nvSpPr>
        <p:spPr>
          <a:xfrm>
            <a:off x="548640" y="384048"/>
            <a:ext cx="9144000" cy="292608"/>
          </a:xfrm>
          <a:prstGeom prst="rect"/>
          <a:noFill/>
        </p:spPr>
        <p:txBody>
          <a:bodyPr anchor="ctr" bIns="0" lIns="0" rIns="0" rtlCol="0" tIns="0" wrap="square"/>
          <a:p>
            <a:pPr indent="0" marL="0">
              <a:buNone/>
            </a:pPr>
            <a:r>
              <a:rPr b="1" dirty="0" sz="1300" kern="0" lang="en-US" spc="200">
                <a:solidFill>
                  <a:srgbClr val="1C7293"/>
                </a:solidFill>
                <a:latin typeface="Calibri" pitchFamily="34" charset="0"/>
                <a:ea typeface="Calibri" pitchFamily="34" charset="-122"/>
                <a:cs typeface="Calibri" pitchFamily="34" charset="-120"/>
              </a:rPr>
              <a:t>THE IMPACT</a:t>
            </a:r>
            <a:endParaRPr dirty="0" sz="1300" lang="en-US"/>
          </a:p>
        </p:txBody>
      </p:sp>
      <p:sp>
        <p:nvSpPr>
          <p:cNvPr id="1048911" name="Text 1"/>
          <p:cNvSpPr/>
          <p:nvPr/>
        </p:nvSpPr>
        <p:spPr>
          <a:xfrm>
            <a:off x="548640" y="658368"/>
            <a:ext cx="11064240" cy="640080"/>
          </a:xfrm>
          <a:prstGeom prst="rect"/>
          <a:noFill/>
        </p:spPr>
        <p:txBody>
          <a:bodyPr anchor="ctr" bIns="0" lIns="0" rIns="0" rtlCol="0" tIns="0" wrap="square"/>
          <a:p>
            <a:pPr indent="0" marL="0">
              <a:buNone/>
            </a:pPr>
            <a:r>
              <a:rPr b="1" dirty="0" sz="3000" lang="en-US">
                <a:solidFill>
                  <a:srgbClr val="0F3057"/>
                </a:solidFill>
                <a:latin typeface="Cambria" pitchFamily="34" charset="0"/>
                <a:ea typeface="Cambria" pitchFamily="34" charset="-122"/>
                <a:cs typeface="Cambria" pitchFamily="34" charset="-120"/>
              </a:rPr>
              <a:t>Results &amp; Benefits</a:t>
            </a:r>
            <a:endParaRPr dirty="0" sz="3000" lang="en-US"/>
          </a:p>
        </p:txBody>
      </p:sp>
      <p:sp>
        <p:nvSpPr>
          <p:cNvPr id="1048912" name="Shape 2"/>
          <p:cNvSpPr/>
          <p:nvPr/>
        </p:nvSpPr>
        <p:spPr>
          <a:xfrm>
            <a:off x="548640" y="1828800"/>
            <a:ext cx="566928" cy="566928"/>
          </a:xfrm>
          <a:prstGeom prst="ellipse"/>
          <a:solidFill>
            <a:srgbClr val="0F3057"/>
          </a:solidFill>
        </p:spPr>
      </p:sp>
      <p:pic>
        <p:nvPicPr>
          <p:cNvPr id="2097183" name="Image 0" descr="/home/claude/sih/icons/icon_bolt_white.png"/>
          <p:cNvPicPr>
            <a:picLocks noChangeAspect="1"/>
          </p:cNvPicPr>
          <p:nvPr/>
        </p:nvPicPr>
        <p:blipFill>
          <a:blip xmlns:r="http://schemas.openxmlformats.org/officeDocument/2006/relationships" r:embed="rId1"/>
          <a:stretch>
            <a:fillRect/>
          </a:stretch>
        </p:blipFill>
        <p:spPr>
          <a:xfrm>
            <a:off x="645018" y="1925178"/>
            <a:ext cx="374172" cy="374172"/>
          </a:xfrm>
          <a:prstGeom prst="rect"/>
        </p:spPr>
      </p:pic>
      <p:sp>
        <p:nvSpPr>
          <p:cNvPr id="1048913" name="Text 3"/>
          <p:cNvSpPr/>
          <p:nvPr/>
        </p:nvSpPr>
        <p:spPr>
          <a:xfrm>
            <a:off x="502920" y="248716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Faster Emergency Response</a:t>
            </a:r>
            <a:endParaRPr dirty="0" sz="1250" lang="en-US"/>
          </a:p>
        </p:txBody>
      </p:sp>
      <p:sp>
        <p:nvSpPr>
          <p:cNvPr id="1048914" name="Shape 4"/>
          <p:cNvSpPr/>
          <p:nvPr/>
        </p:nvSpPr>
        <p:spPr>
          <a:xfrm>
            <a:off x="3337560" y="1828800"/>
            <a:ext cx="566928" cy="566928"/>
          </a:xfrm>
          <a:prstGeom prst="ellipse"/>
          <a:solidFill>
            <a:srgbClr val="0F3057"/>
          </a:solidFill>
        </p:spPr>
      </p:sp>
      <p:pic>
        <p:nvPicPr>
          <p:cNvPr id="2097184" name="Image 1" descr="/home/claude/sih/icons/icon_stopwatch_white.png"/>
          <p:cNvPicPr>
            <a:picLocks noChangeAspect="1"/>
          </p:cNvPicPr>
          <p:nvPr/>
        </p:nvPicPr>
        <p:blipFill>
          <a:blip xmlns:r="http://schemas.openxmlformats.org/officeDocument/2006/relationships" r:embed="rId2"/>
          <a:stretch>
            <a:fillRect/>
          </a:stretch>
        </p:blipFill>
        <p:spPr>
          <a:xfrm>
            <a:off x="3433938" y="1925178"/>
            <a:ext cx="374172" cy="374172"/>
          </a:xfrm>
          <a:prstGeom prst="rect"/>
        </p:spPr>
      </p:pic>
      <p:sp>
        <p:nvSpPr>
          <p:cNvPr id="1048915" name="Text 5"/>
          <p:cNvSpPr/>
          <p:nvPr/>
        </p:nvSpPr>
        <p:spPr>
          <a:xfrm>
            <a:off x="3291840" y="248716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Reduced Waiting Time</a:t>
            </a:r>
            <a:endParaRPr dirty="0" sz="1250" lang="en-US"/>
          </a:p>
        </p:txBody>
      </p:sp>
      <p:sp>
        <p:nvSpPr>
          <p:cNvPr id="1048916" name="Shape 6"/>
          <p:cNvSpPr/>
          <p:nvPr/>
        </p:nvSpPr>
        <p:spPr>
          <a:xfrm>
            <a:off x="548640" y="3246120"/>
            <a:ext cx="566928" cy="566928"/>
          </a:xfrm>
          <a:prstGeom prst="ellipse"/>
          <a:solidFill>
            <a:srgbClr val="0F3057"/>
          </a:solidFill>
        </p:spPr>
      </p:sp>
      <p:pic>
        <p:nvPicPr>
          <p:cNvPr id="2097185" name="Image 2" descr="/home/claude/sih/icons/icon_sort_white.png"/>
          <p:cNvPicPr>
            <a:picLocks noChangeAspect="1"/>
          </p:cNvPicPr>
          <p:nvPr/>
        </p:nvPicPr>
        <p:blipFill>
          <a:blip xmlns:r="http://schemas.openxmlformats.org/officeDocument/2006/relationships" r:embed="rId3"/>
          <a:stretch>
            <a:fillRect/>
          </a:stretch>
        </p:blipFill>
        <p:spPr>
          <a:xfrm>
            <a:off x="645018" y="3342498"/>
            <a:ext cx="374172" cy="374172"/>
          </a:xfrm>
          <a:prstGeom prst="rect"/>
        </p:spPr>
      </p:pic>
      <p:sp>
        <p:nvSpPr>
          <p:cNvPr id="1048917" name="Text 7"/>
          <p:cNvSpPr/>
          <p:nvPr/>
        </p:nvSpPr>
        <p:spPr>
          <a:xfrm>
            <a:off x="502920" y="390448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Better Patient Prioritization</a:t>
            </a:r>
            <a:endParaRPr dirty="0" sz="1250" lang="en-US"/>
          </a:p>
        </p:txBody>
      </p:sp>
      <p:sp>
        <p:nvSpPr>
          <p:cNvPr id="1048918" name="Shape 8"/>
          <p:cNvSpPr/>
          <p:nvPr/>
        </p:nvSpPr>
        <p:spPr>
          <a:xfrm>
            <a:off x="3337560" y="3246120"/>
            <a:ext cx="566928" cy="566928"/>
          </a:xfrm>
          <a:prstGeom prst="ellipse"/>
          <a:solidFill>
            <a:srgbClr val="0F3057"/>
          </a:solidFill>
        </p:spPr>
      </p:sp>
      <p:pic>
        <p:nvPicPr>
          <p:cNvPr id="2097186" name="Image 3" descr="/home/claude/sih/icons/icon_chartline_white.png"/>
          <p:cNvPicPr>
            <a:picLocks noChangeAspect="1"/>
          </p:cNvPicPr>
          <p:nvPr/>
        </p:nvPicPr>
        <p:blipFill>
          <a:blip xmlns:r="http://schemas.openxmlformats.org/officeDocument/2006/relationships" r:embed="rId4"/>
          <a:stretch>
            <a:fillRect/>
          </a:stretch>
        </p:blipFill>
        <p:spPr>
          <a:xfrm>
            <a:off x="3433938" y="3342498"/>
            <a:ext cx="374172" cy="374172"/>
          </a:xfrm>
          <a:prstGeom prst="rect"/>
        </p:spPr>
      </p:pic>
      <p:sp>
        <p:nvSpPr>
          <p:cNvPr id="1048919" name="Text 9"/>
          <p:cNvSpPr/>
          <p:nvPr/>
        </p:nvSpPr>
        <p:spPr>
          <a:xfrm>
            <a:off x="3291840" y="390448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Improved Hospital Efficiency</a:t>
            </a:r>
            <a:endParaRPr dirty="0" sz="1250" lang="en-US"/>
          </a:p>
        </p:txBody>
      </p:sp>
      <p:sp>
        <p:nvSpPr>
          <p:cNvPr id="1048920" name="Shape 10"/>
          <p:cNvSpPr/>
          <p:nvPr/>
        </p:nvSpPr>
        <p:spPr>
          <a:xfrm>
            <a:off x="548640" y="4663440"/>
            <a:ext cx="566928" cy="566928"/>
          </a:xfrm>
          <a:prstGeom prst="ellipse"/>
          <a:solidFill>
            <a:srgbClr val="0F3057"/>
          </a:solidFill>
        </p:spPr>
      </p:sp>
      <p:pic>
        <p:nvPicPr>
          <p:cNvPr id="2097187" name="Image 4" descr="/home/claude/sih/icons/icon_dashboard_white.png"/>
          <p:cNvPicPr>
            <a:picLocks noChangeAspect="1"/>
          </p:cNvPicPr>
          <p:nvPr/>
        </p:nvPicPr>
        <p:blipFill>
          <a:blip xmlns:r="http://schemas.openxmlformats.org/officeDocument/2006/relationships" r:embed="rId5"/>
          <a:stretch>
            <a:fillRect/>
          </a:stretch>
        </p:blipFill>
        <p:spPr>
          <a:xfrm>
            <a:off x="645018" y="4759818"/>
            <a:ext cx="374172" cy="374172"/>
          </a:xfrm>
          <a:prstGeom prst="rect"/>
        </p:spPr>
      </p:pic>
      <p:sp>
        <p:nvSpPr>
          <p:cNvPr id="1048921" name="Text 11"/>
          <p:cNvSpPr/>
          <p:nvPr/>
        </p:nvSpPr>
        <p:spPr>
          <a:xfrm>
            <a:off x="502920" y="532180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Real-Time Monitoring</a:t>
            </a:r>
            <a:endParaRPr dirty="0" sz="1250" lang="en-US"/>
          </a:p>
        </p:txBody>
      </p:sp>
      <p:sp>
        <p:nvSpPr>
          <p:cNvPr id="1048922" name="Shape 12"/>
          <p:cNvSpPr/>
          <p:nvPr/>
        </p:nvSpPr>
        <p:spPr>
          <a:xfrm>
            <a:off x="3337560" y="4663440"/>
            <a:ext cx="566928" cy="566928"/>
          </a:xfrm>
          <a:prstGeom prst="ellipse"/>
          <a:solidFill>
            <a:srgbClr val="0F3057"/>
          </a:solidFill>
        </p:spPr>
      </p:sp>
      <p:pic>
        <p:nvPicPr>
          <p:cNvPr id="2097188" name="Image 5" descr="/home/claude/sih/icons/icon_heartbeat_white2.png"/>
          <p:cNvPicPr>
            <a:picLocks noChangeAspect="1"/>
          </p:cNvPicPr>
          <p:nvPr/>
        </p:nvPicPr>
        <p:blipFill>
          <a:blip xmlns:r="http://schemas.openxmlformats.org/officeDocument/2006/relationships" r:embed="rId6"/>
          <a:stretch>
            <a:fillRect/>
          </a:stretch>
        </p:blipFill>
        <p:spPr>
          <a:xfrm>
            <a:off x="3433938" y="4759818"/>
            <a:ext cx="374172" cy="374172"/>
          </a:xfrm>
          <a:prstGeom prst="rect"/>
        </p:spPr>
      </p:pic>
      <p:sp>
        <p:nvSpPr>
          <p:cNvPr id="1048923" name="Text 13"/>
          <p:cNvSpPr/>
          <p:nvPr/>
        </p:nvSpPr>
        <p:spPr>
          <a:xfrm>
            <a:off x="3291840" y="5321808"/>
            <a:ext cx="2743200" cy="640080"/>
          </a:xfrm>
          <a:prstGeom prst="rect"/>
          <a:noFill/>
        </p:spPr>
        <p:txBody>
          <a:bodyPr anchor="ctr" bIns="0" lIns="0" rIns="0" rtlCol="0" tIns="0" wrap="square"/>
          <a:p>
            <a:pPr indent="0" marL="0">
              <a:lnSpc>
                <a:spcPct val="115000"/>
              </a:lnSpc>
              <a:buNone/>
            </a:pPr>
            <a:r>
              <a:rPr b="1" dirty="0" sz="1250" lang="en-US">
                <a:solidFill>
                  <a:srgbClr val="1E293B"/>
                </a:solidFill>
                <a:latin typeface="Calibri" pitchFamily="34" charset="0"/>
                <a:ea typeface="Calibri" pitchFamily="34" charset="-122"/>
                <a:cs typeface="Calibri" pitchFamily="34" charset="-120"/>
              </a:rPr>
              <a:t>Better Healthcare Outcomes</a:t>
            </a:r>
            <a:endParaRPr dirty="0" sz="1250" lang="en-US"/>
          </a:p>
        </p:txBody>
      </p:sp>
      <p:sp>
        <p:nvSpPr>
          <p:cNvPr id="1048924" name="Text 14"/>
          <p:cNvSpPr/>
          <p:nvPr/>
        </p:nvSpPr>
        <p:spPr>
          <a:xfrm>
            <a:off x="5989320" y="1627632"/>
            <a:ext cx="5650992" cy="274320"/>
          </a:xfrm>
          <a:prstGeom prst="rect"/>
          <a:noFill/>
        </p:spPr>
        <p:txBody>
          <a:bodyPr anchor="ctr" bIns="0" lIns="0" rIns="0" rtlCol="0" tIns="0" wrap="square"/>
          <a:p>
            <a:pPr indent="0" marL="0">
              <a:buNone/>
            </a:pPr>
            <a:r>
              <a:rPr b="1" dirty="0" sz="1150" kern="0" lang="en-US" spc="150">
                <a:solidFill>
                  <a:srgbClr val="1C7293"/>
                </a:solidFill>
                <a:latin typeface="Calibri" pitchFamily="34" charset="0"/>
                <a:ea typeface="Calibri" pitchFamily="34" charset="-122"/>
                <a:cs typeface="Calibri" pitchFamily="34" charset="-120"/>
              </a:rPr>
              <a:t>PROJECTED IMPACT</a:t>
            </a:r>
            <a:endParaRPr dirty="0" sz="1150" lang="en-US"/>
          </a:p>
        </p:txBody>
      </p:sp>
      <p:sp>
        <p:nvSpPr>
          <p:cNvPr id="1048925" name="Shape 15"/>
          <p:cNvSpPr/>
          <p:nvPr/>
        </p:nvSpPr>
        <p:spPr>
          <a:xfrm>
            <a:off x="5989320" y="1947672"/>
            <a:ext cx="2734056" cy="868680"/>
          </a:xfrm>
          <a:prstGeom prst="roundRect">
            <a:avLst>
              <a:gd name="adj" fmla="val 8421"/>
            </a:avLst>
          </a:prstGeom>
          <a:solidFill>
            <a:srgbClr val="F7F9FB"/>
          </a:solidFill>
          <a:ln w="12700">
            <a:solidFill>
              <a:srgbClr val="DCE6EC"/>
            </a:solidFill>
            <a:prstDash val="solid"/>
          </a:ln>
        </p:spPr>
      </p:sp>
      <p:sp>
        <p:nvSpPr>
          <p:cNvPr id="1048926" name="Text 16"/>
          <p:cNvSpPr/>
          <p:nvPr/>
        </p:nvSpPr>
        <p:spPr>
          <a:xfrm>
            <a:off x="6172200" y="2020824"/>
            <a:ext cx="2368296" cy="457200"/>
          </a:xfrm>
          <a:prstGeom prst="rect"/>
          <a:noFill/>
        </p:spPr>
        <p:txBody>
          <a:bodyPr anchor="ctr" bIns="0" lIns="0" rIns="0" rtlCol="0" tIns="0" wrap="square"/>
          <a:p>
            <a:pPr indent="0" marL="0">
              <a:buNone/>
            </a:pPr>
            <a:r>
              <a:rPr b="1" dirty="0" sz="2600" lang="en-US">
                <a:solidFill>
                  <a:srgbClr val="1C7293"/>
                </a:solidFill>
                <a:latin typeface="Cambria" pitchFamily="34" charset="0"/>
                <a:ea typeface="Cambria" pitchFamily="34" charset="-122"/>
                <a:cs typeface="Cambria" pitchFamily="34" charset="-120"/>
              </a:rPr>
              <a:t>60%</a:t>
            </a:r>
            <a:endParaRPr dirty="0" sz="2600" lang="en-US"/>
          </a:p>
        </p:txBody>
      </p:sp>
      <p:sp>
        <p:nvSpPr>
          <p:cNvPr id="1048927" name="Text 17"/>
          <p:cNvSpPr/>
          <p:nvPr/>
        </p:nvSpPr>
        <p:spPr>
          <a:xfrm>
            <a:off x="6172200" y="2478024"/>
            <a:ext cx="2368296" cy="320040"/>
          </a:xfrm>
          <a:prstGeom prst="rect"/>
          <a:noFill/>
        </p:spPr>
        <p:txBody>
          <a:bodyPr anchor="ctr" bIns="0" lIns="0" rIns="0" rtlCol="0" tIns="0" wrap="square"/>
          <a:p>
            <a:pPr indent="0" marL="0">
              <a:lnSpc>
                <a:spcPct val="110000"/>
              </a:lnSpc>
              <a:buNone/>
            </a:pPr>
            <a:r>
              <a:rPr dirty="0" sz="1050" lang="en-US">
                <a:solidFill>
                  <a:srgbClr val="5B6B7C"/>
                </a:solidFill>
                <a:latin typeface="Calibri" pitchFamily="34" charset="0"/>
                <a:ea typeface="Calibri" pitchFamily="34" charset="-122"/>
                <a:cs typeface="Calibri" pitchFamily="34" charset="-120"/>
              </a:rPr>
              <a:t>Reduction in Avg. Wait Time</a:t>
            </a:r>
            <a:endParaRPr dirty="0" sz="1050" lang="en-US"/>
          </a:p>
        </p:txBody>
      </p:sp>
      <p:sp>
        <p:nvSpPr>
          <p:cNvPr id="1048928" name="Shape 18"/>
          <p:cNvSpPr/>
          <p:nvPr/>
        </p:nvSpPr>
        <p:spPr>
          <a:xfrm>
            <a:off x="8906256" y="1947672"/>
            <a:ext cx="2734056" cy="868680"/>
          </a:xfrm>
          <a:prstGeom prst="roundRect">
            <a:avLst>
              <a:gd name="adj" fmla="val 8421"/>
            </a:avLst>
          </a:prstGeom>
          <a:solidFill>
            <a:srgbClr val="F7F9FB"/>
          </a:solidFill>
          <a:ln w="12700">
            <a:solidFill>
              <a:srgbClr val="DCE6EC"/>
            </a:solidFill>
            <a:prstDash val="solid"/>
          </a:ln>
        </p:spPr>
      </p:sp>
      <p:sp>
        <p:nvSpPr>
          <p:cNvPr id="1048929" name="Text 19"/>
          <p:cNvSpPr/>
          <p:nvPr/>
        </p:nvSpPr>
        <p:spPr>
          <a:xfrm>
            <a:off x="9089136" y="2020824"/>
            <a:ext cx="2368296" cy="457200"/>
          </a:xfrm>
          <a:prstGeom prst="rect"/>
          <a:noFill/>
        </p:spPr>
        <p:txBody>
          <a:bodyPr anchor="ctr" bIns="0" lIns="0" rIns="0" rtlCol="0" tIns="0" wrap="square"/>
          <a:p>
            <a:pPr indent="0" marL="0">
              <a:buNone/>
            </a:pPr>
            <a:r>
              <a:rPr b="1" dirty="0" sz="2600" lang="en-US">
                <a:solidFill>
                  <a:srgbClr val="1C7293"/>
                </a:solidFill>
                <a:latin typeface="Cambria" pitchFamily="34" charset="0"/>
                <a:ea typeface="Cambria" pitchFamily="34" charset="-122"/>
                <a:cs typeface="Cambria" pitchFamily="34" charset="-120"/>
              </a:rPr>
              <a:t>3x</a:t>
            </a:r>
            <a:endParaRPr dirty="0" sz="2600" lang="en-US"/>
          </a:p>
        </p:txBody>
      </p:sp>
      <p:sp>
        <p:nvSpPr>
          <p:cNvPr id="1048930" name="Text 20"/>
          <p:cNvSpPr/>
          <p:nvPr/>
        </p:nvSpPr>
        <p:spPr>
          <a:xfrm>
            <a:off x="9089136" y="2478024"/>
            <a:ext cx="2368296" cy="320040"/>
          </a:xfrm>
          <a:prstGeom prst="rect"/>
          <a:noFill/>
        </p:spPr>
        <p:txBody>
          <a:bodyPr anchor="ctr" bIns="0" lIns="0" rIns="0" rtlCol="0" tIns="0" wrap="square"/>
          <a:p>
            <a:pPr indent="0" marL="0">
              <a:lnSpc>
                <a:spcPct val="110000"/>
              </a:lnSpc>
              <a:buNone/>
            </a:pPr>
            <a:r>
              <a:rPr dirty="0" sz="1050" lang="en-US">
                <a:solidFill>
                  <a:srgbClr val="5B6B7C"/>
                </a:solidFill>
                <a:latin typeface="Calibri" pitchFamily="34" charset="0"/>
                <a:ea typeface="Calibri" pitchFamily="34" charset="-122"/>
                <a:cs typeface="Calibri" pitchFamily="34" charset="-120"/>
              </a:rPr>
              <a:t>Faster Critical Response</a:t>
            </a:r>
            <a:endParaRPr dirty="0" sz="1050" lang="en-US"/>
          </a:p>
        </p:txBody>
      </p:sp>
      <p:sp>
        <p:nvSpPr>
          <p:cNvPr id="1048931" name="Shape 21"/>
          <p:cNvSpPr/>
          <p:nvPr/>
        </p:nvSpPr>
        <p:spPr>
          <a:xfrm>
            <a:off x="5989320" y="2953512"/>
            <a:ext cx="2734056" cy="868680"/>
          </a:xfrm>
          <a:prstGeom prst="roundRect">
            <a:avLst>
              <a:gd name="adj" fmla="val 8421"/>
            </a:avLst>
          </a:prstGeom>
          <a:solidFill>
            <a:srgbClr val="F7F9FB"/>
          </a:solidFill>
          <a:ln w="12700">
            <a:solidFill>
              <a:srgbClr val="DCE6EC"/>
            </a:solidFill>
            <a:prstDash val="solid"/>
          </a:ln>
        </p:spPr>
      </p:sp>
      <p:sp>
        <p:nvSpPr>
          <p:cNvPr id="1048932" name="Text 22"/>
          <p:cNvSpPr/>
          <p:nvPr/>
        </p:nvSpPr>
        <p:spPr>
          <a:xfrm>
            <a:off x="6172200" y="3026664"/>
            <a:ext cx="2368296" cy="457200"/>
          </a:xfrm>
          <a:prstGeom prst="rect"/>
          <a:noFill/>
        </p:spPr>
        <p:txBody>
          <a:bodyPr anchor="ctr" bIns="0" lIns="0" rIns="0" rtlCol="0" tIns="0" wrap="square"/>
          <a:p>
            <a:pPr indent="0" marL="0">
              <a:buNone/>
            </a:pPr>
            <a:r>
              <a:rPr b="1" dirty="0" sz="2600" lang="en-US">
                <a:solidFill>
                  <a:srgbClr val="1C7293"/>
                </a:solidFill>
                <a:latin typeface="Cambria" pitchFamily="34" charset="0"/>
                <a:ea typeface="Cambria" pitchFamily="34" charset="-122"/>
                <a:cs typeface="Cambria" pitchFamily="34" charset="-120"/>
              </a:rPr>
              <a:t>100%</a:t>
            </a:r>
            <a:endParaRPr dirty="0" sz="2600" lang="en-US"/>
          </a:p>
        </p:txBody>
      </p:sp>
      <p:sp>
        <p:nvSpPr>
          <p:cNvPr id="1048933" name="Text 23"/>
          <p:cNvSpPr/>
          <p:nvPr/>
        </p:nvSpPr>
        <p:spPr>
          <a:xfrm>
            <a:off x="6172200" y="3483864"/>
            <a:ext cx="2368296" cy="320040"/>
          </a:xfrm>
          <a:prstGeom prst="rect"/>
          <a:noFill/>
        </p:spPr>
        <p:txBody>
          <a:bodyPr anchor="ctr" bIns="0" lIns="0" rIns="0" rtlCol="0" tIns="0" wrap="square"/>
          <a:p>
            <a:pPr indent="0" marL="0">
              <a:lnSpc>
                <a:spcPct val="110000"/>
              </a:lnSpc>
              <a:buNone/>
            </a:pPr>
            <a:r>
              <a:rPr dirty="0" sz="1050" lang="en-US">
                <a:solidFill>
                  <a:srgbClr val="5B6B7C"/>
                </a:solidFill>
                <a:latin typeface="Calibri" pitchFamily="34" charset="0"/>
                <a:ea typeface="Calibri" pitchFamily="34" charset="-122"/>
                <a:cs typeface="Calibri" pitchFamily="34" charset="-120"/>
              </a:rPr>
              <a:t>Real-Time Queue Visibility</a:t>
            </a:r>
            <a:endParaRPr dirty="0" sz="1050" lang="en-US"/>
          </a:p>
        </p:txBody>
      </p:sp>
      <p:sp>
        <p:nvSpPr>
          <p:cNvPr id="1048934" name="Shape 24"/>
          <p:cNvSpPr/>
          <p:nvPr/>
        </p:nvSpPr>
        <p:spPr>
          <a:xfrm>
            <a:off x="8906256" y="2953512"/>
            <a:ext cx="2734056" cy="868680"/>
          </a:xfrm>
          <a:prstGeom prst="roundRect">
            <a:avLst>
              <a:gd name="adj" fmla="val 8421"/>
            </a:avLst>
          </a:prstGeom>
          <a:solidFill>
            <a:srgbClr val="F7F9FB"/>
          </a:solidFill>
          <a:ln w="12700">
            <a:solidFill>
              <a:srgbClr val="DCE6EC"/>
            </a:solidFill>
            <a:prstDash val="solid"/>
          </a:ln>
        </p:spPr>
      </p:sp>
      <p:sp>
        <p:nvSpPr>
          <p:cNvPr id="1048935" name="Text 25"/>
          <p:cNvSpPr/>
          <p:nvPr/>
        </p:nvSpPr>
        <p:spPr>
          <a:xfrm>
            <a:off x="9089136" y="3026664"/>
            <a:ext cx="2368296" cy="457200"/>
          </a:xfrm>
          <a:prstGeom prst="rect"/>
          <a:noFill/>
        </p:spPr>
        <p:txBody>
          <a:bodyPr anchor="ctr" bIns="0" lIns="0" rIns="0" rtlCol="0" tIns="0" wrap="square"/>
          <a:p>
            <a:pPr indent="0" marL="0">
              <a:buNone/>
            </a:pPr>
            <a:r>
              <a:rPr b="1" dirty="0" sz="2600" lang="en-US">
                <a:solidFill>
                  <a:srgbClr val="1C7293"/>
                </a:solidFill>
                <a:latin typeface="Cambria" pitchFamily="34" charset="0"/>
                <a:ea typeface="Cambria" pitchFamily="34" charset="-122"/>
                <a:cs typeface="Cambria" pitchFamily="34" charset="-120"/>
              </a:rPr>
              <a:t>24/7</a:t>
            </a:r>
            <a:endParaRPr dirty="0" sz="2600" lang="en-US"/>
          </a:p>
        </p:txBody>
      </p:sp>
      <p:sp>
        <p:nvSpPr>
          <p:cNvPr id="1048936" name="Text 26"/>
          <p:cNvSpPr/>
          <p:nvPr/>
        </p:nvSpPr>
        <p:spPr>
          <a:xfrm>
            <a:off x="9089136" y="3483864"/>
            <a:ext cx="2368296" cy="320040"/>
          </a:xfrm>
          <a:prstGeom prst="rect"/>
          <a:noFill/>
        </p:spPr>
        <p:txBody>
          <a:bodyPr anchor="ctr" bIns="0" lIns="0" rIns="0" rtlCol="0" tIns="0" wrap="square"/>
          <a:p>
            <a:pPr indent="0" marL="0">
              <a:lnSpc>
                <a:spcPct val="110000"/>
              </a:lnSpc>
              <a:buNone/>
            </a:pPr>
            <a:r>
              <a:rPr dirty="0" sz="1050" lang="en-US">
                <a:solidFill>
                  <a:srgbClr val="5B6B7C"/>
                </a:solidFill>
                <a:latin typeface="Calibri" pitchFamily="34" charset="0"/>
                <a:ea typeface="Calibri" pitchFamily="34" charset="-122"/>
                <a:cs typeface="Calibri" pitchFamily="34" charset="-120"/>
              </a:rPr>
              <a:t>Automated Prioritization</a:t>
            </a:r>
            <a:endParaRPr dirty="0" sz="1050" lang="en-US"/>
          </a:p>
        </p:txBody>
      </p:sp>
      <p:sp>
        <p:nvSpPr>
          <p:cNvPr id="1048937" name="Text 27"/>
          <p:cNvSpPr/>
          <p:nvPr/>
        </p:nvSpPr>
        <p:spPr>
          <a:xfrm>
            <a:off x="5989320" y="4050792"/>
            <a:ext cx="5650992" cy="274320"/>
          </a:xfrm>
          <a:prstGeom prst="rect"/>
          <a:noFill/>
        </p:spPr>
        <p:txBody>
          <a:bodyPr anchor="ctr" bIns="0" lIns="0" rIns="0" rtlCol="0" tIns="0" wrap="square"/>
          <a:p>
            <a:pPr indent="0" marL="0">
              <a:buNone/>
            </a:pPr>
            <a:r>
              <a:rPr b="1" dirty="0" sz="1150" kern="0" lang="en-US" spc="100">
                <a:solidFill>
                  <a:srgbClr val="1C7293"/>
                </a:solidFill>
                <a:latin typeface="Calibri" pitchFamily="34" charset="0"/>
                <a:ea typeface="Calibri" pitchFamily="34" charset="-122"/>
                <a:cs typeface="Calibri" pitchFamily="34" charset="-120"/>
              </a:rPr>
              <a:t>Average ER Wait Time (minutes)</a:t>
            </a:r>
            <a:endParaRPr dirty="0" sz="1150" lang="en-US"/>
          </a:p>
        </p:txBody>
      </p:sp>
      <p:sp>
        <p:nvSpPr>
          <p:cNvPr id="1048938" name="Text 28"/>
          <p:cNvSpPr/>
          <p:nvPr/>
        </p:nvSpPr>
        <p:spPr>
          <a:xfrm>
            <a:off x="5989320" y="5742432"/>
            <a:ext cx="5650992" cy="274320"/>
          </a:xfrm>
          <a:prstGeom prst="rect"/>
          <a:noFill/>
        </p:spPr>
        <p:txBody>
          <a:bodyPr anchor="ctr" bIns="0" lIns="0" rIns="0" rtlCol="0" tIns="0" wrap="square"/>
          <a:p>
            <a:pPr indent="0" marL="0">
              <a:buNone/>
            </a:pPr>
            <a:r>
              <a:rPr dirty="0" sz="900" i="1" lang="en-US">
                <a:solidFill>
                  <a:srgbClr val="5B6B7C"/>
                </a:solidFill>
                <a:latin typeface="Calibri" pitchFamily="34" charset="0"/>
                <a:ea typeface="Calibri" pitchFamily="34" charset="-122"/>
                <a:cs typeface="Calibri" pitchFamily="34" charset="-120"/>
              </a:rPr>
              <a:t>*Projected impact based on system design and simulated workload.</a:t>
            </a:r>
            <a:endParaRPr dirty="0" sz="900" lang="en-US"/>
          </a:p>
        </p:txBody>
      </p:sp>
      <p:sp>
        <p:nvSpPr>
          <p:cNvPr id="1048939" name="Text 29"/>
          <p:cNvSpPr/>
          <p:nvPr/>
        </p:nvSpPr>
        <p:spPr>
          <a:xfrm>
            <a:off x="457200" y="6473952"/>
            <a:ext cx="7315200" cy="274320"/>
          </a:xfrm>
          <a:prstGeom prst="rect"/>
          <a:noFill/>
        </p:spPr>
        <p:txBody>
          <a:bodyPr anchor="ctr" bIns="0" lIns="0" rIns="0" rtlCol="0" tIns="0" wrap="square"/>
          <a:p>
            <a:pPr algn="l" indent="0" marL="0">
              <a:buNone/>
            </a:pPr>
            <a:r>
              <a:rPr dirty="0" sz="900" lang="en-US">
                <a:solidFill>
                  <a:srgbClr val="5B6B7C"/>
                </a:solidFill>
                <a:latin typeface="Calibri" pitchFamily="34" charset="0"/>
                <a:ea typeface="Calibri" pitchFamily="34" charset="-122"/>
                <a:cs typeface="Calibri" pitchFamily="34" charset="-120"/>
              </a:rPr>
              <a:t/>
            </a:r>
            <a:endParaRPr dirty="0" sz="900" lang="en-US"/>
          </a:p>
        </p:txBody>
      </p:sp>
      <p:sp>
        <p:nvSpPr>
          <p:cNvPr id="1048940" name="Text 30"/>
          <p:cNvSpPr/>
          <p:nvPr/>
        </p:nvSpPr>
        <p:spPr>
          <a:xfrm>
            <a:off x="10637215" y="6473952"/>
            <a:ext cx="1097280" cy="274320"/>
          </a:xfrm>
          <a:prstGeom prst="rect"/>
          <a:noFill/>
        </p:spPr>
        <p:txBody>
          <a:bodyPr anchor="ctr" bIns="0" lIns="0" rIns="0" rtlCol="0" tIns="0" wrap="square"/>
          <a:p>
            <a:pPr algn="r" indent="0" marL="0">
              <a:buNone/>
            </a:pPr>
            <a:r>
              <a:rPr dirty="0" sz="900" lang="en-US">
                <a:solidFill>
                  <a:srgbClr val="5B6B7C"/>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42" name=""/>
        <p:cNvGrpSpPr/>
        <p:nvPr/>
      </p:nvGrpSpPr>
      <p:grpSpPr>
        <a:xfrm>
          <a:off x="0" y="0"/>
          <a:ext cx="0" cy="0"/>
          <a:chOff x="0" y="0"/>
          <a:chExt cx="0" cy="0"/>
        </a:xfrm>
      </p:grpSpPr>
      <p:sp>
        <p:nvSpPr>
          <p:cNvPr id="1048944" name="Shape 0"/>
          <p:cNvSpPr/>
          <p:nvPr/>
        </p:nvSpPr>
        <p:spPr>
          <a:xfrm rot="1080000">
            <a:off x="8229600" y="-914400"/>
            <a:ext cx="6400800" cy="9144000"/>
          </a:xfrm>
          <a:prstGeom prst="rect"/>
          <a:solidFill>
            <a:srgbClr val="0F3057">
              <a:alpha val="65000"/>
            </a:srgbClr>
          </a:solidFill>
        </p:spPr>
      </p:sp>
      <p:sp>
        <p:nvSpPr>
          <p:cNvPr id="1048945" name="Text 1"/>
          <p:cNvSpPr/>
          <p:nvPr/>
        </p:nvSpPr>
        <p:spPr>
          <a:xfrm>
            <a:off x="548640" y="411480"/>
            <a:ext cx="7315200" cy="292608"/>
          </a:xfrm>
          <a:prstGeom prst="rect"/>
          <a:noFill/>
        </p:spPr>
        <p:txBody>
          <a:bodyPr anchor="ctr" bIns="0" lIns="0" rIns="0" rtlCol="0" tIns="0" wrap="square"/>
          <a:p>
            <a:pPr indent="0" marL="0">
              <a:buNone/>
            </a:pPr>
            <a:r>
              <a:rPr b="1" dirty="0" sz="1300" kern="0" lang="en-US" spc="200">
                <a:solidFill>
                  <a:srgbClr val="8FB8CC"/>
                </a:solidFill>
                <a:latin typeface="Calibri" pitchFamily="34" charset="0"/>
                <a:ea typeface="Calibri" pitchFamily="34" charset="-122"/>
                <a:cs typeface="Calibri" pitchFamily="34" charset="-120"/>
              </a:rPr>
              <a:t>WHAT'S NEXT</a:t>
            </a:r>
            <a:endParaRPr dirty="0" sz="1300" lang="en-US"/>
          </a:p>
        </p:txBody>
      </p:sp>
      <p:sp>
        <p:nvSpPr>
          <p:cNvPr id="1048946" name="Text 2"/>
          <p:cNvSpPr/>
          <p:nvPr/>
        </p:nvSpPr>
        <p:spPr>
          <a:xfrm>
            <a:off x="548640" y="685800"/>
            <a:ext cx="10058400" cy="640080"/>
          </a:xfrm>
          <a:prstGeom prst="rect"/>
          <a:noFill/>
        </p:spPr>
        <p:txBody>
          <a:bodyPr anchor="ctr" bIns="0" lIns="0" rIns="0" rtlCol="0" tIns="0" wrap="square"/>
          <a:p>
            <a:pPr indent="0" marL="0">
              <a:buNone/>
            </a:pPr>
            <a:r>
              <a:rPr b="1" dirty="0" sz="3000" lang="en-US">
                <a:solidFill>
                  <a:srgbClr val="FFFFFF"/>
                </a:solidFill>
                <a:latin typeface="Cambria" pitchFamily="34" charset="0"/>
                <a:ea typeface="Cambria" pitchFamily="34" charset="-122"/>
                <a:cs typeface="Cambria" pitchFamily="34" charset="-120"/>
              </a:rPr>
              <a:t>Future Scope &amp; Conclusion</a:t>
            </a:r>
            <a:endParaRPr dirty="0" sz="3000" lang="en-US"/>
          </a:p>
        </p:txBody>
      </p:sp>
      <p:sp>
        <p:nvSpPr>
          <p:cNvPr id="1048947" name="Text 3"/>
          <p:cNvSpPr/>
          <p:nvPr/>
        </p:nvSpPr>
        <p:spPr>
          <a:xfrm>
            <a:off x="548640" y="1691640"/>
            <a:ext cx="5486400" cy="274320"/>
          </a:xfrm>
          <a:prstGeom prst="rect"/>
          <a:noFill/>
        </p:spPr>
        <p:txBody>
          <a:bodyPr anchor="ctr" bIns="0" lIns="0" rIns="0" rtlCol="0" tIns="0" wrap="square"/>
          <a:p>
            <a:pPr indent="0" marL="0">
              <a:buNone/>
            </a:pPr>
            <a:r>
              <a:rPr b="1" dirty="0" sz="1150" kern="0" lang="en-US" spc="150">
                <a:solidFill>
                  <a:srgbClr val="8FB8CC"/>
                </a:solidFill>
                <a:latin typeface="Calibri" pitchFamily="34" charset="0"/>
                <a:ea typeface="Calibri" pitchFamily="34" charset="-122"/>
                <a:cs typeface="Calibri" pitchFamily="34" charset="-120"/>
              </a:rPr>
              <a:t>FUTURE ENHANCEMENTS</a:t>
            </a:r>
            <a:endParaRPr dirty="0" sz="1150" lang="en-US"/>
          </a:p>
        </p:txBody>
      </p:sp>
      <p:sp>
        <p:nvSpPr>
          <p:cNvPr id="1048948" name="Shape 4"/>
          <p:cNvSpPr/>
          <p:nvPr/>
        </p:nvSpPr>
        <p:spPr>
          <a:xfrm>
            <a:off x="548640" y="2075688"/>
            <a:ext cx="457200" cy="457200"/>
          </a:xfrm>
          <a:prstGeom prst="ellipse"/>
          <a:solidFill>
            <a:srgbClr val="1C7293"/>
          </a:solidFill>
        </p:spPr>
      </p:sp>
      <p:pic>
        <p:nvPicPr>
          <p:cNvPr id="2097189" name="Image 0" descr="/home/claude/sih/icons/icon_brain_white.png"/>
          <p:cNvPicPr>
            <a:picLocks noChangeAspect="1"/>
          </p:cNvPicPr>
          <p:nvPr/>
        </p:nvPicPr>
        <p:blipFill>
          <a:blip xmlns:r="http://schemas.openxmlformats.org/officeDocument/2006/relationships" r:embed="rId1"/>
          <a:stretch>
            <a:fillRect/>
          </a:stretch>
        </p:blipFill>
        <p:spPr>
          <a:xfrm>
            <a:off x="621792" y="2148840"/>
            <a:ext cx="310896" cy="310896"/>
          </a:xfrm>
          <a:prstGeom prst="rect"/>
        </p:spPr>
      </p:pic>
      <p:sp>
        <p:nvSpPr>
          <p:cNvPr id="1048949" name="Text 5"/>
          <p:cNvSpPr/>
          <p:nvPr/>
        </p:nvSpPr>
        <p:spPr>
          <a:xfrm>
            <a:off x="1170432" y="2039112"/>
            <a:ext cx="4846320" cy="292608"/>
          </a:xfrm>
          <a:prstGeom prst="rect"/>
          <a:noFill/>
        </p:spPr>
        <p:txBody>
          <a:bodyPr anchor="ctr" bIns="0" lIns="0" rIns="0" rtlCol="0" tIns="0" wrap="square"/>
          <a:p>
            <a:pPr indent="0" marL="0">
              <a:buNone/>
            </a:pPr>
            <a:r>
              <a:rPr b="1" dirty="0" sz="1350" lang="en-US">
                <a:solidFill>
                  <a:srgbClr val="FFFFFF"/>
                </a:solidFill>
                <a:latin typeface="Cambria" pitchFamily="34" charset="0"/>
                <a:ea typeface="Cambria" pitchFamily="34" charset="-122"/>
                <a:cs typeface="Cambria" pitchFamily="34" charset="-120"/>
              </a:rPr>
              <a:t>AI-Based Emergency Prediction</a:t>
            </a:r>
            <a:endParaRPr dirty="0" sz="1350" lang="en-US"/>
          </a:p>
        </p:txBody>
      </p:sp>
      <p:sp>
        <p:nvSpPr>
          <p:cNvPr id="1048950" name="Text 6"/>
          <p:cNvSpPr/>
          <p:nvPr/>
        </p:nvSpPr>
        <p:spPr>
          <a:xfrm>
            <a:off x="1170432" y="2331720"/>
            <a:ext cx="4846320" cy="411480"/>
          </a:xfrm>
          <a:prstGeom prst="rect"/>
          <a:noFill/>
        </p:spPr>
        <p:txBody>
          <a:bodyPr anchor="ctr" bIns="0" lIns="0" rIns="0" rtlCol="0" tIns="0" wrap="square"/>
          <a:p>
            <a:pPr indent="0" marL="0">
              <a:lnSpc>
                <a:spcPct val="115000"/>
              </a:lnSpc>
              <a:buNone/>
            </a:pPr>
            <a:r>
              <a:rPr dirty="0" sz="1050" lang="en-US">
                <a:solidFill>
                  <a:srgbClr val="B7CBDA"/>
                </a:solidFill>
                <a:latin typeface="Calibri" pitchFamily="34" charset="0"/>
                <a:ea typeface="Calibri" pitchFamily="34" charset="-122"/>
                <a:cs typeface="Calibri" pitchFamily="34" charset="-120"/>
              </a:rPr>
              <a:t>Forecast patient inflow and critical-case spikes in advance.</a:t>
            </a:r>
            <a:endParaRPr dirty="0" sz="1050" lang="en-US"/>
          </a:p>
        </p:txBody>
      </p:sp>
      <p:sp>
        <p:nvSpPr>
          <p:cNvPr id="1048951" name="Shape 7"/>
          <p:cNvSpPr/>
          <p:nvPr/>
        </p:nvSpPr>
        <p:spPr>
          <a:xfrm>
            <a:off x="548640" y="2852928"/>
            <a:ext cx="457200" cy="457200"/>
          </a:xfrm>
          <a:prstGeom prst="ellipse"/>
          <a:solidFill>
            <a:srgbClr val="1C7293"/>
          </a:solidFill>
        </p:spPr>
      </p:sp>
      <p:pic>
        <p:nvPicPr>
          <p:cNvPr id="2097190" name="Image 1" descr="/home/claude/sih/icons/icon_sms_white.png"/>
          <p:cNvPicPr>
            <a:picLocks noChangeAspect="1"/>
          </p:cNvPicPr>
          <p:nvPr/>
        </p:nvPicPr>
        <p:blipFill>
          <a:blip xmlns:r="http://schemas.openxmlformats.org/officeDocument/2006/relationships" r:embed="rId2"/>
          <a:stretch>
            <a:fillRect/>
          </a:stretch>
        </p:blipFill>
        <p:spPr>
          <a:xfrm>
            <a:off x="621792" y="2926080"/>
            <a:ext cx="310896" cy="310896"/>
          </a:xfrm>
          <a:prstGeom prst="rect"/>
        </p:spPr>
      </p:pic>
      <p:sp>
        <p:nvSpPr>
          <p:cNvPr id="1048952" name="Text 8"/>
          <p:cNvSpPr/>
          <p:nvPr/>
        </p:nvSpPr>
        <p:spPr>
          <a:xfrm>
            <a:off x="1170432" y="2816352"/>
            <a:ext cx="4846320" cy="292608"/>
          </a:xfrm>
          <a:prstGeom prst="rect"/>
          <a:noFill/>
        </p:spPr>
        <p:txBody>
          <a:bodyPr anchor="ctr" bIns="0" lIns="0" rIns="0" rtlCol="0" tIns="0" wrap="square"/>
          <a:p>
            <a:pPr indent="0" marL="0">
              <a:buNone/>
            </a:pPr>
            <a:r>
              <a:rPr b="1" dirty="0" sz="1350" lang="en-US">
                <a:solidFill>
                  <a:srgbClr val="FFFFFF"/>
                </a:solidFill>
                <a:latin typeface="Cambria" pitchFamily="34" charset="0"/>
                <a:ea typeface="Cambria" pitchFamily="34" charset="-122"/>
                <a:cs typeface="Cambria" pitchFamily="34" charset="-120"/>
              </a:rPr>
              <a:t>SMS Alerts</a:t>
            </a:r>
            <a:endParaRPr dirty="0" sz="1350" lang="en-US"/>
          </a:p>
        </p:txBody>
      </p:sp>
      <p:sp>
        <p:nvSpPr>
          <p:cNvPr id="1048953" name="Text 9"/>
          <p:cNvSpPr/>
          <p:nvPr/>
        </p:nvSpPr>
        <p:spPr>
          <a:xfrm>
            <a:off x="1170432" y="3108960"/>
            <a:ext cx="4846320" cy="411480"/>
          </a:xfrm>
          <a:prstGeom prst="rect"/>
          <a:noFill/>
        </p:spPr>
        <p:txBody>
          <a:bodyPr anchor="ctr" bIns="0" lIns="0" rIns="0" rtlCol="0" tIns="0" wrap="square"/>
          <a:p>
            <a:pPr indent="0" marL="0">
              <a:lnSpc>
                <a:spcPct val="115000"/>
              </a:lnSpc>
              <a:buNone/>
            </a:pPr>
            <a:r>
              <a:rPr dirty="0" sz="1050" lang="en-US">
                <a:solidFill>
                  <a:srgbClr val="B7CBDA"/>
                </a:solidFill>
                <a:latin typeface="Calibri" pitchFamily="34" charset="0"/>
                <a:ea typeface="Calibri" pitchFamily="34" charset="-122"/>
                <a:cs typeface="Calibri" pitchFamily="34" charset="-120"/>
              </a:rPr>
              <a:t>Notify patients and staff instantly via text message.</a:t>
            </a:r>
            <a:endParaRPr dirty="0" sz="1050" lang="en-US"/>
          </a:p>
        </p:txBody>
      </p:sp>
      <p:sp>
        <p:nvSpPr>
          <p:cNvPr id="1048954" name="Shape 10"/>
          <p:cNvSpPr/>
          <p:nvPr/>
        </p:nvSpPr>
        <p:spPr>
          <a:xfrm>
            <a:off x="548640" y="3630168"/>
            <a:ext cx="457200" cy="457200"/>
          </a:xfrm>
          <a:prstGeom prst="ellipse"/>
          <a:solidFill>
            <a:srgbClr val="1C7293"/>
          </a:solidFill>
        </p:spPr>
      </p:sp>
      <p:pic>
        <p:nvPicPr>
          <p:cNvPr id="2097191" name="Image 2" descr="/home/claude/sih/icons/icon_mobile_white.png"/>
          <p:cNvPicPr>
            <a:picLocks noChangeAspect="1"/>
          </p:cNvPicPr>
          <p:nvPr/>
        </p:nvPicPr>
        <p:blipFill>
          <a:blip xmlns:r="http://schemas.openxmlformats.org/officeDocument/2006/relationships" r:embed="rId3"/>
          <a:stretch>
            <a:fillRect/>
          </a:stretch>
        </p:blipFill>
        <p:spPr>
          <a:xfrm>
            <a:off x="621792" y="3703320"/>
            <a:ext cx="310896" cy="310896"/>
          </a:xfrm>
          <a:prstGeom prst="rect"/>
        </p:spPr>
      </p:pic>
      <p:sp>
        <p:nvSpPr>
          <p:cNvPr id="1048955" name="Text 11"/>
          <p:cNvSpPr/>
          <p:nvPr/>
        </p:nvSpPr>
        <p:spPr>
          <a:xfrm>
            <a:off x="1170432" y="3593592"/>
            <a:ext cx="4846320" cy="292608"/>
          </a:xfrm>
          <a:prstGeom prst="rect"/>
          <a:noFill/>
        </p:spPr>
        <p:txBody>
          <a:bodyPr anchor="ctr" bIns="0" lIns="0" rIns="0" rtlCol="0" tIns="0" wrap="square"/>
          <a:p>
            <a:pPr indent="0" marL="0">
              <a:buNone/>
            </a:pPr>
            <a:r>
              <a:rPr b="1" dirty="0" sz="1350" lang="en-US">
                <a:solidFill>
                  <a:srgbClr val="FFFFFF"/>
                </a:solidFill>
                <a:latin typeface="Cambria" pitchFamily="34" charset="0"/>
                <a:ea typeface="Cambria" pitchFamily="34" charset="-122"/>
                <a:cs typeface="Cambria" pitchFamily="34" charset="-120"/>
              </a:rPr>
              <a:t>Mobile Application</a:t>
            </a:r>
            <a:endParaRPr dirty="0" sz="1350" lang="en-US"/>
          </a:p>
        </p:txBody>
      </p:sp>
      <p:sp>
        <p:nvSpPr>
          <p:cNvPr id="1048956" name="Text 12"/>
          <p:cNvSpPr/>
          <p:nvPr/>
        </p:nvSpPr>
        <p:spPr>
          <a:xfrm>
            <a:off x="1170432" y="3886200"/>
            <a:ext cx="4846320" cy="411480"/>
          </a:xfrm>
          <a:prstGeom prst="rect"/>
          <a:noFill/>
        </p:spPr>
        <p:txBody>
          <a:bodyPr anchor="ctr" bIns="0" lIns="0" rIns="0" rtlCol="0" tIns="0" wrap="square"/>
          <a:p>
            <a:pPr indent="0" marL="0">
              <a:lnSpc>
                <a:spcPct val="115000"/>
              </a:lnSpc>
              <a:buNone/>
            </a:pPr>
            <a:r>
              <a:rPr dirty="0" sz="1050" lang="en-US">
                <a:solidFill>
                  <a:srgbClr val="B7CBDA"/>
                </a:solidFill>
                <a:latin typeface="Calibri" pitchFamily="34" charset="0"/>
                <a:ea typeface="Calibri" pitchFamily="34" charset="-122"/>
                <a:cs typeface="Calibri" pitchFamily="34" charset="-120"/>
              </a:rPr>
              <a:t>Native apps for on-the-go hospital staff access.</a:t>
            </a:r>
            <a:endParaRPr dirty="0" sz="1050" lang="en-US"/>
          </a:p>
        </p:txBody>
      </p:sp>
      <p:sp>
        <p:nvSpPr>
          <p:cNvPr id="1048957" name="Shape 13"/>
          <p:cNvSpPr/>
          <p:nvPr/>
        </p:nvSpPr>
        <p:spPr>
          <a:xfrm>
            <a:off x="548640" y="4407408"/>
            <a:ext cx="457200" cy="457200"/>
          </a:xfrm>
          <a:prstGeom prst="ellipse"/>
          <a:solidFill>
            <a:srgbClr val="1C7293"/>
          </a:solidFill>
        </p:spPr>
      </p:sp>
      <p:pic>
        <p:nvPicPr>
          <p:cNvPr id="2097192" name="Image 3" descr="/home/claude/sih/icons/icon_network_white.png"/>
          <p:cNvPicPr>
            <a:picLocks noChangeAspect="1"/>
          </p:cNvPicPr>
          <p:nvPr/>
        </p:nvPicPr>
        <p:blipFill>
          <a:blip xmlns:r="http://schemas.openxmlformats.org/officeDocument/2006/relationships" r:embed="rId4"/>
          <a:stretch>
            <a:fillRect/>
          </a:stretch>
        </p:blipFill>
        <p:spPr>
          <a:xfrm>
            <a:off x="621792" y="4480560"/>
            <a:ext cx="310896" cy="310896"/>
          </a:xfrm>
          <a:prstGeom prst="rect"/>
        </p:spPr>
      </p:pic>
      <p:sp>
        <p:nvSpPr>
          <p:cNvPr id="1048958" name="Text 14"/>
          <p:cNvSpPr/>
          <p:nvPr/>
        </p:nvSpPr>
        <p:spPr>
          <a:xfrm>
            <a:off x="1170432" y="4370832"/>
            <a:ext cx="4846320" cy="292608"/>
          </a:xfrm>
          <a:prstGeom prst="rect"/>
          <a:noFill/>
        </p:spPr>
        <p:txBody>
          <a:bodyPr anchor="ctr" bIns="0" lIns="0" rIns="0" rtlCol="0" tIns="0" wrap="square"/>
          <a:p>
            <a:pPr indent="0" marL="0">
              <a:buNone/>
            </a:pPr>
            <a:r>
              <a:rPr b="1" dirty="0" sz="1350" lang="en-US">
                <a:solidFill>
                  <a:srgbClr val="FFFFFF"/>
                </a:solidFill>
                <a:latin typeface="Cambria" pitchFamily="34" charset="0"/>
                <a:ea typeface="Cambria" pitchFamily="34" charset="-122"/>
                <a:cs typeface="Cambria" pitchFamily="34" charset="-120"/>
              </a:rPr>
              <a:t>Multi-Hospital Integration</a:t>
            </a:r>
            <a:endParaRPr dirty="0" sz="1350" lang="en-US"/>
          </a:p>
        </p:txBody>
      </p:sp>
      <p:sp>
        <p:nvSpPr>
          <p:cNvPr id="1048959" name="Text 15"/>
          <p:cNvSpPr/>
          <p:nvPr/>
        </p:nvSpPr>
        <p:spPr>
          <a:xfrm>
            <a:off x="1170432" y="4663440"/>
            <a:ext cx="4846320" cy="411480"/>
          </a:xfrm>
          <a:prstGeom prst="rect"/>
          <a:noFill/>
        </p:spPr>
        <p:txBody>
          <a:bodyPr anchor="ctr" bIns="0" lIns="0" rIns="0" rtlCol="0" tIns="0" wrap="square"/>
          <a:p>
            <a:pPr indent="0" marL="0">
              <a:lnSpc>
                <a:spcPct val="115000"/>
              </a:lnSpc>
              <a:buNone/>
            </a:pPr>
            <a:r>
              <a:rPr dirty="0" sz="1050" lang="en-US">
                <a:solidFill>
                  <a:srgbClr val="B7CBDA"/>
                </a:solidFill>
                <a:latin typeface="Calibri" pitchFamily="34" charset="0"/>
                <a:ea typeface="Calibri" pitchFamily="34" charset="-122"/>
                <a:cs typeface="Calibri" pitchFamily="34" charset="-120"/>
              </a:rPr>
              <a:t>Connect multiple hospitals into one coordinated network.</a:t>
            </a:r>
            <a:endParaRPr dirty="0" sz="1050" lang="en-US"/>
          </a:p>
        </p:txBody>
      </p:sp>
      <p:sp>
        <p:nvSpPr>
          <p:cNvPr id="1048960" name="Shape 16"/>
          <p:cNvSpPr/>
          <p:nvPr/>
        </p:nvSpPr>
        <p:spPr>
          <a:xfrm>
            <a:off x="548640" y="5184648"/>
            <a:ext cx="457200" cy="457200"/>
          </a:xfrm>
          <a:prstGeom prst="ellipse"/>
          <a:solidFill>
            <a:srgbClr val="1C7293"/>
          </a:solidFill>
        </p:spPr>
      </p:sp>
      <p:pic>
        <p:nvPicPr>
          <p:cNvPr id="2097193" name="Image 4" descr="/home/claude/sih/icons/icon_cloud_white.png"/>
          <p:cNvPicPr>
            <a:picLocks noChangeAspect="1"/>
          </p:cNvPicPr>
          <p:nvPr/>
        </p:nvPicPr>
        <p:blipFill>
          <a:blip xmlns:r="http://schemas.openxmlformats.org/officeDocument/2006/relationships" r:embed="rId5"/>
          <a:stretch>
            <a:fillRect/>
          </a:stretch>
        </p:blipFill>
        <p:spPr>
          <a:xfrm>
            <a:off x="621792" y="5257800"/>
            <a:ext cx="310896" cy="310896"/>
          </a:xfrm>
          <a:prstGeom prst="rect"/>
        </p:spPr>
      </p:pic>
      <p:sp>
        <p:nvSpPr>
          <p:cNvPr id="1048961" name="Text 17"/>
          <p:cNvSpPr/>
          <p:nvPr/>
        </p:nvSpPr>
        <p:spPr>
          <a:xfrm>
            <a:off x="1170432" y="5148072"/>
            <a:ext cx="4846320" cy="292608"/>
          </a:xfrm>
          <a:prstGeom prst="rect"/>
          <a:noFill/>
        </p:spPr>
        <p:txBody>
          <a:bodyPr anchor="ctr" bIns="0" lIns="0" rIns="0" rtlCol="0" tIns="0" wrap="square"/>
          <a:p>
            <a:pPr indent="0" marL="0">
              <a:buNone/>
            </a:pPr>
            <a:r>
              <a:rPr b="1" dirty="0" sz="1350" lang="en-US">
                <a:solidFill>
                  <a:srgbClr val="FFFFFF"/>
                </a:solidFill>
                <a:latin typeface="Cambria" pitchFamily="34" charset="0"/>
                <a:ea typeface="Cambria" pitchFamily="34" charset="-122"/>
                <a:cs typeface="Cambria" pitchFamily="34" charset="-120"/>
              </a:rPr>
              <a:t>Cloud Deployment</a:t>
            </a:r>
            <a:endParaRPr dirty="0" sz="1350" lang="en-US"/>
          </a:p>
        </p:txBody>
      </p:sp>
      <p:sp>
        <p:nvSpPr>
          <p:cNvPr id="1048962" name="Text 18"/>
          <p:cNvSpPr/>
          <p:nvPr/>
        </p:nvSpPr>
        <p:spPr>
          <a:xfrm>
            <a:off x="1170432" y="5440680"/>
            <a:ext cx="4846320" cy="411480"/>
          </a:xfrm>
          <a:prstGeom prst="rect"/>
          <a:noFill/>
        </p:spPr>
        <p:txBody>
          <a:bodyPr anchor="ctr" bIns="0" lIns="0" rIns="0" rtlCol="0" tIns="0" wrap="square"/>
          <a:p>
            <a:pPr indent="0" marL="0">
              <a:lnSpc>
                <a:spcPct val="115000"/>
              </a:lnSpc>
              <a:buNone/>
            </a:pPr>
            <a:r>
              <a:rPr dirty="0" sz="1050" lang="en-US">
                <a:solidFill>
                  <a:srgbClr val="B7CBDA"/>
                </a:solidFill>
                <a:latin typeface="Calibri" pitchFamily="34" charset="0"/>
                <a:ea typeface="Calibri" pitchFamily="34" charset="-122"/>
                <a:cs typeface="Calibri" pitchFamily="34" charset="-120"/>
              </a:rPr>
              <a:t>Scalable, cloud-hosted infrastructure for high availability.</a:t>
            </a:r>
            <a:endParaRPr dirty="0" sz="1050" lang="en-US"/>
          </a:p>
        </p:txBody>
      </p:sp>
      <p:sp>
        <p:nvSpPr>
          <p:cNvPr id="1048963" name="Text 19"/>
          <p:cNvSpPr/>
          <p:nvPr/>
        </p:nvSpPr>
        <p:spPr>
          <a:xfrm>
            <a:off x="6446520" y="1691640"/>
            <a:ext cx="5166360" cy="274320"/>
          </a:xfrm>
          <a:prstGeom prst="rect"/>
          <a:noFill/>
        </p:spPr>
        <p:txBody>
          <a:bodyPr anchor="ctr" bIns="0" lIns="0" rIns="0" rtlCol="0" tIns="0" wrap="square"/>
          <a:p>
            <a:pPr indent="0" marL="0">
              <a:buNone/>
            </a:pPr>
            <a:r>
              <a:rPr b="1" dirty="0" sz="1150" kern="0" lang="en-US" spc="150">
                <a:solidFill>
                  <a:srgbClr val="8FB8CC"/>
                </a:solidFill>
                <a:latin typeface="Calibri" pitchFamily="34" charset="0"/>
                <a:ea typeface="Calibri" pitchFamily="34" charset="-122"/>
                <a:cs typeface="Calibri" pitchFamily="34" charset="-120"/>
              </a:rPr>
              <a:t>CONCLUSION</a:t>
            </a:r>
            <a:endParaRPr dirty="0" sz="1150" lang="en-US"/>
          </a:p>
        </p:txBody>
      </p:sp>
      <p:sp>
        <p:nvSpPr>
          <p:cNvPr id="1048964" name="Shape 20"/>
          <p:cNvSpPr/>
          <p:nvPr/>
        </p:nvSpPr>
        <p:spPr>
          <a:xfrm>
            <a:off x="6446520" y="2075688"/>
            <a:ext cx="5166360" cy="512064"/>
          </a:xfrm>
          <a:prstGeom prst="roundRect">
            <a:avLst>
              <a:gd name="adj" fmla="val 12500"/>
            </a:avLst>
          </a:prstGeom>
          <a:solidFill>
            <a:srgbClr val="0F3057"/>
          </a:solidFill>
          <a:ln w="12700">
            <a:solidFill>
              <a:srgbClr val="2B4A6B"/>
            </a:solidFill>
            <a:prstDash val="solid"/>
          </a:ln>
        </p:spPr>
      </p:sp>
      <p:pic>
        <p:nvPicPr>
          <p:cNvPr id="2097194" name="Image 5" descr="/home/claude/sih/icons/icon_check_white.png"/>
          <p:cNvPicPr>
            <a:picLocks noChangeAspect="1"/>
          </p:cNvPicPr>
          <p:nvPr/>
        </p:nvPicPr>
        <p:blipFill>
          <a:blip xmlns:r="http://schemas.openxmlformats.org/officeDocument/2006/relationships" r:embed="rId6"/>
          <a:stretch>
            <a:fillRect/>
          </a:stretch>
        </p:blipFill>
        <p:spPr>
          <a:xfrm>
            <a:off x="6629400" y="2203704"/>
            <a:ext cx="256032" cy="256032"/>
          </a:xfrm>
          <a:prstGeom prst="rect"/>
        </p:spPr>
      </p:pic>
      <p:sp>
        <p:nvSpPr>
          <p:cNvPr id="1048965" name="Text 21"/>
          <p:cNvSpPr/>
          <p:nvPr/>
        </p:nvSpPr>
        <p:spPr>
          <a:xfrm>
            <a:off x="7040880" y="2075688"/>
            <a:ext cx="4389120" cy="512064"/>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Efficient</a:t>
            </a:r>
            <a:endParaRPr dirty="0" sz="1450" lang="en-US"/>
          </a:p>
        </p:txBody>
      </p:sp>
      <p:sp>
        <p:nvSpPr>
          <p:cNvPr id="1048966" name="Shape 22"/>
          <p:cNvSpPr/>
          <p:nvPr/>
        </p:nvSpPr>
        <p:spPr>
          <a:xfrm>
            <a:off x="6446520" y="2697480"/>
            <a:ext cx="5166360" cy="512064"/>
          </a:xfrm>
          <a:prstGeom prst="roundRect">
            <a:avLst>
              <a:gd name="adj" fmla="val 12500"/>
            </a:avLst>
          </a:prstGeom>
          <a:solidFill>
            <a:srgbClr val="0F3057"/>
          </a:solidFill>
          <a:ln w="12700">
            <a:solidFill>
              <a:srgbClr val="2B4A6B"/>
            </a:solidFill>
            <a:prstDash val="solid"/>
          </a:ln>
        </p:spPr>
      </p:sp>
      <p:pic>
        <p:nvPicPr>
          <p:cNvPr id="2097195" name="Image 6" descr="/home/claude/sih/icons/icon_check_white.png"/>
          <p:cNvPicPr>
            <a:picLocks noChangeAspect="1"/>
          </p:cNvPicPr>
          <p:nvPr/>
        </p:nvPicPr>
        <p:blipFill>
          <a:blip xmlns:r="http://schemas.openxmlformats.org/officeDocument/2006/relationships" r:embed="rId6"/>
          <a:stretch>
            <a:fillRect/>
          </a:stretch>
        </p:blipFill>
        <p:spPr>
          <a:xfrm>
            <a:off x="6629400" y="2825496"/>
            <a:ext cx="256032" cy="256032"/>
          </a:xfrm>
          <a:prstGeom prst="rect"/>
        </p:spPr>
      </p:pic>
      <p:sp>
        <p:nvSpPr>
          <p:cNvPr id="1048967" name="Text 23"/>
          <p:cNvSpPr/>
          <p:nvPr/>
        </p:nvSpPr>
        <p:spPr>
          <a:xfrm>
            <a:off x="7040880" y="2697480"/>
            <a:ext cx="4389120" cy="512064"/>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Scalable</a:t>
            </a:r>
            <a:endParaRPr dirty="0" sz="1450" lang="en-US"/>
          </a:p>
        </p:txBody>
      </p:sp>
      <p:sp>
        <p:nvSpPr>
          <p:cNvPr id="1048968" name="Shape 24"/>
          <p:cNvSpPr/>
          <p:nvPr/>
        </p:nvSpPr>
        <p:spPr>
          <a:xfrm>
            <a:off x="6446520" y="3319272"/>
            <a:ext cx="5166360" cy="512064"/>
          </a:xfrm>
          <a:prstGeom prst="roundRect">
            <a:avLst>
              <a:gd name="adj" fmla="val 12500"/>
            </a:avLst>
          </a:prstGeom>
          <a:solidFill>
            <a:srgbClr val="0F3057"/>
          </a:solidFill>
          <a:ln w="12700">
            <a:solidFill>
              <a:srgbClr val="2B4A6B"/>
            </a:solidFill>
            <a:prstDash val="solid"/>
          </a:ln>
        </p:spPr>
      </p:sp>
      <p:pic>
        <p:nvPicPr>
          <p:cNvPr id="2097196" name="Image 7" descr="/home/claude/sih/icons/icon_check_white.png"/>
          <p:cNvPicPr>
            <a:picLocks noChangeAspect="1"/>
          </p:cNvPicPr>
          <p:nvPr/>
        </p:nvPicPr>
        <p:blipFill>
          <a:blip xmlns:r="http://schemas.openxmlformats.org/officeDocument/2006/relationships" r:embed="rId6"/>
          <a:stretch>
            <a:fillRect/>
          </a:stretch>
        </p:blipFill>
        <p:spPr>
          <a:xfrm>
            <a:off x="6629400" y="3447288"/>
            <a:ext cx="256032" cy="256032"/>
          </a:xfrm>
          <a:prstGeom prst="rect"/>
        </p:spPr>
      </p:pic>
      <p:sp>
        <p:nvSpPr>
          <p:cNvPr id="1048969" name="Text 25"/>
          <p:cNvSpPr/>
          <p:nvPr/>
        </p:nvSpPr>
        <p:spPr>
          <a:xfrm>
            <a:off x="7040880" y="3319272"/>
            <a:ext cx="4389120" cy="512064"/>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Healthcare-Focused</a:t>
            </a:r>
            <a:endParaRPr dirty="0" sz="1450" lang="en-US"/>
          </a:p>
        </p:txBody>
      </p:sp>
      <p:sp>
        <p:nvSpPr>
          <p:cNvPr id="1048970" name="Shape 26"/>
          <p:cNvSpPr/>
          <p:nvPr/>
        </p:nvSpPr>
        <p:spPr>
          <a:xfrm>
            <a:off x="6446520" y="3941064"/>
            <a:ext cx="5166360" cy="512064"/>
          </a:xfrm>
          <a:prstGeom prst="roundRect">
            <a:avLst>
              <a:gd name="adj" fmla="val 12500"/>
            </a:avLst>
          </a:prstGeom>
          <a:solidFill>
            <a:srgbClr val="0F3057"/>
          </a:solidFill>
          <a:ln w="12700">
            <a:solidFill>
              <a:srgbClr val="2B4A6B"/>
            </a:solidFill>
            <a:prstDash val="solid"/>
          </a:ln>
        </p:spPr>
      </p:sp>
      <p:pic>
        <p:nvPicPr>
          <p:cNvPr id="2097197" name="Image 8" descr="/home/claude/sih/icons/icon_check_white.png"/>
          <p:cNvPicPr>
            <a:picLocks noChangeAspect="1"/>
          </p:cNvPicPr>
          <p:nvPr/>
        </p:nvPicPr>
        <p:blipFill>
          <a:blip xmlns:r="http://schemas.openxmlformats.org/officeDocument/2006/relationships" r:embed="rId6"/>
          <a:stretch>
            <a:fillRect/>
          </a:stretch>
        </p:blipFill>
        <p:spPr>
          <a:xfrm>
            <a:off x="6629400" y="4069080"/>
            <a:ext cx="256032" cy="256032"/>
          </a:xfrm>
          <a:prstGeom prst="rect"/>
        </p:spPr>
      </p:pic>
      <p:sp>
        <p:nvSpPr>
          <p:cNvPr id="1048971" name="Text 27"/>
          <p:cNvSpPr/>
          <p:nvPr/>
        </p:nvSpPr>
        <p:spPr>
          <a:xfrm>
            <a:off x="7040880" y="3941064"/>
            <a:ext cx="4389120" cy="512064"/>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Powered by Java PriorityQueue</a:t>
            </a:r>
            <a:endParaRPr dirty="0" sz="1450" lang="en-US"/>
          </a:p>
        </p:txBody>
      </p:sp>
      <p:sp>
        <p:nvSpPr>
          <p:cNvPr id="1048972" name="Shape 28"/>
          <p:cNvSpPr/>
          <p:nvPr/>
        </p:nvSpPr>
        <p:spPr>
          <a:xfrm>
            <a:off x="6446520" y="4562856"/>
            <a:ext cx="5166360" cy="512064"/>
          </a:xfrm>
          <a:prstGeom prst="roundRect">
            <a:avLst>
              <a:gd name="adj" fmla="val 12500"/>
            </a:avLst>
          </a:prstGeom>
          <a:solidFill>
            <a:srgbClr val="0F3057"/>
          </a:solidFill>
          <a:ln w="12700">
            <a:solidFill>
              <a:srgbClr val="2B4A6B"/>
            </a:solidFill>
            <a:prstDash val="solid"/>
          </a:ln>
        </p:spPr>
      </p:sp>
      <p:pic>
        <p:nvPicPr>
          <p:cNvPr id="2097198" name="Image 9" descr="/home/claude/sih/icons/icon_check_white.png"/>
          <p:cNvPicPr>
            <a:picLocks noChangeAspect="1"/>
          </p:cNvPicPr>
          <p:nvPr/>
        </p:nvPicPr>
        <p:blipFill>
          <a:blip xmlns:r="http://schemas.openxmlformats.org/officeDocument/2006/relationships" r:embed="rId6"/>
          <a:stretch>
            <a:fillRect/>
          </a:stretch>
        </p:blipFill>
        <p:spPr>
          <a:xfrm>
            <a:off x="6629400" y="4690872"/>
            <a:ext cx="256032" cy="256032"/>
          </a:xfrm>
          <a:prstGeom prst="rect"/>
        </p:spPr>
      </p:pic>
      <p:sp>
        <p:nvSpPr>
          <p:cNvPr id="1048973" name="Text 29"/>
          <p:cNvSpPr/>
          <p:nvPr/>
        </p:nvSpPr>
        <p:spPr>
          <a:xfrm>
            <a:off x="7040880" y="4562856"/>
            <a:ext cx="4389120" cy="512064"/>
          </a:xfrm>
          <a:prstGeom prst="rect"/>
          <a:noFill/>
        </p:spPr>
        <p:txBody>
          <a:bodyPr anchor="ctr" bIns="0" lIns="0" rIns="0" rtlCol="0" tIns="0" wrap="square"/>
          <a:p>
            <a:pPr indent="0" marL="0">
              <a:buNone/>
            </a:pPr>
            <a:r>
              <a:rPr b="1" dirty="0" sz="1450" lang="en-US">
                <a:solidFill>
                  <a:srgbClr val="FFFFFF"/>
                </a:solidFill>
                <a:latin typeface="Cambria" pitchFamily="34" charset="0"/>
                <a:ea typeface="Cambria" pitchFamily="34" charset="-122"/>
                <a:cs typeface="Cambria" pitchFamily="34" charset="-120"/>
              </a:rPr>
              <a:t>Smart India Hackathon Ready</a:t>
            </a:r>
            <a:endParaRPr dirty="0" sz="1450" lang="en-US"/>
          </a:p>
        </p:txBody>
      </p:sp>
      <p:sp>
        <p:nvSpPr>
          <p:cNvPr id="1048974" name="Shape 30"/>
          <p:cNvSpPr/>
          <p:nvPr/>
        </p:nvSpPr>
        <p:spPr>
          <a:xfrm>
            <a:off x="6446520" y="5349240"/>
            <a:ext cx="5166360" cy="868680"/>
          </a:xfrm>
          <a:prstGeom prst="roundRect">
            <a:avLst>
              <a:gd name="adj" fmla="val 8421"/>
            </a:avLst>
          </a:prstGeom>
          <a:solidFill>
            <a:srgbClr val="1C7293"/>
          </a:solidFill>
        </p:spPr>
      </p:sp>
      <p:pic>
        <p:nvPicPr>
          <p:cNvPr id="2097199" name="Image 10" descr="/home/claude/sih/icons/icon_rocket_white.png"/>
          <p:cNvPicPr>
            <a:picLocks noChangeAspect="1"/>
          </p:cNvPicPr>
          <p:nvPr/>
        </p:nvPicPr>
        <p:blipFill>
          <a:blip xmlns:r="http://schemas.openxmlformats.org/officeDocument/2006/relationships" r:embed="rId7"/>
          <a:stretch>
            <a:fillRect/>
          </a:stretch>
        </p:blipFill>
        <p:spPr>
          <a:xfrm>
            <a:off x="6675120" y="5568696"/>
            <a:ext cx="420624" cy="420624"/>
          </a:xfrm>
          <a:prstGeom prst="rect"/>
        </p:spPr>
      </p:pic>
      <p:sp>
        <p:nvSpPr>
          <p:cNvPr id="1048975" name="Text 31"/>
          <p:cNvSpPr/>
          <p:nvPr/>
        </p:nvSpPr>
        <p:spPr>
          <a:xfrm>
            <a:off x="7269480" y="5349240"/>
            <a:ext cx="4160520" cy="868680"/>
          </a:xfrm>
          <a:prstGeom prst="rect"/>
          <a:noFill/>
        </p:spPr>
        <p:txBody>
          <a:bodyPr anchor="ctr" bIns="0" lIns="0" rIns="0" rtlCol="0" tIns="0" wrap="square"/>
          <a:p>
            <a:pPr indent="0" marL="0">
              <a:lnSpc>
                <a:spcPct val="115000"/>
              </a:lnSpc>
              <a:buNone/>
            </a:pPr>
            <a:r>
              <a:rPr b="1" dirty="0" sz="1300" i="1" lang="en-US">
                <a:solidFill>
                  <a:srgbClr val="FFFFFF"/>
                </a:solidFill>
                <a:latin typeface="Calibri" pitchFamily="34" charset="0"/>
                <a:ea typeface="Calibri" pitchFamily="34" charset="-122"/>
                <a:cs typeface="Calibri" pitchFamily="34" charset="-120"/>
              </a:rPr>
              <a:t>Built for India's hospitals — ready to save critical minutes.</a:t>
            </a:r>
            <a:endParaRPr dirty="0" sz="1300" lang="en-US"/>
          </a:p>
        </p:txBody>
      </p:sp>
      <p:sp>
        <p:nvSpPr>
          <p:cNvPr id="1048976" name="Text 32"/>
          <p:cNvSpPr/>
          <p:nvPr/>
        </p:nvSpPr>
        <p:spPr>
          <a:xfrm>
            <a:off x="548640" y="6291072"/>
            <a:ext cx="7315200" cy="320040"/>
          </a:xfrm>
          <a:prstGeom prst="rect"/>
          <a:noFill/>
        </p:spPr>
        <p:txBody>
          <a:bodyPr anchor="ctr" bIns="0" lIns="0" rIns="0" rtlCol="0" tIns="0" wrap="square"/>
          <a:p>
            <a:pPr indent="0" marL="0">
              <a:buNone/>
            </a:pPr>
            <a:r>
              <a:rPr dirty="0" sz="1200" i="1" lang="en-US">
                <a:solidFill>
                  <a:srgbClr val="8FB8CC"/>
                </a:solidFill>
                <a:latin typeface="Calibri" pitchFamily="34" charset="0"/>
                <a:ea typeface="Calibri" pitchFamily="34" charset="-122"/>
                <a:cs typeface="Calibri" pitchFamily="34" charset="-120"/>
              </a:rPr>
              <a:t>Thank You  ·  Questions &amp; Discussion Welcome</a:t>
            </a:r>
            <a:endParaRPr dirty="0" sz="1200" lang="en-US"/>
          </a:p>
        </p:txBody>
      </p:sp>
      <p:sp>
        <p:nvSpPr>
          <p:cNvPr id="1048977" name="Text 33"/>
          <p:cNvSpPr/>
          <p:nvPr/>
        </p:nvSpPr>
        <p:spPr>
          <a:xfrm>
            <a:off x="10637215" y="6291072"/>
            <a:ext cx="1005840" cy="320040"/>
          </a:xfrm>
          <a:prstGeom prst="rect"/>
          <a:noFill/>
        </p:spPr>
        <p:txBody>
          <a:bodyPr anchor="ctr" bIns="0" lIns="0" rIns="0" rtlCol="0" tIns="0" wrap="square"/>
          <a:p>
            <a:pPr algn="r" indent="0" marL="0">
              <a:buNone/>
            </a:pPr>
            <a:r>
              <a:rPr b="1" dirty="0" sz="1100" lang="en-US">
                <a:solidFill>
                  <a:srgbClr val="6F89A3"/>
                </a:solidFill>
                <a:latin typeface="Calibri" pitchFamily="34" charset="0"/>
                <a:ea typeface="Calibri" pitchFamily="34" charset="-122"/>
                <a:cs typeface="Calibri" pitchFamily="34" charset="-120"/>
              </a:rPr>
              <a:t>10</a:t>
            </a:r>
            <a:endParaRPr dirty="0" sz="11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Hospital Emergency Queue Management System</dc:title>
  <dc:creator>SIH Team</dc:creator>
  <cp:lastModifiedBy>SIH Team</cp:lastModifiedBy>
  <dcterms:created xsi:type="dcterms:W3CDTF">2026-06-20T23:20:13Z</dcterms:created>
  <dcterms:modified xsi:type="dcterms:W3CDTF">2026-06-22T13:29:41Z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af8da8a0244b4ce3b0708d7ce4cee4b5</vt:lpwstr>
  </property>
</Properties>
</file>